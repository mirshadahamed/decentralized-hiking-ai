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component in one sentence: I forecast where and when trails get crowded, a day to 90 days ahead, and turn that forecast into crowd control – at two very different sites. (~20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implementation: Horton Plains uses a daily permit cap; Adam's Peak has no limit at all and relies on police on the night. Neither knows WHERE on the trail or WHEN the crowd will be. Stress the gap: no segment-level data exists, and nobody installs sensors – so it has to work from open data. (~60 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table quickly; the status column is the progress claim for PP1. Novelty: ST-GNNs are proven on city traffic with hundreds of sensors; here 48-57 nodes and no sensors. And the forecast is evaluated by the decisions it improves, not only by accuracy. (~60 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 right: open data becomes a graph; the simulator makes the training target; two forecasters (day-ahead ST-GNN, 2-90 day planning model); capacity and control turn forecasts into decisions; the API serves the app. Every park is one config file. (~60 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Horton: three trails sharing an entrance, day visits. Adam's Peak: four OSM-mapped routes that meet at one summit, climbed at night – the bottleneck is a queue, not a crowded viewpoint. The last ~350 m to the summit is missing from OSM and is approximated (stated as a limitation). (~45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architecture: per hour, a GCN mixes neighbouring segments, a GRU runs over the last 24 h, a decoder uses the known future weather and calendar. Key design choice: segments without counts send no messages in the first graph layer, so missing data is not read as 'empty'. Segments are described (viewpoint? minutes from trailhead? share of visitors?) instead of named, so the same model shape fits any park. (~75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'how do you know it works'. Time split avoids leakage; spatial block CV tests the real deployment case (segments with no counts); pairs are forecast days because hourly errors are correlated; Holm correction for several baselines. Every run saves config, seed and git hash. (~45 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Hatched bars are the deployment case: segments with no counts. At Horton the ST-GNN is best there (2.48 vs 2.59 LSTM vs 4.20 historical average). With counts everywhere, the networks tie. At Adam's Peak the graph beats the same network without it, but a plain LSTM wins – honest result, and next step is an ST-GNN with an LSTM cell. (~60 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a typical busy day – the ST-GNN error at World's End is 6 people per hour vs 6 for the historical average. Right: the busiest day of 2025 – the actual peak is 608, the forecast only 191. Rare extreme days are underpredicted; that is exactly why the control side plans on the busy case (P90), see RQ3. (~45 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ticket fixes a trail and an entry time, so the simulator tells us where its holder will be. A linear programme sells tickets only while every segment stays under its Cifuentes capacity in every half hour. Replaying 2025: the current daily quota removes 73 % of over-capacity person-hours; slot tickets with moving remove 99.6 %, and let more people walk. (~45 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pilgrims away is not acceptable. The danger is the queue on the steep final steps. Two measures: recommended start times per route (spread so the advice does not create a new peak – we found naive advice made queues 22 % worse), and officers at halfway rest stops who count passers and hold groups. Start times alone: −22 %. Both: no waiting on the final steps and −28 % waiting overall. (~60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132 nights, advice computed before each night from different forecasts. The median forecast gets only 18 % of what perfect knowledge would, because it is too low on exactly the rare peak nights. Planning on the busy case (P90) gets all of it. Bootstrap 95 % interval of P90 vs P50 advice: -34,178 to -2,107 person-hours. This is why the officer console plans halfway checks on the busy case. (~60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RQ2: a model from one park used unchanged at the other fails – the parks differ too much (day hike vs night pilgrimage). Pre-training does help a new park learn from little data (7 of 8 settings), but with under 90 days a historical average is as good: start a new park on the average and switch later. RQ4: start-time advice works when the final steps really are a bottleneck (≤ 25 people/min) and fades above 30; the flow is the number to measure in the field. (~60 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 rendered from the real API output. Trip planner: any number of destinations, read from config. Overview: week ahead and the quietest days. Calendar: 90-day crowd outlook. Day: expected crowd with a range and suggestions (other trail, later start, other day). Show the live demo if time allows – RUN_APP.md. (~45 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times per route with the expected wait. Ranger at a halfway rest stop enters counts; the app turns red (HOLD) and gives the release rate. The officer sees which nights may need checks (here: Christmas, stand by) and a night plan with hold windows. (~45 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each requirement to evidence. Partial items are honest: real counts and field validation come after PP1. (~45 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R1 – it is the question examiners will ask. The mitigation is already in motion: every assumption is listed and parameterised, sensitivity analysis shows which ones matter, and field counts are planned. (~45 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Benefits are concrete: fewer dangerous queues, fairer access, revenue protected by booking instead of turning people away at the gate, data for planning staff. Business model: a per-site licence to the authority, small booking fee, and the same engine for other sites (Ella Rock, Knuckles, Sigiriya, Sinharaja) by adding a config. (~45 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60-65 % of the research work is done, on schedule; the remaining work is validation and depth, not new features. (~45 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slides follow: limitations, planning model.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if asked about the synthetic data or validity.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00600"/>
            <a:ext cx="12191695" cy="73152"/>
          </a:xfrm>
          <a:prstGeom prst="rect">
            <a:avLst/>
          </a:prstGeom>
          <a:solidFill>
            <a:srgbClr val="E0A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058400" cy="365760"/>
          </a:xfrm>
          <a:prstGeom prst="rect">
            <a:avLst/>
          </a:prstGeom>
          <a:noFill/>
        </p:spPr>
        <p:txBody>
          <a:bodyPr wrap="square" anchor="t">
            <a:spAutoFit/>
          </a:bodyPr>
          <a:lstStyle/>
          <a:p>
            <a:pPr algn="l"/>
            <a:r>
              <a:rPr sz="1400" b="1">
                <a:solidFill>
                  <a:srgbClr val="E0A100"/>
                </a:solidFill>
              </a:rPr>
              <a:t>PROGRESS PRESENTATION 1 · J26-IT-363 · COMPONENT 4</a:t>
            </a:r>
          </a:p>
        </p:txBody>
      </p:sp>
      <p:sp>
        <p:nvSpPr>
          <p:cNvPr id="5" name="TextBox 4"/>
          <p:cNvSpPr txBox="1"/>
          <p:nvPr/>
        </p:nvSpPr>
        <p:spPr>
          <a:xfrm>
            <a:off x="731520" y="1463040"/>
            <a:ext cx="10789920" cy="1828800"/>
          </a:xfrm>
          <a:prstGeom prst="rect">
            <a:avLst/>
          </a:prstGeom>
          <a:noFill/>
        </p:spPr>
        <p:txBody>
          <a:bodyPr wrap="square" anchor="t">
            <a:spAutoFit/>
          </a:bodyPr>
          <a:lstStyle/>
          <a:p>
            <a:pPr algn="l"/>
            <a:r>
              <a:rPr sz="3800" b="1">
                <a:solidFill>
                  <a:srgbClr val="FFFFFF"/>
                </a:solidFill>
              </a:rPr>
              <a:t>Forecasting trail bottlenecks and</a:t>
            </a:r>
          </a:p>
          <a:p>
            <a:pPr algn="l"/>
            <a:r>
              <a:rPr sz="3800" b="1">
                <a:solidFill>
                  <a:srgbClr val="FFFFFF"/>
                </a:solidFill>
              </a:rPr>
              <a:t>controlling crowds with a Spatio-Temporal GNN</a:t>
            </a:r>
          </a:p>
        </p:txBody>
      </p:sp>
      <p:sp>
        <p:nvSpPr>
          <p:cNvPr id="6" name="TextBox 5"/>
          <p:cNvSpPr txBox="1"/>
          <p:nvPr/>
        </p:nvSpPr>
        <p:spPr>
          <a:xfrm>
            <a:off x="731520" y="3429000"/>
            <a:ext cx="10058400" cy="457200"/>
          </a:xfrm>
          <a:prstGeom prst="rect">
            <a:avLst/>
          </a:prstGeom>
          <a:noFill/>
        </p:spPr>
        <p:txBody>
          <a:bodyPr wrap="square" anchor="t">
            <a:spAutoFit/>
          </a:bodyPr>
          <a:lstStyle/>
          <a:p>
            <a:pPr algn="l"/>
            <a:r>
              <a:rPr sz="2000" b="0">
                <a:solidFill>
                  <a:srgbClr val="CFE3D7"/>
                </a:solidFill>
              </a:rPr>
              <a:t>Horton Plains National Park  ·  Adam's Peak (Sri Pada)</a:t>
            </a:r>
          </a:p>
        </p:txBody>
      </p:sp>
      <p:sp>
        <p:nvSpPr>
          <p:cNvPr id="7" name="TextBox 6"/>
          <p:cNvSpPr txBox="1"/>
          <p:nvPr/>
        </p:nvSpPr>
        <p:spPr>
          <a:xfrm>
            <a:off x="731520" y="5120640"/>
            <a:ext cx="7315200" cy="914400"/>
          </a:xfrm>
          <a:prstGeom prst="rect">
            <a:avLst/>
          </a:prstGeom>
          <a:noFill/>
        </p:spPr>
        <p:txBody>
          <a:bodyPr wrap="square" anchor="t">
            <a:spAutoFit/>
          </a:bodyPr>
          <a:lstStyle/>
          <a:p>
            <a:pPr algn="l"/>
            <a:r>
              <a:rPr sz="1600" b="0">
                <a:solidFill>
                  <a:srgbClr val="FFFFFF"/>
                </a:solidFill>
              </a:rPr>
              <a:t>Weerasekera J.V.  ·  IT23343948</a:t>
            </a:r>
          </a:p>
          <a:p>
            <a:pPr algn="l"/>
            <a:r>
              <a:rPr sz="1600" b="0">
                <a:solidFill>
                  <a:srgbClr val="FFFFFF"/>
                </a:solidFill>
              </a:rPr>
              <a:t>Decentralized Hiking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PROBLEM DEFINITION</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Crowding is managed with a fixed daily number</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2</a:t>
            </a:r>
          </a:p>
        </p:txBody>
      </p:sp>
      <p:sp>
        <p:nvSpPr>
          <p:cNvPr id="6" name="TextBox 5"/>
          <p:cNvSpPr txBox="1"/>
          <p:nvPr/>
        </p:nvSpPr>
        <p:spPr>
          <a:xfrm>
            <a:off x="548640" y="1463040"/>
            <a:ext cx="6949440" cy="4572000"/>
          </a:xfrm>
          <a:prstGeom prst="rect">
            <a:avLst/>
          </a:prstGeom>
          <a:noFill/>
        </p:spPr>
        <p:txBody>
          <a:bodyPr wrap="square">
            <a:spAutoFit/>
          </a:bodyPr>
          <a:lstStyle/>
          <a:p>
            <a:pPr>
              <a:spcAft>
                <a:spcPts val="1200"/>
              </a:spcAft>
            </a:pPr>
            <a:r>
              <a:rPr sz="1700" b="1">
                <a:solidFill>
                  <a:srgbClr val="1F2A24"/>
                </a:solidFill>
              </a:rPr>
              <a:t>•  Horton Plains today:</a:t>
            </a:r>
            <a:r>
              <a:rPr sz="1700">
                <a:solidFill>
                  <a:srgbClr val="1F2A24"/>
                </a:solidFill>
              </a:rPr>
              <a:t>  a static daily permit quota (DWC). It cannot tell 300 people on a dry Poya morning from 50 in the rain, or where they bunch up – World's End fills up between 08:00 and 10:00.</a:t>
            </a:r>
          </a:p>
          <a:p>
            <a:pPr>
              <a:spcAft>
                <a:spcPts val="1200"/>
              </a:spcAft>
            </a:pPr>
            <a:r>
              <a:rPr sz="1700" b="1">
                <a:solidFill>
                  <a:srgbClr val="1F2A24"/>
                </a:solidFill>
              </a:rPr>
              <a:t>•  Adam's Peak today:</a:t>
            </a:r>
            <a:r>
              <a:rPr sz="1700">
                <a:solidFill>
                  <a:srgbClr val="1F2A24"/>
                </a:solidFill>
              </a:rPr>
              <a:t>  no limit and no tickets. On Poya nights thousands queue for hours on the steep final steps below the summit – a safety risk.</a:t>
            </a:r>
          </a:p>
          <a:p>
            <a:pPr>
              <a:spcAft>
                <a:spcPts val="1200"/>
              </a:spcAft>
            </a:pPr>
            <a:r>
              <a:rPr sz="1700" b="1">
                <a:solidFill>
                  <a:srgbClr val="1F2A24"/>
                </a:solidFill>
              </a:rPr>
              <a:t>•  Data gap:</a:t>
            </a:r>
            <a:r>
              <a:rPr sz="1700">
                <a:solidFill>
                  <a:srgbClr val="1F2A24"/>
                </a:solidFill>
              </a:rPr>
              <a:t>  authorities publish only park-level visitor totals. There are no counts per trail section, and no sensors on the trails.</a:t>
            </a:r>
          </a:p>
          <a:p>
            <a:pPr>
              <a:spcAft>
                <a:spcPts val="1200"/>
              </a:spcAft>
            </a:pPr>
            <a:r>
              <a:rPr sz="1700" b="1">
                <a:solidFill>
                  <a:srgbClr val="1F2A24"/>
                </a:solidFill>
              </a:rPr>
              <a:t>•  Missing tool:</a:t>
            </a:r>
            <a:r>
              <a:rPr sz="1700">
                <a:solidFill>
                  <a:srgbClr val="1F2A24"/>
                </a:solidFill>
              </a:rPr>
              <a:t>  nothing forecasts where and when a bottleneck will form, or turns that into a decision (how many to let in, when to start, when to hold groups).</a:t>
            </a:r>
          </a:p>
        </p:txBody>
      </p:sp>
      <p:sp>
        <p:nvSpPr>
          <p:cNvPr id="7" name="Rounded Rectangle 6"/>
          <p:cNvSpPr/>
          <p:nvPr/>
        </p:nvSpPr>
        <p:spPr>
          <a:xfrm>
            <a:off x="7863840" y="1645920"/>
            <a:ext cx="3840480" cy="3291840"/>
          </a:xfrm>
          <a:prstGeom prst="roundRect">
            <a:avLst>
              <a:gd name="adj" fmla="val 12000"/>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rPr>
              <a:t>Research question</a:t>
            </a:r>
          </a:p>
          <a:p>
            <a:pPr algn="ctr"/>
            <a:r>
              <a:rPr sz="1300" b="0">
                <a:solidFill>
                  <a:srgbClr val="FFFFFF"/>
                </a:solidFill>
              </a:rPr>
              <a:t/>
            </a:r>
          </a:p>
          <a:p>
            <a:pPr algn="ctr"/>
            <a:r>
              <a:rPr sz="1300" b="0">
                <a:solidFill>
                  <a:srgbClr val="FFFFFF"/>
                </a:solidFill>
              </a:rPr>
              <a:t>Can a Spatio-Temporal GNN, using only the trail graph, terrain, weather and calendar, forecast segment-level crowding and drive crowd control that replaces a static quota?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PROVEN GAP / CREATIVE SOLUTION</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Objectives, novelty and where each one stands</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3</a:t>
            </a:r>
          </a:p>
        </p:txBody>
      </p:sp>
      <p:graphicFrame>
        <p:nvGraphicFramePr>
          <p:cNvPr id="6" name="Table 5"/>
          <p:cNvGraphicFramePr>
            <a:graphicFrameLocks noGrp="1"/>
          </p:cNvGraphicFramePr>
          <p:nvPr/>
        </p:nvGraphicFramePr>
        <p:xfrm>
          <a:off x="548640" y="1463040"/>
          <a:ext cx="11064240" cy="2304288"/>
        </p:xfrm>
        <a:graphic>
          <a:graphicData uri="http://schemas.openxmlformats.org/drawingml/2006/table">
            <a:tbl>
              <a:tblPr firstRow="1" bandRow="1">
                <a:tableStyleId>{5C22544A-7EE6-4342-B048-85BDC9FD1C3A}</a:tableStyleId>
              </a:tblPr>
              <a:tblGrid>
                <a:gridCol w="3840480"/>
                <a:gridCol w="4937760"/>
                <a:gridCol w="2286000"/>
              </a:tblGrid>
              <a:tr h="329184">
                <a:tc>
                  <a:txBody>
                    <a:bodyPr/>
                    <a:lstStyle/>
                    <a:p>
                      <a:r>
                        <a:rPr sz="1300" b="1">
                          <a:solidFill>
                            <a:srgbClr val="FFFFFF"/>
                          </a:solidFill>
                        </a:rPr>
                        <a:t>Objective</a:t>
                      </a:r>
                    </a:p>
                  </a:txBody>
                  <a:tcPr marL="54864" marR="54864" marT="27432" marB="27432">
                    <a:solidFill>
                      <a:srgbClr val="2F6B4F"/>
                    </a:solidFill>
                  </a:tcPr>
                </a:tc>
                <a:tc>
                  <a:txBody>
                    <a:bodyPr/>
                    <a:lstStyle/>
                    <a:p>
                      <a:r>
                        <a:rPr sz="1300" b="1">
                          <a:solidFill>
                            <a:srgbClr val="FFFFFF"/>
                          </a:solidFill>
                        </a:rPr>
                        <a:t>What was built</a:t>
                      </a:r>
                    </a:p>
                  </a:txBody>
                  <a:tcPr marL="54864" marR="54864" marT="27432" marB="27432">
                    <a:solidFill>
                      <a:srgbClr val="2F6B4F"/>
                    </a:solidFill>
                  </a:tcPr>
                </a:tc>
                <a:tc>
                  <a:txBody>
                    <a:bodyPr/>
                    <a:lstStyle/>
                    <a:p>
                      <a:r>
                        <a:rPr sz="1300" b="1">
                          <a:solidFill>
                            <a:srgbClr val="FFFFFF"/>
                          </a:solidFill>
                        </a:rPr>
                        <a:t>Status</a:t>
                      </a:r>
                    </a:p>
                  </a:txBody>
                  <a:tcPr marL="54864" marR="54864" marT="27432" marB="27432">
                    <a:solidFill>
                      <a:srgbClr val="2F6B4F"/>
                    </a:solidFill>
                  </a:tcPr>
                </a:tc>
              </a:tr>
              <a:tr h="329184">
                <a:tc>
                  <a:txBody>
                    <a:bodyPr/>
                    <a:lstStyle/>
                    <a:p>
                      <a:r>
                        <a:rPr sz="1300" b="0">
                          <a:solidFill>
                            <a:srgbClr val="1F2A24"/>
                          </a:solidFill>
                        </a:rPr>
                        <a:t>1  Trail graph + features from open data</a:t>
                      </a:r>
                    </a:p>
                  </a:txBody>
                  <a:tcPr marL="54864" marR="54864" marT="27432" marB="27432">
                    <a:solidFill>
                      <a:srgbClr val="FFFFFF"/>
                    </a:solidFill>
                  </a:tcPr>
                </a:tc>
                <a:tc>
                  <a:txBody>
                    <a:bodyPr/>
                    <a:lstStyle/>
                    <a:p>
                      <a:r>
                        <a:rPr sz="1300" b="0">
                          <a:solidFill>
                            <a:srgbClr val="1F2A24"/>
                          </a:solidFill>
                        </a:rPr>
                        <a:t>OSM graph, Copernicus DEM, Open-Meteo, Sri Lankan calendar; 2 parks</a:t>
                      </a:r>
                    </a:p>
                  </a:txBody>
                  <a:tcPr marL="54864" marR="54864" marT="27432" marB="27432">
                    <a:solidFill>
                      <a:srgbClr val="FFFFFF"/>
                    </a:solidFill>
                  </a:tcPr>
                </a:tc>
                <a:tc>
                  <a:txBody>
                    <a:bodyPr/>
                    <a:lstStyle/>
                    <a:p>
                      <a:r>
                        <a:rPr sz="1300" b="0">
                          <a:solidFill>
                            <a:srgbClr val="1F2A24"/>
                          </a:solidFill>
                        </a:rPr>
                        <a:t>Done</a:t>
                      </a:r>
                    </a:p>
                  </a:txBody>
                  <a:tcPr marL="54864" marR="54864" marT="27432" marB="27432">
                    <a:solidFill>
                      <a:srgbClr val="FFFFFF"/>
                    </a:solidFill>
                  </a:tcPr>
                </a:tc>
              </a:tr>
              <a:tr h="329184">
                <a:tc>
                  <a:txBody>
                    <a:bodyPr/>
                    <a:lstStyle/>
                    <a:p>
                      <a:r>
                        <a:rPr sz="1300" b="0">
                          <a:solidFill>
                            <a:srgbClr val="1F2A24"/>
                          </a:solidFill>
                        </a:rPr>
                        <a:t>2  Synthetic occupancy target</a:t>
                      </a:r>
                    </a:p>
                  </a:txBody>
                  <a:tcPr marL="54864" marR="54864" marT="27432" marB="27432">
                    <a:solidFill>
                      <a:srgbClr val="F4F7F5"/>
                    </a:solidFill>
                  </a:tcPr>
                </a:tc>
                <a:tc>
                  <a:txBody>
                    <a:bodyPr/>
                    <a:lstStyle/>
                    <a:p>
                      <a:r>
                        <a:rPr sz="1300" b="0">
                          <a:solidFill>
                            <a:srgbClr val="1F2A24"/>
                          </a:solidFill>
                        </a:rPr>
                        <a:t>Group-based walking simulator (Tobler, stairs, rain, queues)</a:t>
                      </a:r>
                    </a:p>
                  </a:txBody>
                  <a:tcPr marL="54864" marR="54864" marT="27432" marB="27432">
                    <a:solidFill>
                      <a:srgbClr val="F4F7F5"/>
                    </a:solidFill>
                  </a:tcPr>
                </a:tc>
                <a:tc>
                  <a:txBody>
                    <a:bodyPr/>
                    <a:lstStyle/>
                    <a:p>
                      <a:r>
                        <a:rPr sz="1300" b="0">
                          <a:solidFill>
                            <a:srgbClr val="1F2A24"/>
                          </a:solidFill>
                        </a:rPr>
                        <a:t>Done – field calibration pending</a:t>
                      </a:r>
                    </a:p>
                  </a:txBody>
                  <a:tcPr marL="54864" marR="54864" marT="27432" marB="27432">
                    <a:solidFill>
                      <a:srgbClr val="F4F7F5"/>
                    </a:solidFill>
                  </a:tcPr>
                </a:tc>
              </a:tr>
              <a:tr h="329184">
                <a:tc>
                  <a:txBody>
                    <a:bodyPr/>
                    <a:lstStyle/>
                    <a:p>
                      <a:r>
                        <a:rPr sz="1300" b="0">
                          <a:solidFill>
                            <a:srgbClr val="1F2A24"/>
                          </a:solidFill>
                        </a:rPr>
                        <a:t>3  ST-GNN vs baselines</a:t>
                      </a:r>
                    </a:p>
                  </a:txBody>
                  <a:tcPr marL="54864" marR="54864" marT="27432" marB="27432">
                    <a:solidFill>
                      <a:srgbClr val="FFFFFF"/>
                    </a:solidFill>
                  </a:tcPr>
                </a:tc>
                <a:tc>
                  <a:txBody>
                    <a:bodyPr/>
                    <a:lstStyle/>
                    <a:p>
                      <a:r>
                        <a:rPr sz="1300" b="0">
                          <a:solidFill>
                            <a:srgbClr val="1F2A24"/>
                          </a:solidFill>
                        </a:rPr>
                        <a:t>HA, ARIMA, LSTM, GRU-no-graph; spatial CV; paired t-tests</a:t>
                      </a:r>
                    </a:p>
                  </a:txBody>
                  <a:tcPr marL="54864" marR="54864" marT="27432" marB="27432">
                    <a:solidFill>
                      <a:srgbClr val="FFFFFF"/>
                    </a:solidFill>
                  </a:tcPr>
                </a:tc>
                <a:tc>
                  <a:txBody>
                    <a:bodyPr/>
                    <a:lstStyle/>
                    <a:p>
                      <a:r>
                        <a:rPr sz="1300" b="0">
                          <a:solidFill>
                            <a:srgbClr val="1F2A24"/>
                          </a:solidFill>
                        </a:rPr>
                        <a:t>Done (Horton 3 seeds)</a:t>
                      </a:r>
                    </a:p>
                  </a:txBody>
                  <a:tcPr marL="54864" marR="54864" marT="27432" marB="27432">
                    <a:solidFill>
                      <a:srgbClr val="FFFFFF"/>
                    </a:solidFill>
                  </a:tcPr>
                </a:tc>
              </a:tr>
              <a:tr h="329184">
                <a:tc>
                  <a:txBody>
                    <a:bodyPr/>
                    <a:lstStyle/>
                    <a:p>
                      <a:r>
                        <a:rPr sz="1300" b="0">
                          <a:solidFill>
                            <a:srgbClr val="1F2A24"/>
                          </a:solidFill>
                        </a:rPr>
                        <a:t>4  Dynamic carrying capacity</a:t>
                      </a:r>
                    </a:p>
                  </a:txBody>
                  <a:tcPr marL="54864" marR="54864" marT="27432" marB="27432">
                    <a:solidFill>
                      <a:srgbClr val="F4F7F5"/>
                    </a:solidFill>
                  </a:tcPr>
                </a:tc>
                <a:tc>
                  <a:txBody>
                    <a:bodyPr/>
                    <a:lstStyle/>
                    <a:p>
                      <a:r>
                        <a:rPr sz="1300" b="0">
                          <a:solidFill>
                            <a:srgbClr val="1F2A24"/>
                          </a:solidFill>
                        </a:rPr>
                        <a:t>Cifuentes PCC→RCC→ECC with a forecast crowding factor</a:t>
                      </a:r>
                    </a:p>
                  </a:txBody>
                  <a:tcPr marL="54864" marR="54864" marT="27432" marB="27432">
                    <a:solidFill>
                      <a:srgbClr val="F4F7F5"/>
                    </a:solidFill>
                  </a:tcPr>
                </a:tc>
                <a:tc>
                  <a:txBody>
                    <a:bodyPr/>
                    <a:lstStyle/>
                    <a:p>
                      <a:r>
                        <a:rPr sz="1300" b="0">
                          <a:solidFill>
                            <a:srgbClr val="1F2A24"/>
                          </a:solidFill>
                        </a:rPr>
                        <a:t>Done</a:t>
                      </a:r>
                    </a:p>
                  </a:txBody>
                  <a:tcPr marL="54864" marR="54864" marT="27432" marB="27432">
                    <a:solidFill>
                      <a:srgbClr val="F4F7F5"/>
                    </a:solidFill>
                  </a:tcPr>
                </a:tc>
              </a:tr>
              <a:tr h="329184">
                <a:tc>
                  <a:txBody>
                    <a:bodyPr/>
                    <a:lstStyle/>
                    <a:p>
                      <a:r>
                        <a:rPr sz="1300" b="0">
                          <a:solidFill>
                            <a:srgbClr val="1F2A24"/>
                          </a:solidFill>
                        </a:rPr>
                        <a:t>5  From forecast to control (extension)</a:t>
                      </a:r>
                    </a:p>
                  </a:txBody>
                  <a:tcPr marL="54864" marR="54864" marT="27432" marB="27432">
                    <a:solidFill>
                      <a:srgbClr val="FFFFFF"/>
                    </a:solidFill>
                  </a:tcPr>
                </a:tc>
                <a:tc>
                  <a:txBody>
                    <a:bodyPr/>
                    <a:lstStyle/>
                    <a:p>
                      <a:r>
                        <a:rPr sz="1300" b="0">
                          <a:solidFill>
                            <a:srgbClr val="1F2A24"/>
                          </a:solidFill>
                        </a:rPr>
                        <a:t>Slot tickets (LP) · start times + halfway checks</a:t>
                      </a:r>
                    </a:p>
                  </a:txBody>
                  <a:tcPr marL="54864" marR="54864" marT="27432" marB="27432">
                    <a:solidFill>
                      <a:srgbClr val="FFFFFF"/>
                    </a:solidFill>
                  </a:tcPr>
                </a:tc>
                <a:tc>
                  <a:txBody>
                    <a:bodyPr/>
                    <a:lstStyle/>
                    <a:p>
                      <a:r>
                        <a:rPr sz="1300" b="0">
                          <a:solidFill>
                            <a:srgbClr val="1F2A24"/>
                          </a:solidFill>
                        </a:rPr>
                        <a:t>Done, evaluated</a:t>
                      </a:r>
                    </a:p>
                  </a:txBody>
                  <a:tcPr marL="54864" marR="54864" marT="27432" marB="27432">
                    <a:solidFill>
                      <a:srgbClr val="FFFFFF"/>
                    </a:solidFill>
                  </a:tcPr>
                </a:tc>
              </a:tr>
              <a:tr h="329184">
                <a:tc>
                  <a:txBody>
                    <a:bodyPr/>
                    <a:lstStyle/>
                    <a:p>
                      <a:r>
                        <a:rPr sz="1300" b="0">
                          <a:solidFill>
                            <a:srgbClr val="1F2A24"/>
                          </a:solidFill>
                        </a:rPr>
                        <a:t>6  Prototype for users</a:t>
                      </a:r>
                    </a:p>
                  </a:txBody>
                  <a:tcPr marL="54864" marR="54864" marT="27432" marB="27432">
                    <a:solidFill>
                      <a:srgbClr val="F4F7F5"/>
                    </a:solidFill>
                  </a:tcPr>
                </a:tc>
                <a:tc>
                  <a:txBody>
                    <a:bodyPr/>
                    <a:lstStyle/>
                    <a:p>
                      <a:r>
                        <a:rPr sz="1300" b="0">
                          <a:solidFill>
                            <a:srgbClr val="1F2A24"/>
                          </a:solidFill>
                        </a:rPr>
                        <a:t>FastAPI + Flutter app, staff roles, 2 parks</a:t>
                      </a:r>
                    </a:p>
                  </a:txBody>
                  <a:tcPr marL="54864" marR="54864" marT="27432" marB="27432">
                    <a:solidFill>
                      <a:srgbClr val="F4F7F5"/>
                    </a:solidFill>
                  </a:tcPr>
                </a:tc>
                <a:tc>
                  <a:txBody>
                    <a:bodyPr/>
                    <a:lstStyle/>
                    <a:p>
                      <a:r>
                        <a:rPr sz="1300" b="0">
                          <a:solidFill>
                            <a:srgbClr val="1F2A24"/>
                          </a:solidFill>
                        </a:rPr>
                        <a:t>Working prototype</a:t>
                      </a:r>
                    </a:p>
                  </a:txBody>
                  <a:tcPr marL="54864" marR="54864" marT="27432" marB="27432">
                    <a:solidFill>
                      <a:srgbClr val="F4F7F5"/>
                    </a:solidFill>
                  </a:tcPr>
                </a:tc>
              </a:tr>
            </a:tbl>
          </a:graphicData>
        </a:graphic>
      </p:graphicFrame>
      <p:sp>
        <p:nvSpPr>
          <p:cNvPr id="7" name="Rounded Rectangle 6"/>
          <p:cNvSpPr/>
          <p:nvPr/>
        </p:nvSpPr>
        <p:spPr>
          <a:xfrm>
            <a:off x="548640" y="4480560"/>
            <a:ext cx="3566160" cy="1371600"/>
          </a:xfrm>
          <a:prstGeom prst="roundRect">
            <a:avLst>
              <a:gd name="adj" fmla="val 12000"/>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1F2A24"/>
                </a:solidFill>
              </a:rPr>
              <a:t>Novelty 1</a:t>
            </a:r>
          </a:p>
          <a:p>
            <a:pPr algn="ctr"/>
            <a:r>
              <a:rPr sz="1100" b="0">
                <a:solidFill>
                  <a:srgbClr val="1F2A24"/>
                </a:solidFill>
              </a:rPr>
              <a:t>ST-GNN on a tiny (48–57 node), sensor-free trail graph – tested against baselines, not assumed</a:t>
            </a:r>
          </a:p>
        </p:txBody>
      </p:sp>
      <p:sp>
        <p:nvSpPr>
          <p:cNvPr id="8" name="Rounded Rectangle 7"/>
          <p:cNvSpPr/>
          <p:nvPr/>
        </p:nvSpPr>
        <p:spPr>
          <a:xfrm>
            <a:off x="4297680" y="4480560"/>
            <a:ext cx="3566160" cy="1371600"/>
          </a:xfrm>
          <a:prstGeom prst="roundRect">
            <a:avLst>
              <a:gd name="adj" fmla="val 12000"/>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1F2A24"/>
                </a:solidFill>
              </a:rPr>
              <a:t>Novelty 2</a:t>
            </a:r>
          </a:p>
          <a:p>
            <a:pPr algn="ctr"/>
            <a:r>
              <a:rPr sz="1100" b="0">
                <a:solidFill>
                  <a:srgbClr val="1F2A24"/>
                </a:solidFill>
              </a:rPr>
              <a:t>Forecast judged by the decision it improves (crowd control), not only by its error</a:t>
            </a:r>
          </a:p>
        </p:txBody>
      </p:sp>
      <p:sp>
        <p:nvSpPr>
          <p:cNvPr id="9" name="Rounded Rectangle 8"/>
          <p:cNvSpPr/>
          <p:nvPr/>
        </p:nvSpPr>
        <p:spPr>
          <a:xfrm>
            <a:off x="8046720" y="4480560"/>
            <a:ext cx="3566160" cy="1371600"/>
          </a:xfrm>
          <a:prstGeom prst="roundRect">
            <a:avLst>
              <a:gd name="adj" fmla="val 12000"/>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1F2A24"/>
                </a:solidFill>
              </a:rPr>
              <a:t>Novelty 3</a:t>
            </a:r>
          </a:p>
          <a:p>
            <a:pPr algn="ctr"/>
            <a:r>
              <a:rPr sz="1100" b="0">
                <a:solidFill>
                  <a:srgbClr val="1F2A24"/>
                </a:solidFill>
              </a:rPr>
              <a:t>One pipeline, two kinds of site: ticketed park and no-ticket pilgrimage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DESIGN</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System overview</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4</a:t>
            </a:r>
          </a:p>
        </p:txBody>
      </p:sp>
      <p:sp>
        <p:nvSpPr>
          <p:cNvPr id="6" name="Rounded Rectangle 5"/>
          <p:cNvSpPr/>
          <p:nvPr/>
        </p:nvSpPr>
        <p:spPr>
          <a:xfrm>
            <a:off x="502920" y="1737360"/>
            <a:ext cx="1737360" cy="1051560"/>
          </a:xfrm>
          <a:prstGeom prst="roundRect">
            <a:avLst>
              <a:gd name="adj" fmla="val 12000"/>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1F2A24"/>
                </a:solidFill>
              </a:rPr>
              <a:t>Open data</a:t>
            </a:r>
          </a:p>
          <a:p>
            <a:pPr algn="ctr"/>
            <a:r>
              <a:rPr sz="1100" b="0">
                <a:solidFill>
                  <a:srgbClr val="1F2A24"/>
                </a:solidFill>
              </a:rPr>
              <a:t>OSM · DEM · weather</a:t>
            </a:r>
          </a:p>
          <a:p>
            <a:pPr algn="ctr"/>
            <a:r>
              <a:rPr sz="1100" b="0">
                <a:solidFill>
                  <a:srgbClr val="1F2A24"/>
                </a:solidFill>
              </a:rPr>
              <a:t>calendar · Poya</a:t>
            </a:r>
          </a:p>
        </p:txBody>
      </p:sp>
      <p:sp>
        <p:nvSpPr>
          <p:cNvPr id="7" name="Rounded Rectangle 6"/>
          <p:cNvSpPr/>
          <p:nvPr/>
        </p:nvSpPr>
        <p:spPr>
          <a:xfrm>
            <a:off x="2404872" y="1737360"/>
            <a:ext cx="1737360" cy="1051560"/>
          </a:xfrm>
          <a:prstGeom prst="roundRect">
            <a:avLst>
              <a:gd name="adj" fmla="val 12000"/>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1F2A24"/>
                </a:solidFill>
              </a:rPr>
              <a:t>Trail graph</a:t>
            </a:r>
          </a:p>
          <a:p>
            <a:pPr algn="ctr"/>
            <a:r>
              <a:rPr sz="1100" b="0">
                <a:solidFill>
                  <a:srgbClr val="1F2A24"/>
                </a:solidFill>
              </a:rPr>
              <a:t>300–500 m segments</a:t>
            </a:r>
          </a:p>
          <a:p>
            <a:pPr algn="ctr"/>
            <a:r>
              <a:rPr sz="1100" b="0">
                <a:solidFill>
                  <a:srgbClr val="1F2A24"/>
                </a:solidFill>
              </a:rPr>
              <a:t>terrain features</a:t>
            </a:r>
          </a:p>
        </p:txBody>
      </p:sp>
      <p:cxnSp>
        <p:nvCxnSpPr>
          <p:cNvPr id="8" name="Connector 7"/>
          <p:cNvCxnSpPr/>
          <p:nvPr/>
        </p:nvCxnSpPr>
        <p:spPr>
          <a:xfrm>
            <a:off x="2240280" y="2263140"/>
            <a:ext cx="164592"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06824" y="1737360"/>
            <a:ext cx="1737360" cy="1051560"/>
          </a:xfrm>
          <a:prstGeom prst="roundRect">
            <a:avLst>
              <a:gd name="adj" fmla="val 12000"/>
            </a:avLst>
          </a:prstGeom>
          <a:solidFill>
            <a:srgbClr val="FFF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1F2A24"/>
                </a:solidFill>
              </a:rPr>
              <a:t>Simulator</a:t>
            </a:r>
          </a:p>
          <a:p>
            <a:pPr algn="ctr"/>
            <a:r>
              <a:rPr sz="1100" b="0">
                <a:solidFill>
                  <a:srgbClr val="1F2A24"/>
                </a:solidFill>
              </a:rPr>
              <a:t>groups walk the graph</a:t>
            </a:r>
          </a:p>
          <a:p>
            <a:pPr algn="ctr"/>
            <a:r>
              <a:rPr sz="1100" b="0">
                <a:solidFill>
                  <a:srgbClr val="1F2A24"/>
                </a:solidFill>
              </a:rPr>
              <a:t>→ occupancy target</a:t>
            </a:r>
          </a:p>
        </p:txBody>
      </p:sp>
      <p:cxnSp>
        <p:nvCxnSpPr>
          <p:cNvPr id="10" name="Connector 9"/>
          <p:cNvCxnSpPr/>
          <p:nvPr/>
        </p:nvCxnSpPr>
        <p:spPr>
          <a:xfrm>
            <a:off x="4142232" y="2263140"/>
            <a:ext cx="164592"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08776" y="1737360"/>
            <a:ext cx="1737360" cy="1051560"/>
          </a:xfrm>
          <a:prstGeom prst="roundRect">
            <a:avLst>
              <a:gd name="adj" fmla="val 12000"/>
            </a:avLst>
          </a:prstGeom>
          <a:solidFill>
            <a:srgbClr val="DCEBE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1F2A24"/>
                </a:solidFill>
              </a:rPr>
              <a:t>Forecasting</a:t>
            </a:r>
          </a:p>
          <a:p>
            <a:pPr algn="ctr"/>
            <a:r>
              <a:rPr sz="1100" b="0">
                <a:solidFill>
                  <a:srgbClr val="1F2A24"/>
                </a:solidFill>
              </a:rPr>
              <a:t>ST-GNN (day ahead)</a:t>
            </a:r>
          </a:p>
          <a:p>
            <a:pPr algn="ctr"/>
            <a:r>
              <a:rPr sz="1100" b="0">
                <a:solidFill>
                  <a:srgbClr val="1F2A24"/>
                </a:solidFill>
              </a:rPr>
              <a:t>planning model (90 d)</a:t>
            </a:r>
          </a:p>
        </p:txBody>
      </p:sp>
      <p:cxnSp>
        <p:nvCxnSpPr>
          <p:cNvPr id="12" name="Connector 11"/>
          <p:cNvCxnSpPr/>
          <p:nvPr/>
        </p:nvCxnSpPr>
        <p:spPr>
          <a:xfrm>
            <a:off x="6044184" y="2263140"/>
            <a:ext cx="164592"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110728" y="1737360"/>
            <a:ext cx="1737360" cy="1051560"/>
          </a:xfrm>
          <a:prstGeom prst="roundRect">
            <a:avLst>
              <a:gd name="adj" fmla="val 12000"/>
            </a:avLst>
          </a:prstGeom>
          <a:solidFill>
            <a:srgbClr val="DCEBE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1F2A24"/>
                </a:solidFill>
              </a:rPr>
              <a:t>Capacity &amp; control</a:t>
            </a:r>
          </a:p>
          <a:p>
            <a:pPr algn="ctr"/>
            <a:r>
              <a:rPr sz="1100" b="0">
                <a:solidFill>
                  <a:srgbClr val="1F2A24"/>
                </a:solidFill>
              </a:rPr>
              <a:t>Cifuentes · slot LP</a:t>
            </a:r>
          </a:p>
          <a:p>
            <a:pPr algn="ctr"/>
            <a:r>
              <a:rPr sz="1100" b="0">
                <a:solidFill>
                  <a:srgbClr val="1F2A24"/>
                </a:solidFill>
              </a:rPr>
              <a:t>start times · holds</a:t>
            </a:r>
          </a:p>
        </p:txBody>
      </p:sp>
      <p:cxnSp>
        <p:nvCxnSpPr>
          <p:cNvPr id="14" name="Connector 13"/>
          <p:cNvCxnSpPr/>
          <p:nvPr/>
        </p:nvCxnSpPr>
        <p:spPr>
          <a:xfrm>
            <a:off x="7946136" y="2263140"/>
            <a:ext cx="164592"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012680" y="1737360"/>
            <a:ext cx="1737360" cy="1051560"/>
          </a:xfrm>
          <a:prstGeom prst="roundRect">
            <a:avLst>
              <a:gd name="adj" fmla="val 12000"/>
            </a:avLst>
          </a:prstGeom>
          <a:solidFill>
            <a:srgbClr val="E3EAF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1F2A24"/>
                </a:solidFill>
              </a:rPr>
              <a:t>Service</a:t>
            </a:r>
          </a:p>
          <a:p>
            <a:pPr algn="ctr"/>
            <a:r>
              <a:rPr sz="1100" b="0">
                <a:solidFill>
                  <a:srgbClr val="1F2A24"/>
                </a:solidFill>
              </a:rPr>
              <a:t>FastAPI per park</a:t>
            </a:r>
          </a:p>
          <a:p>
            <a:pPr algn="ctr"/>
            <a:r>
              <a:rPr sz="1100" b="0">
                <a:solidFill>
                  <a:srgbClr val="1F2A24"/>
                </a:solidFill>
              </a:rPr>
              <a:t>gateway · Flutter app</a:t>
            </a:r>
          </a:p>
        </p:txBody>
      </p:sp>
      <p:cxnSp>
        <p:nvCxnSpPr>
          <p:cNvPr id="16" name="Connector 15"/>
          <p:cNvCxnSpPr/>
          <p:nvPr/>
        </p:nvCxnSpPr>
        <p:spPr>
          <a:xfrm>
            <a:off x="9848088" y="2263140"/>
            <a:ext cx="164592"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3154680"/>
            <a:ext cx="11155680" cy="3108960"/>
          </a:xfrm>
          <a:prstGeom prst="rect">
            <a:avLst/>
          </a:prstGeom>
          <a:noFill/>
        </p:spPr>
        <p:txBody>
          <a:bodyPr wrap="square">
            <a:spAutoFit/>
          </a:bodyPr>
          <a:lstStyle/>
          <a:p>
            <a:pPr>
              <a:spcAft>
                <a:spcPts val="1000"/>
              </a:spcAft>
            </a:pPr>
            <a:r>
              <a:rPr sz="1600" b="1">
                <a:solidFill>
                  <a:srgbClr val="1F2A24"/>
                </a:solidFill>
              </a:rPr>
              <a:t>•  Per park:</a:t>
            </a:r>
            <a:r>
              <a:rPr sz="1600">
                <a:solidFill>
                  <a:srgbClr val="1F2A24"/>
                </a:solidFill>
              </a:rPr>
              <a:t>  one YAML file (configs/parks/*.yaml) – adding a destination needs no code or app change</a:t>
            </a:r>
          </a:p>
          <a:p>
            <a:pPr>
              <a:spcAft>
                <a:spcPts val="1000"/>
              </a:spcAft>
            </a:pPr>
            <a:r>
              <a:rPr sz="1600" b="1">
                <a:solidFill>
                  <a:srgbClr val="1F2A24"/>
                </a:solidFill>
              </a:rPr>
              <a:t>•  Two horizons:</a:t>
            </a:r>
            <a:r>
              <a:rPr sz="1600">
                <a:solidFill>
                  <a:srgbClr val="1F2A24"/>
                </a:solidFill>
              </a:rPr>
              <a:t>  day-ahead hourly occupancy per segment (ST-GNN) and a 2–90 day outlook with a P10–P90 range</a:t>
            </a:r>
          </a:p>
          <a:p>
            <a:pPr>
              <a:spcAft>
                <a:spcPts val="1000"/>
              </a:spcAft>
            </a:pPr>
            <a:r>
              <a:rPr sz="1600" b="1">
                <a:solidFill>
                  <a:srgbClr val="1F2A24"/>
                </a:solidFill>
              </a:rPr>
              <a:t>•  Two control styles:</a:t>
            </a:r>
            <a:r>
              <a:rPr sz="1600">
                <a:solidFill>
                  <a:srgbClr val="1F2A24"/>
                </a:solidFill>
              </a:rPr>
              <a:t>  Horton Plains – timed tickets per trail and 30-min slot; Adam's Peak – advice only (recommended start times + officer holds at halfway rest stops)</a:t>
            </a:r>
          </a:p>
          <a:p>
            <a:pPr>
              <a:spcAft>
                <a:spcPts val="1000"/>
              </a:spcAft>
            </a:pPr>
            <a:r>
              <a:rPr sz="1600" b="1">
                <a:solidFill>
                  <a:srgbClr val="1F2A24"/>
                </a:solidFill>
              </a:rPr>
              <a:t>•  Users:</a:t>
            </a:r>
            <a:r>
              <a:rPr sz="1600">
                <a:solidFill>
                  <a:srgbClr val="1F2A24"/>
                </a:solidFill>
              </a:rPr>
              <a:t>  visitors / pilgrims (plan, book, start times), rangers (gate, halfway counts), officers (season plan, closures), admin (audit)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APPLICATION OF KNOWLEDGE</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Two study sites, built from open data only</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5</a:t>
            </a:r>
          </a:p>
        </p:txBody>
      </p:sp>
      <p:pic>
        <p:nvPicPr>
          <p:cNvPr id="6" name="Picture 5" descr="map_horton_plains.png"/>
          <p:cNvPicPr>
            <a:picLocks noChangeAspect="1"/>
          </p:cNvPicPr>
          <p:nvPr/>
        </p:nvPicPr>
        <p:blipFill>
          <a:blip r:embed="rId3"/>
          <a:stretch>
            <a:fillRect/>
          </a:stretch>
        </p:blipFill>
        <p:spPr>
          <a:xfrm>
            <a:off x="457200" y="1371600"/>
            <a:ext cx="4444779" cy="3931920"/>
          </a:xfrm>
          <a:prstGeom prst="rect">
            <a:avLst/>
          </a:prstGeom>
        </p:spPr>
      </p:pic>
      <p:pic>
        <p:nvPicPr>
          <p:cNvPr id="7" name="Picture 6" descr="map_adams_peak.png"/>
          <p:cNvPicPr>
            <a:picLocks noChangeAspect="1"/>
          </p:cNvPicPr>
          <p:nvPr/>
        </p:nvPicPr>
        <p:blipFill>
          <a:blip r:embed="rId4"/>
          <a:stretch>
            <a:fillRect/>
          </a:stretch>
        </p:blipFill>
        <p:spPr>
          <a:xfrm>
            <a:off x="4937760" y="1371600"/>
            <a:ext cx="4444779" cy="3931920"/>
          </a:xfrm>
          <a:prstGeom prst="rect">
            <a:avLst/>
          </a:prstGeom>
        </p:spPr>
      </p:pic>
      <p:sp>
        <p:nvSpPr>
          <p:cNvPr id="8" name="TextBox 7"/>
          <p:cNvSpPr txBox="1"/>
          <p:nvPr/>
        </p:nvSpPr>
        <p:spPr>
          <a:xfrm>
            <a:off x="9144000" y="1463040"/>
            <a:ext cx="2834640" cy="4754880"/>
          </a:xfrm>
          <a:prstGeom prst="rect">
            <a:avLst/>
          </a:prstGeom>
          <a:noFill/>
        </p:spPr>
        <p:txBody>
          <a:bodyPr wrap="square">
            <a:spAutoFit/>
          </a:bodyPr>
          <a:lstStyle/>
          <a:p>
            <a:pPr>
              <a:spcAft>
                <a:spcPts val="800"/>
              </a:spcAft>
            </a:pPr>
            <a:r>
              <a:rPr sz="1200" b="1">
                <a:solidFill>
                  <a:srgbClr val="1F2A24"/>
                </a:solidFill>
              </a:rPr>
              <a:t>•  Graph:</a:t>
            </a:r>
            <a:r>
              <a:rPr sz="1200">
                <a:solidFill>
                  <a:srgbClr val="1F2A24"/>
                </a:solidFill>
              </a:rPr>
              <a:t>  OpenStreetMap paths split into ~300 m (Horton) / ~500 m (Adam's Peak) segments</a:t>
            </a:r>
          </a:p>
          <a:p>
            <a:pPr>
              <a:spcAft>
                <a:spcPts val="800"/>
              </a:spcAft>
            </a:pPr>
            <a:r>
              <a:rPr sz="1200" b="1">
                <a:solidFill>
                  <a:srgbClr val="1F2A24"/>
                </a:solidFill>
              </a:rPr>
              <a:t>•  Terrain:</a:t>
            </a:r>
            <a:r>
              <a:rPr sz="1200">
                <a:solidFill>
                  <a:srgbClr val="1F2A24"/>
                </a:solidFill>
              </a:rPr>
              <a:t>  Copernicus 30 m DEM – slope, TWI, Tobler walking time, stairs</a:t>
            </a:r>
          </a:p>
          <a:p>
            <a:pPr>
              <a:spcAft>
                <a:spcPts val="800"/>
              </a:spcAft>
            </a:pPr>
            <a:r>
              <a:rPr sz="1200" b="1">
                <a:solidFill>
                  <a:srgbClr val="1F2A24"/>
                </a:solidFill>
              </a:rPr>
              <a:t>•  Weather:</a:t>
            </a:r>
            <a:r>
              <a:rPr sz="1200">
                <a:solidFill>
                  <a:srgbClr val="1F2A24"/>
                </a:solidFill>
              </a:rPr>
              <a:t>  Open-Meteo archive + 16-day forecast</a:t>
            </a:r>
          </a:p>
          <a:p>
            <a:pPr>
              <a:spcAft>
                <a:spcPts val="800"/>
              </a:spcAft>
            </a:pPr>
            <a:r>
              <a:rPr sz="1200" b="1">
                <a:solidFill>
                  <a:srgbClr val="1F2A24"/>
                </a:solidFill>
              </a:rPr>
              <a:t>•  Calendar:</a:t>
            </a:r>
            <a:r>
              <a:rPr sz="1200">
                <a:solidFill>
                  <a:srgbClr val="1F2A24"/>
                </a:solidFill>
              </a:rPr>
              <a:t>  public holidays, Poya days (estimated after 2026), school holidays, pilgrimage season</a:t>
            </a:r>
          </a:p>
          <a:p>
            <a:pPr>
              <a:spcAft>
                <a:spcPts val="800"/>
              </a:spcAft>
            </a:pPr>
            <a:r>
              <a:rPr sz="1200" b="1">
                <a:solidFill>
                  <a:srgbClr val="1F2A24"/>
                </a:solidFill>
              </a:rPr>
              <a:t>•  No personal data:</a:t>
            </a:r>
            <a:r>
              <a:rPr sz="1200">
                <a:solidFill>
                  <a:srgbClr val="1F2A24"/>
                </a:solidFill>
              </a:rPr>
              <a:t>  counts only</a:t>
            </a:r>
          </a:p>
        </p:txBody>
      </p:sp>
      <p:sp>
        <p:nvSpPr>
          <p:cNvPr id="9" name="TextBox 8"/>
          <p:cNvSpPr txBox="1"/>
          <p:nvPr/>
        </p:nvSpPr>
        <p:spPr>
          <a:xfrm>
            <a:off x="548640" y="5440680"/>
            <a:ext cx="8229600" cy="365760"/>
          </a:xfrm>
          <a:prstGeom prst="rect">
            <a:avLst/>
          </a:prstGeom>
          <a:noFill/>
        </p:spPr>
        <p:txBody>
          <a:bodyPr wrap="square" anchor="t">
            <a:spAutoFit/>
          </a:bodyPr>
          <a:lstStyle/>
          <a:p>
            <a:pPr algn="l"/>
            <a:r>
              <a:rPr sz="1100" b="0">
                <a:solidFill>
                  <a:srgbClr val="6B7280"/>
                </a:solidFill>
              </a:rPr>
              <a:t>▲ viewpoint   ★ summit   ■ halfway checkpoint   ○ start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APPLICATION OF TECHNOLOGIES</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The ST-GNN and the technologies behind it</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6</a:t>
            </a:r>
          </a:p>
        </p:txBody>
      </p:sp>
      <p:sp>
        <p:nvSpPr>
          <p:cNvPr id="6" name="Rounded Rectangle 5"/>
          <p:cNvSpPr/>
          <p:nvPr/>
        </p:nvSpPr>
        <p:spPr>
          <a:xfrm>
            <a:off x="502920" y="1508760"/>
            <a:ext cx="1691640" cy="1005840"/>
          </a:xfrm>
          <a:prstGeom prst="roundRect">
            <a:avLst>
              <a:gd name="adj" fmla="val 12000"/>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1F2A24"/>
                </a:solidFill>
              </a:rPr>
              <a:t>Last 24 h</a:t>
            </a:r>
          </a:p>
          <a:p>
            <a:pPr algn="ctr"/>
            <a:r>
              <a:rPr sz="1000" b="0">
                <a:solidFill>
                  <a:srgbClr val="1F2A24"/>
                </a:solidFill>
              </a:rPr>
              <a:t>counts + weather</a:t>
            </a:r>
          </a:p>
          <a:p>
            <a:pPr algn="ctr"/>
            <a:r>
              <a:rPr sz="1000" b="0">
                <a:solidFill>
                  <a:srgbClr val="1F2A24"/>
                </a:solidFill>
              </a:rPr>
              <a:t>+ calendar</a:t>
            </a:r>
          </a:p>
        </p:txBody>
      </p:sp>
      <p:sp>
        <p:nvSpPr>
          <p:cNvPr id="7" name="Rounded Rectangle 6"/>
          <p:cNvSpPr/>
          <p:nvPr/>
        </p:nvSpPr>
        <p:spPr>
          <a:xfrm>
            <a:off x="2395728" y="1508760"/>
            <a:ext cx="1691640" cy="1005840"/>
          </a:xfrm>
          <a:prstGeom prst="roundRect">
            <a:avLst>
              <a:gd name="adj" fmla="val 12000"/>
            </a:avLst>
          </a:prstGeom>
          <a:solidFill>
            <a:srgbClr val="DCEBE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1F2A24"/>
                </a:solidFill>
              </a:rPr>
              <a:t>GCN × 2</a:t>
            </a:r>
          </a:p>
          <a:p>
            <a:pPr algn="ctr"/>
            <a:r>
              <a:rPr sz="1000" b="0">
                <a:solidFill>
                  <a:srgbClr val="1F2A24"/>
                </a:solidFill>
              </a:rPr>
              <a:t>neighbouring</a:t>
            </a:r>
          </a:p>
          <a:p>
            <a:pPr algn="ctr"/>
            <a:r>
              <a:rPr sz="1000" b="0">
                <a:solidFill>
                  <a:srgbClr val="1F2A24"/>
                </a:solidFill>
              </a:rPr>
              <a:t>segments</a:t>
            </a:r>
          </a:p>
        </p:txBody>
      </p:sp>
      <p:cxnSp>
        <p:nvCxnSpPr>
          <p:cNvPr id="8" name="Connector 7"/>
          <p:cNvCxnSpPr/>
          <p:nvPr/>
        </p:nvCxnSpPr>
        <p:spPr>
          <a:xfrm>
            <a:off x="2194560" y="2011680"/>
            <a:ext cx="201168"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288536" y="1508760"/>
            <a:ext cx="1691640" cy="1005840"/>
          </a:xfrm>
          <a:prstGeom prst="roundRect">
            <a:avLst>
              <a:gd name="adj" fmla="val 12000"/>
            </a:avLst>
          </a:prstGeom>
          <a:solidFill>
            <a:srgbClr val="DCEBE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1F2A24"/>
                </a:solidFill>
              </a:rPr>
              <a:t>GRU</a:t>
            </a:r>
          </a:p>
          <a:p>
            <a:pPr algn="ctr"/>
            <a:r>
              <a:rPr sz="1000" b="0">
                <a:solidFill>
                  <a:srgbClr val="1F2A24"/>
                </a:solidFill>
              </a:rPr>
              <a:t>over time</a:t>
            </a:r>
          </a:p>
        </p:txBody>
      </p:sp>
      <p:cxnSp>
        <p:nvCxnSpPr>
          <p:cNvPr id="10" name="Connector 9"/>
          <p:cNvCxnSpPr/>
          <p:nvPr/>
        </p:nvCxnSpPr>
        <p:spPr>
          <a:xfrm>
            <a:off x="4087368" y="2011680"/>
            <a:ext cx="201168"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81344" y="1508760"/>
            <a:ext cx="1691640" cy="1005840"/>
          </a:xfrm>
          <a:prstGeom prst="roundRect">
            <a:avLst>
              <a:gd name="adj" fmla="val 12000"/>
            </a:avLst>
          </a:prstGeom>
          <a:solidFill>
            <a:srgbClr val="DCEBE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1F2A24"/>
                </a:solidFill>
              </a:rPr>
              <a:t>GCN</a:t>
            </a:r>
          </a:p>
          <a:p>
            <a:pPr algn="ctr"/>
            <a:r>
              <a:rPr sz="1000" b="0">
                <a:solidFill>
                  <a:srgbClr val="1F2A24"/>
                </a:solidFill>
              </a:rPr>
              <a:t>spread state</a:t>
            </a:r>
          </a:p>
        </p:txBody>
      </p:sp>
      <p:cxnSp>
        <p:nvCxnSpPr>
          <p:cNvPr id="12" name="Connector 11"/>
          <p:cNvCxnSpPr/>
          <p:nvPr/>
        </p:nvCxnSpPr>
        <p:spPr>
          <a:xfrm>
            <a:off x="5980176" y="2011680"/>
            <a:ext cx="201168"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074152" y="1508760"/>
            <a:ext cx="1691640" cy="1005840"/>
          </a:xfrm>
          <a:prstGeom prst="roundRect">
            <a:avLst>
              <a:gd name="adj" fmla="val 12000"/>
            </a:avLst>
          </a:prstGeom>
          <a:solidFill>
            <a:srgbClr val="EEF3E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1F2A24"/>
                </a:solidFill>
              </a:rPr>
              <a:t>Decoder</a:t>
            </a:r>
          </a:p>
          <a:p>
            <a:pPr algn="ctr"/>
            <a:r>
              <a:rPr sz="1000" b="0">
                <a:solidFill>
                  <a:srgbClr val="1F2A24"/>
                </a:solidFill>
              </a:rPr>
              <a:t>next 24 h weather</a:t>
            </a:r>
          </a:p>
          <a:p>
            <a:pPr algn="ctr"/>
            <a:r>
              <a:rPr sz="1000" b="0">
                <a:solidFill>
                  <a:srgbClr val="1F2A24"/>
                </a:solidFill>
              </a:rPr>
              <a:t>+ calendar</a:t>
            </a:r>
          </a:p>
        </p:txBody>
      </p:sp>
      <p:cxnSp>
        <p:nvCxnSpPr>
          <p:cNvPr id="14" name="Connector 13"/>
          <p:cNvCxnSpPr/>
          <p:nvPr/>
        </p:nvCxnSpPr>
        <p:spPr>
          <a:xfrm>
            <a:off x="7872984" y="2011680"/>
            <a:ext cx="201168"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966960" y="1508760"/>
            <a:ext cx="1691640" cy="1005840"/>
          </a:xfrm>
          <a:prstGeom prst="roundRect">
            <a:avLst>
              <a:gd name="adj" fmla="val 12000"/>
            </a:avLst>
          </a:prstGeom>
          <a:solidFill>
            <a:srgbClr val="FFF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1F2A24"/>
                </a:solidFill>
              </a:rPr>
              <a:t>Occupancy</a:t>
            </a:r>
          </a:p>
          <a:p>
            <a:pPr algn="ctr"/>
            <a:r>
              <a:rPr sz="1000" b="0">
                <a:solidFill>
                  <a:srgbClr val="1F2A24"/>
                </a:solidFill>
              </a:rPr>
              <a:t>per segment</a:t>
            </a:r>
          </a:p>
          <a:p>
            <a:pPr algn="ctr"/>
            <a:r>
              <a:rPr sz="1000" b="0">
                <a:solidFill>
                  <a:srgbClr val="1F2A24"/>
                </a:solidFill>
              </a:rPr>
              <a:t>per hour</a:t>
            </a:r>
          </a:p>
        </p:txBody>
      </p:sp>
      <p:cxnSp>
        <p:nvCxnSpPr>
          <p:cNvPr id="16" name="Connector 15"/>
          <p:cNvCxnSpPr/>
          <p:nvPr/>
        </p:nvCxnSpPr>
        <p:spPr>
          <a:xfrm>
            <a:off x="9765792" y="2011680"/>
            <a:ext cx="201168"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548640" y="2880360"/>
          <a:ext cx="7589520" cy="2304288"/>
        </p:xfrm>
        <a:graphic>
          <a:graphicData uri="http://schemas.openxmlformats.org/drawingml/2006/table">
            <a:tbl>
              <a:tblPr firstRow="1" bandRow="1">
                <a:tableStyleId>{5C22544A-7EE6-4342-B048-85BDC9FD1C3A}</a:tableStyleId>
              </a:tblPr>
              <a:tblGrid>
                <a:gridCol w="1737360"/>
                <a:gridCol w="3566160"/>
                <a:gridCol w="2286000"/>
              </a:tblGrid>
              <a:tr h="329184">
                <a:tc>
                  <a:txBody>
                    <a:bodyPr/>
                    <a:lstStyle/>
                    <a:p>
                      <a:r>
                        <a:rPr sz="1200" b="1">
                          <a:solidFill>
                            <a:srgbClr val="FFFFFF"/>
                          </a:solidFill>
                        </a:rPr>
                        <a:t>Area</a:t>
                      </a:r>
                    </a:p>
                  </a:txBody>
                  <a:tcPr marL="54864" marR="54864" marT="27432" marB="27432">
                    <a:solidFill>
                      <a:srgbClr val="2F6B4F"/>
                    </a:solidFill>
                  </a:tcPr>
                </a:tc>
                <a:tc>
                  <a:txBody>
                    <a:bodyPr/>
                    <a:lstStyle/>
                    <a:p>
                      <a:r>
                        <a:rPr sz="1200" b="1">
                          <a:solidFill>
                            <a:srgbClr val="FFFFFF"/>
                          </a:solidFill>
                        </a:rPr>
                        <a:t>Technology</a:t>
                      </a:r>
                    </a:p>
                  </a:txBody>
                  <a:tcPr marL="54864" marR="54864" marT="27432" marB="27432">
                    <a:solidFill>
                      <a:srgbClr val="2F6B4F"/>
                    </a:solidFill>
                  </a:tcPr>
                </a:tc>
                <a:tc>
                  <a:txBody>
                    <a:bodyPr/>
                    <a:lstStyle/>
                    <a:p>
                      <a:r>
                        <a:rPr sz="1200" b="1">
                          <a:solidFill>
                            <a:srgbClr val="FFFFFF"/>
                          </a:solidFill>
                        </a:rPr>
                        <a:t>Why</a:t>
                      </a:r>
                    </a:p>
                  </a:txBody>
                  <a:tcPr marL="54864" marR="54864" marT="27432" marB="27432">
                    <a:solidFill>
                      <a:srgbClr val="2F6B4F"/>
                    </a:solidFill>
                  </a:tcPr>
                </a:tc>
              </a:tr>
              <a:tr h="329184">
                <a:tc>
                  <a:txBody>
                    <a:bodyPr/>
                    <a:lstStyle/>
                    <a:p>
                      <a:r>
                        <a:rPr sz="1200" b="0">
                          <a:solidFill>
                            <a:srgbClr val="1F2A24"/>
                          </a:solidFill>
                        </a:rPr>
                        <a:t>Graph learning</a:t>
                      </a:r>
                    </a:p>
                  </a:txBody>
                  <a:tcPr marL="54864" marR="54864" marT="27432" marB="27432">
                    <a:solidFill>
                      <a:srgbClr val="FFFFFF"/>
                    </a:solidFill>
                  </a:tcPr>
                </a:tc>
                <a:tc>
                  <a:txBody>
                    <a:bodyPr/>
                    <a:lstStyle/>
                    <a:p>
                      <a:r>
                        <a:rPr sz="1200" b="0">
                          <a:solidFill>
                            <a:srgbClr val="1F2A24"/>
                          </a:solidFill>
                        </a:rPr>
                        <a:t>PyTorch 2 + PyTorch Geometric (DenseGCNConv)</a:t>
                      </a:r>
                    </a:p>
                  </a:txBody>
                  <a:tcPr marL="54864" marR="54864" marT="27432" marB="27432">
                    <a:solidFill>
                      <a:srgbClr val="FFFFFF"/>
                    </a:solidFill>
                  </a:tcPr>
                </a:tc>
                <a:tc>
                  <a:txBody>
                    <a:bodyPr/>
                    <a:lstStyle/>
                    <a:p>
                      <a:r>
                        <a:rPr sz="1200" b="0">
                          <a:solidFill>
                            <a:srgbClr val="1F2A24"/>
                          </a:solidFill>
                        </a:rPr>
                        <a:t>small dense graph: fast, exact</a:t>
                      </a:r>
                    </a:p>
                  </a:txBody>
                  <a:tcPr marL="54864" marR="54864" marT="27432" marB="27432">
                    <a:solidFill>
                      <a:srgbClr val="FFFFFF"/>
                    </a:solidFill>
                  </a:tcPr>
                </a:tc>
              </a:tr>
              <a:tr h="329184">
                <a:tc>
                  <a:txBody>
                    <a:bodyPr/>
                    <a:lstStyle/>
                    <a:p>
                      <a:r>
                        <a:rPr sz="1200" b="0">
                          <a:solidFill>
                            <a:srgbClr val="1F2A24"/>
                          </a:solidFill>
                        </a:rPr>
                        <a:t>Baselines</a:t>
                      </a:r>
                    </a:p>
                  </a:txBody>
                  <a:tcPr marL="54864" marR="54864" marT="27432" marB="27432">
                    <a:solidFill>
                      <a:srgbClr val="F4F7F5"/>
                    </a:solidFill>
                  </a:tcPr>
                </a:tc>
                <a:tc>
                  <a:txBody>
                    <a:bodyPr/>
                    <a:lstStyle/>
                    <a:p>
                      <a:r>
                        <a:rPr sz="1200" b="0">
                          <a:solidFill>
                            <a:srgbClr val="1F2A24"/>
                          </a:solidFill>
                        </a:rPr>
                        <a:t>statsmodels SARIMAX, historical average, LSTM/GRU</a:t>
                      </a:r>
                    </a:p>
                  </a:txBody>
                  <a:tcPr marL="54864" marR="54864" marT="27432" marB="27432">
                    <a:solidFill>
                      <a:srgbClr val="F4F7F5"/>
                    </a:solidFill>
                  </a:tcPr>
                </a:tc>
                <a:tc>
                  <a:txBody>
                    <a:bodyPr/>
                    <a:lstStyle/>
                    <a:p>
                      <a:r>
                        <a:rPr sz="1200" b="0">
                          <a:solidFill>
                            <a:srgbClr val="1F2A24"/>
                          </a:solidFill>
                        </a:rPr>
                        <a:t>mandatory comparison</a:t>
                      </a:r>
                    </a:p>
                  </a:txBody>
                  <a:tcPr marL="54864" marR="54864" marT="27432" marB="27432">
                    <a:solidFill>
                      <a:srgbClr val="F4F7F5"/>
                    </a:solidFill>
                  </a:tcPr>
                </a:tc>
              </a:tr>
              <a:tr h="329184">
                <a:tc>
                  <a:txBody>
                    <a:bodyPr/>
                    <a:lstStyle/>
                    <a:p>
                      <a:r>
                        <a:rPr sz="1200" b="0">
                          <a:solidFill>
                            <a:srgbClr val="1F2A24"/>
                          </a:solidFill>
                        </a:rPr>
                        <a:t>Planning (90 d)</a:t>
                      </a:r>
                    </a:p>
                  </a:txBody>
                  <a:tcPr marL="54864" marR="54864" marT="27432" marB="27432">
                    <a:solidFill>
                      <a:srgbClr val="FFFFFF"/>
                    </a:solidFill>
                  </a:tcPr>
                </a:tc>
                <a:tc>
                  <a:txBody>
                    <a:bodyPr/>
                    <a:lstStyle/>
                    <a:p>
                      <a:r>
                        <a:rPr sz="1200" b="0">
                          <a:solidFill>
                            <a:srgbClr val="1F2A24"/>
                          </a:solidFill>
                        </a:rPr>
                        <a:t>scikit-learn gradient boosting, conformal P10–P90</a:t>
                      </a:r>
                    </a:p>
                  </a:txBody>
                  <a:tcPr marL="54864" marR="54864" marT="27432" marB="27432">
                    <a:solidFill>
                      <a:srgbClr val="FFFFFF"/>
                    </a:solidFill>
                  </a:tcPr>
                </a:tc>
                <a:tc>
                  <a:txBody>
                    <a:bodyPr/>
                    <a:lstStyle/>
                    <a:p>
                      <a:r>
                        <a:rPr sz="1200" b="0">
                          <a:solidFill>
                            <a:srgbClr val="1F2A24"/>
                          </a:solidFill>
                        </a:rPr>
                        <a:t>inputs exist weeks ahead</a:t>
                      </a:r>
                    </a:p>
                  </a:txBody>
                  <a:tcPr marL="54864" marR="54864" marT="27432" marB="27432">
                    <a:solidFill>
                      <a:srgbClr val="FFFFFF"/>
                    </a:solidFill>
                  </a:tcPr>
                </a:tc>
              </a:tr>
              <a:tr h="329184">
                <a:tc>
                  <a:txBody>
                    <a:bodyPr/>
                    <a:lstStyle/>
                    <a:p>
                      <a:r>
                        <a:rPr sz="1200" b="0">
                          <a:solidFill>
                            <a:srgbClr val="1F2A24"/>
                          </a:solidFill>
                        </a:rPr>
                        <a:t>Optimisation</a:t>
                      </a:r>
                    </a:p>
                  </a:txBody>
                  <a:tcPr marL="54864" marR="54864" marT="27432" marB="27432">
                    <a:solidFill>
                      <a:srgbClr val="F4F7F5"/>
                    </a:solidFill>
                  </a:tcPr>
                </a:tc>
                <a:tc>
                  <a:txBody>
                    <a:bodyPr/>
                    <a:lstStyle/>
                    <a:p>
                      <a:r>
                        <a:rPr sz="1200" b="0">
                          <a:solidFill>
                            <a:srgbClr val="1F2A24"/>
                          </a:solidFill>
                        </a:rPr>
                        <a:t>SciPy linprog (HiGHS)</a:t>
                      </a:r>
                    </a:p>
                  </a:txBody>
                  <a:tcPr marL="54864" marR="54864" marT="27432" marB="27432">
                    <a:solidFill>
                      <a:srgbClr val="F4F7F5"/>
                    </a:solidFill>
                  </a:tcPr>
                </a:tc>
                <a:tc>
                  <a:txBody>
                    <a:bodyPr/>
                    <a:lstStyle/>
                    <a:p>
                      <a:r>
                        <a:rPr sz="1200" b="0">
                          <a:solidFill>
                            <a:srgbClr val="1F2A24"/>
                          </a:solidFill>
                        </a:rPr>
                        <a:t>tickets per slot under capacity</a:t>
                      </a:r>
                    </a:p>
                  </a:txBody>
                  <a:tcPr marL="54864" marR="54864" marT="27432" marB="27432">
                    <a:solidFill>
                      <a:srgbClr val="F4F7F5"/>
                    </a:solidFill>
                  </a:tcPr>
                </a:tc>
              </a:tr>
              <a:tr h="329184">
                <a:tc>
                  <a:txBody>
                    <a:bodyPr/>
                    <a:lstStyle/>
                    <a:p>
                      <a:r>
                        <a:rPr sz="1200" b="0">
                          <a:solidFill>
                            <a:srgbClr val="1F2A24"/>
                          </a:solidFill>
                        </a:rPr>
                        <a:t>Geo / terrain</a:t>
                      </a:r>
                    </a:p>
                  </a:txBody>
                  <a:tcPr marL="54864" marR="54864" marT="27432" marB="27432">
                    <a:solidFill>
                      <a:srgbClr val="FFFFFF"/>
                    </a:solidFill>
                  </a:tcPr>
                </a:tc>
                <a:tc>
                  <a:txBody>
                    <a:bodyPr/>
                    <a:lstStyle/>
                    <a:p>
                      <a:r>
                        <a:rPr sz="1200" b="0">
                          <a:solidFill>
                            <a:srgbClr val="1F2A24"/>
                          </a:solidFill>
                        </a:rPr>
                        <a:t>OSMnx, GeoPandas, Rasterio</a:t>
                      </a:r>
                    </a:p>
                  </a:txBody>
                  <a:tcPr marL="54864" marR="54864" marT="27432" marB="27432">
                    <a:solidFill>
                      <a:srgbClr val="FFFFFF"/>
                    </a:solidFill>
                  </a:tcPr>
                </a:tc>
                <a:tc>
                  <a:txBody>
                    <a:bodyPr/>
                    <a:lstStyle/>
                    <a:p>
                      <a:r>
                        <a:rPr sz="1200" b="0">
                          <a:solidFill>
                            <a:srgbClr val="1F2A24"/>
                          </a:solidFill>
                        </a:rPr>
                        <a:t>graph + DEM features</a:t>
                      </a:r>
                    </a:p>
                  </a:txBody>
                  <a:tcPr marL="54864" marR="54864" marT="27432" marB="27432">
                    <a:solidFill>
                      <a:srgbClr val="FFFFFF"/>
                    </a:solidFill>
                  </a:tcPr>
                </a:tc>
              </a:tr>
              <a:tr h="329184">
                <a:tc>
                  <a:txBody>
                    <a:bodyPr/>
                    <a:lstStyle/>
                    <a:p>
                      <a:r>
                        <a:rPr sz="1200" b="0">
                          <a:solidFill>
                            <a:srgbClr val="1F2A24"/>
                          </a:solidFill>
                        </a:rPr>
                        <a:t>Service / app</a:t>
                      </a:r>
                    </a:p>
                  </a:txBody>
                  <a:tcPr marL="54864" marR="54864" marT="27432" marB="27432">
                    <a:solidFill>
                      <a:srgbClr val="F4F7F5"/>
                    </a:solidFill>
                  </a:tcPr>
                </a:tc>
                <a:tc>
                  <a:txBody>
                    <a:bodyPr/>
                    <a:lstStyle/>
                    <a:p>
                      <a:r>
                        <a:rPr sz="1200" b="0">
                          <a:solidFill>
                            <a:srgbClr val="1F2A24"/>
                          </a:solidFill>
                        </a:rPr>
                        <a:t>FastAPI, SQLite, Flutter (Android / web)</a:t>
                      </a:r>
                    </a:p>
                  </a:txBody>
                  <a:tcPr marL="54864" marR="54864" marT="27432" marB="27432">
                    <a:solidFill>
                      <a:srgbClr val="F4F7F5"/>
                    </a:solidFill>
                  </a:tcPr>
                </a:tc>
                <a:tc>
                  <a:txBody>
                    <a:bodyPr/>
                    <a:lstStyle/>
                    <a:p>
                      <a:r>
                        <a:rPr sz="1200" b="0">
                          <a:solidFill>
                            <a:srgbClr val="1F2A24"/>
                          </a:solidFill>
                        </a:rPr>
                        <a:t>offline-capable visitor app</a:t>
                      </a:r>
                    </a:p>
                  </a:txBody>
                  <a:tcPr marL="54864" marR="54864" marT="27432" marB="27432">
                    <a:solidFill>
                      <a:srgbClr val="F4F7F5"/>
                    </a:solidFill>
                  </a:tcPr>
                </a:tc>
              </a:tr>
            </a:tbl>
          </a:graphicData>
        </a:graphic>
      </p:graphicFrame>
      <p:sp>
        <p:nvSpPr>
          <p:cNvPr id="18" name="TextBox 17"/>
          <p:cNvSpPr txBox="1"/>
          <p:nvPr/>
        </p:nvSpPr>
        <p:spPr>
          <a:xfrm>
            <a:off x="8366760" y="2926080"/>
            <a:ext cx="3566160" cy="3200400"/>
          </a:xfrm>
          <a:prstGeom prst="rect">
            <a:avLst/>
          </a:prstGeom>
          <a:noFill/>
        </p:spPr>
        <p:txBody>
          <a:bodyPr wrap="square">
            <a:spAutoFit/>
          </a:bodyPr>
          <a:lstStyle/>
          <a:p>
            <a:pPr>
              <a:spcAft>
                <a:spcPts val="1000"/>
              </a:spcAft>
            </a:pPr>
            <a:r>
              <a:rPr sz="1300" b="1">
                <a:solidFill>
                  <a:srgbClr val="1F2A24"/>
                </a:solidFill>
              </a:rPr>
              <a:t>•  Missing counts:</a:t>
            </a:r>
            <a:r>
              <a:rPr sz="1300">
                <a:solidFill>
                  <a:srgbClr val="1F2A24"/>
                </a:solidFill>
              </a:rPr>
              <a:t>  unsensed segments send no messages in the first GCN layer</a:t>
            </a:r>
          </a:p>
          <a:p>
            <a:pPr>
              <a:spcAft>
                <a:spcPts val="1000"/>
              </a:spcAft>
            </a:pPr>
            <a:r>
              <a:rPr sz="1300" b="1">
                <a:solidFill>
                  <a:srgbClr val="1F2A24"/>
                </a:solidFill>
              </a:rPr>
              <a:t>•  Transferable inputs:</a:t>
            </a:r>
            <a:r>
              <a:rPr sz="1300">
                <a:solidFill>
                  <a:srgbClr val="1F2A24"/>
                </a:solidFill>
              </a:rPr>
              <a:t>  segments described, not named (13 features)</a:t>
            </a:r>
          </a:p>
          <a:p>
            <a:pPr>
              <a:spcAft>
                <a:spcPts val="1000"/>
              </a:spcAft>
            </a:pPr>
            <a:r>
              <a:rPr sz="1300" b="1">
                <a:solidFill>
                  <a:srgbClr val="1F2A24"/>
                </a:solidFill>
              </a:rPr>
              <a:t>•  Loss:</a:t>
            </a:r>
            <a:r>
              <a:rPr sz="1300">
                <a:solidFill>
                  <a:srgbClr val="1F2A24"/>
                </a:solidFill>
              </a:rPr>
              <a:t>  masked L1, early stopping on the 2024 year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STANDARDS / BEST PRACTICES</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Evaluation protocol and best practices</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7</a:t>
            </a:r>
          </a:p>
        </p:txBody>
      </p:sp>
      <p:sp>
        <p:nvSpPr>
          <p:cNvPr id="6" name="TextBox 5"/>
          <p:cNvSpPr txBox="1"/>
          <p:nvPr/>
        </p:nvSpPr>
        <p:spPr>
          <a:xfrm>
            <a:off x="548640" y="1463040"/>
            <a:ext cx="11155680" cy="4846320"/>
          </a:xfrm>
          <a:prstGeom prst="rect">
            <a:avLst/>
          </a:prstGeom>
          <a:noFill/>
        </p:spPr>
        <p:txBody>
          <a:bodyPr wrap="square">
            <a:spAutoFit/>
          </a:bodyPr>
          <a:lstStyle/>
          <a:p>
            <a:pPr>
              <a:spcAft>
                <a:spcPts val="1100"/>
              </a:spcAft>
            </a:pPr>
            <a:r>
              <a:rPr sz="1700" b="1">
                <a:solidFill>
                  <a:srgbClr val="1F2A24"/>
                </a:solidFill>
              </a:rPr>
              <a:t>•  No leakage:</a:t>
            </a:r>
            <a:r>
              <a:rPr sz="1700">
                <a:solidFill>
                  <a:srgbClr val="1F2A24"/>
                </a:solidFill>
              </a:rPr>
              <a:t>  train 2022–23 · validate 2024 · test 2025; scalers fitted on training data only</a:t>
            </a:r>
          </a:p>
          <a:p>
            <a:pPr>
              <a:spcAft>
                <a:spcPts val="1100"/>
              </a:spcAft>
            </a:pPr>
            <a:r>
              <a:rPr sz="1700" b="1">
                <a:solidFill>
                  <a:srgbClr val="1F2A24"/>
                </a:solidFill>
              </a:rPr>
              <a:t>•  Spatial block CV:</a:t>
            </a:r>
            <a:r>
              <a:rPr sz="1700">
                <a:solidFill>
                  <a:srgbClr val="1F2A24"/>
                </a:solidFill>
              </a:rPr>
              <a:t>  4 contiguous blocks of segments held out – no history and no training loss there</a:t>
            </a:r>
          </a:p>
          <a:p>
            <a:pPr>
              <a:spcAft>
                <a:spcPts val="1100"/>
              </a:spcAft>
            </a:pPr>
            <a:r>
              <a:rPr sz="1700" b="1">
                <a:solidFill>
                  <a:srgbClr val="1F2A24"/>
                </a:solidFill>
              </a:rPr>
              <a:t>•  Fair statistics:</a:t>
            </a:r>
            <a:r>
              <a:rPr sz="1700">
                <a:solidFill>
                  <a:srgbClr val="1F2A24"/>
                </a:solidFill>
              </a:rPr>
              <a:t>  paired t-test + Wilcoxon over forecast days (not hours), Holm-corrected, effect size d_z</a:t>
            </a:r>
          </a:p>
          <a:p>
            <a:pPr>
              <a:spcAft>
                <a:spcPts val="1100"/>
              </a:spcAft>
            </a:pPr>
            <a:r>
              <a:rPr sz="1700" b="1">
                <a:solidFill>
                  <a:srgbClr val="1F2A24"/>
                </a:solidFill>
              </a:rPr>
              <a:t>•  Clean ablation:</a:t>
            </a:r>
            <a:r>
              <a:rPr sz="1700">
                <a:solidFill>
                  <a:srgbClr val="1F2A24"/>
                </a:solidFill>
              </a:rPr>
              <a:t>  the same network with the graph removed (GRU-no-graph) isolates what the graph adds</a:t>
            </a:r>
          </a:p>
          <a:p>
            <a:pPr>
              <a:spcAft>
                <a:spcPts val="1100"/>
              </a:spcAft>
            </a:pPr>
            <a:r>
              <a:rPr sz="1700" b="1">
                <a:solidFill>
                  <a:srgbClr val="1F2A24"/>
                </a:solidFill>
              </a:rPr>
              <a:t>•  Decision-focused:</a:t>
            </a:r>
            <a:r>
              <a:rPr sz="1700">
                <a:solidFill>
                  <a:srgbClr val="1F2A24"/>
                </a:solidFill>
              </a:rPr>
              <a:t>  forecasts also judged by the waiting / overcrowding they prevent (RQ3)</a:t>
            </a:r>
          </a:p>
          <a:p>
            <a:pPr>
              <a:spcAft>
                <a:spcPts val="1100"/>
              </a:spcAft>
            </a:pPr>
            <a:r>
              <a:rPr sz="1700" b="1">
                <a:solidFill>
                  <a:srgbClr val="1F2A24"/>
                </a:solidFill>
              </a:rPr>
              <a:t>•  Reproducible:</a:t>
            </a:r>
            <a:r>
              <a:rPr sz="1700">
                <a:solidFill>
                  <a:srgbClr val="1F2A24"/>
                </a:solidFill>
              </a:rPr>
              <a:t>  seeds logged; every run = results/&lt;time&gt;_&lt;tag&gt;/ with config + git hash; 56 Python + 16 Flutter tests</a:t>
            </a:r>
          </a:p>
          <a:p>
            <a:pPr>
              <a:spcAft>
                <a:spcPts val="1100"/>
              </a:spcAft>
            </a:pPr>
            <a:r>
              <a:rPr sz="1700" b="1">
                <a:solidFill>
                  <a:srgbClr val="1F2A24"/>
                </a:solidFill>
              </a:rPr>
              <a:t>•  Secure &amp; ethical:</a:t>
            </a:r>
            <a:r>
              <a:rPr sz="1700">
                <a:solidFill>
                  <a:srgbClr val="1F2A24"/>
                </a:solidFill>
              </a:rPr>
              <a:t>  roles checked on the server, hashed passwords, lockout, audit log; no personal visitor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PROOF OF CONCEPT</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RQ1 – Does the graph help?  Yes, where there are no counts</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8</a:t>
            </a:r>
          </a:p>
        </p:txBody>
      </p:sp>
      <p:pic>
        <p:nvPicPr>
          <p:cNvPr id="6" name="Picture 5" descr="rq1.png"/>
          <p:cNvPicPr>
            <a:picLocks noChangeAspect="1"/>
          </p:cNvPicPr>
          <p:nvPr/>
        </p:nvPicPr>
        <p:blipFill>
          <a:blip r:embed="rId3"/>
          <a:stretch>
            <a:fillRect/>
          </a:stretch>
        </p:blipFill>
        <p:spPr>
          <a:xfrm>
            <a:off x="411480" y="1325880"/>
            <a:ext cx="11338560" cy="3887506"/>
          </a:xfrm>
          <a:prstGeom prst="rect">
            <a:avLst/>
          </a:prstGeom>
        </p:spPr>
      </p:pic>
      <p:sp>
        <p:nvSpPr>
          <p:cNvPr id="7" name="TextBox 6"/>
          <p:cNvSpPr txBox="1"/>
          <p:nvPr/>
        </p:nvSpPr>
        <p:spPr>
          <a:xfrm>
            <a:off x="548640" y="5257800"/>
            <a:ext cx="11155680" cy="1188720"/>
          </a:xfrm>
          <a:prstGeom prst="rect">
            <a:avLst/>
          </a:prstGeom>
          <a:noFill/>
        </p:spPr>
        <p:txBody>
          <a:bodyPr wrap="square">
            <a:spAutoFit/>
          </a:bodyPr>
          <a:lstStyle/>
          <a:p>
            <a:pPr>
              <a:spcAft>
                <a:spcPts val="400"/>
              </a:spcAft>
            </a:pPr>
            <a:r>
              <a:rPr sz="1400" b="1">
                <a:solidFill>
                  <a:srgbClr val="1F2A24"/>
                </a:solidFill>
              </a:rPr>
              <a:t>•  Horton, unseen segments:</a:t>
            </a:r>
            <a:r>
              <a:rPr sz="1400">
                <a:solidFill>
                  <a:srgbClr val="1F2A24"/>
                </a:solidFill>
              </a:rPr>
              <a:t>  ST-GNN 2.48 · LSTM 2.59 · GRU without graph 2.69 · historical average 4.20</a:t>
            </a:r>
          </a:p>
          <a:p>
            <a:pPr>
              <a:spcAft>
                <a:spcPts val="400"/>
              </a:spcAft>
            </a:pPr>
            <a:r>
              <a:rPr sz="1400" b="1">
                <a:solidFill>
                  <a:srgbClr val="1F2A24"/>
                </a:solidFill>
              </a:rPr>
              <a:t>•  Adam's Peak:</a:t>
            </a:r>
            <a:r>
              <a:rPr sz="1400">
                <a:solidFill>
                  <a:srgbClr val="1F2A24"/>
                </a:solidFill>
              </a:rPr>
              <a:t>  the graph beats the same network without it (p &lt; 0.001); a plain LSTM is best (3.73 vs 3.83)</a:t>
            </a:r>
          </a:p>
          <a:p>
            <a:pPr>
              <a:spcAft>
                <a:spcPts val="400"/>
              </a:spcAft>
            </a:pPr>
            <a:r>
              <a:rPr sz="1400" b="1">
                <a:solidFill>
                  <a:srgbClr val="1F2A24"/>
                </a:solidFill>
              </a:rPr>
              <a:t>•  Every network:</a:t>
            </a:r>
            <a:r>
              <a:rPr sz="1400">
                <a:solidFill>
                  <a:srgbClr val="1F2A24"/>
                </a:solidFill>
              </a:rPr>
              <a:t>  at least 40 % lower error than ARIMA and the historical average at Adam's Peak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PROOF OF CONCEPT</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What a day-ahead forecast looks like</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9</a:t>
            </a:r>
          </a:p>
        </p:txBody>
      </p:sp>
      <p:pic>
        <p:nvPicPr>
          <p:cNvPr id="6" name="Picture 5" descr="example_day.png"/>
          <p:cNvPicPr>
            <a:picLocks noChangeAspect="1"/>
          </p:cNvPicPr>
          <p:nvPr/>
        </p:nvPicPr>
        <p:blipFill>
          <a:blip r:embed="rId3"/>
          <a:stretch>
            <a:fillRect/>
          </a:stretch>
        </p:blipFill>
        <p:spPr>
          <a:xfrm>
            <a:off x="411480" y="1371600"/>
            <a:ext cx="7589520" cy="3281955"/>
          </a:xfrm>
          <a:prstGeom prst="rect">
            <a:avLst/>
          </a:prstGeom>
        </p:spPr>
      </p:pic>
      <p:sp>
        <p:nvSpPr>
          <p:cNvPr id="7" name="TextBox 6"/>
          <p:cNvSpPr txBox="1"/>
          <p:nvPr/>
        </p:nvSpPr>
        <p:spPr>
          <a:xfrm>
            <a:off x="8229600" y="1463040"/>
            <a:ext cx="3749039" cy="4754880"/>
          </a:xfrm>
          <a:prstGeom prst="rect">
            <a:avLst/>
          </a:prstGeom>
          <a:noFill/>
        </p:spPr>
        <p:txBody>
          <a:bodyPr wrap="square">
            <a:spAutoFit/>
          </a:bodyPr>
          <a:lstStyle/>
          <a:p>
            <a:pPr>
              <a:spcAft>
                <a:spcPts val="1000"/>
              </a:spcAft>
            </a:pPr>
            <a:r>
              <a:rPr sz="1400" b="1">
                <a:solidFill>
                  <a:srgbClr val="1F2A24"/>
                </a:solidFill>
              </a:rPr>
              <a:t>•  Typical busy day:</a:t>
            </a:r>
            <a:r>
              <a:rPr sz="1400">
                <a:solidFill>
                  <a:srgbClr val="1F2A24"/>
                </a:solidFill>
              </a:rPr>
              <a:t>  ST-GNN off by 5.7 people/h at World's End, historical average by 6.3</a:t>
            </a:r>
          </a:p>
          <a:p>
            <a:pPr>
              <a:spcAft>
                <a:spcPts val="1000"/>
              </a:spcAft>
            </a:pPr>
            <a:r>
              <a:rPr sz="1400" b="1">
                <a:solidFill>
                  <a:srgbClr val="1F2A24"/>
                </a:solidFill>
              </a:rPr>
              <a:t>•  Busiest day:</a:t>
            </a:r>
            <a:r>
              <a:rPr sz="1400">
                <a:solidFill>
                  <a:srgbClr val="1F2A24"/>
                </a:solidFill>
              </a:rPr>
              <a:t>  peak 608 people, forecast 191 – extremes are underpredicted</a:t>
            </a:r>
          </a:p>
          <a:p>
            <a:pPr>
              <a:spcAft>
                <a:spcPts val="1000"/>
              </a:spcAft>
            </a:pPr>
            <a:r>
              <a:rPr sz="1400" b="1">
                <a:solidFill>
                  <a:srgbClr val="1F2A24"/>
                </a:solidFill>
              </a:rPr>
              <a:t>•  Consequence:</a:t>
            </a:r>
            <a:r>
              <a:rPr sz="1400">
                <a:solidFill>
                  <a:srgbClr val="1F2A24"/>
                </a:solidFill>
              </a:rPr>
              <a:t>  decisions use the forecast's busy case (P90), not its middle (RQ3)</a:t>
            </a:r>
          </a:p>
          <a:p>
            <a:pPr>
              <a:spcAft>
                <a:spcPts val="1000"/>
              </a:spcAft>
            </a:pPr>
            <a:r>
              <a:rPr sz="1400" b="1">
                <a:solidFill>
                  <a:srgbClr val="1F2A24"/>
                </a:solidFill>
              </a:rPr>
              <a:t>•  Input:</a:t>
            </a:r>
            <a:r>
              <a:rPr sz="1400">
                <a:solidFill>
                  <a:srgbClr val="1F2A24"/>
                </a:solidFill>
              </a:rPr>
              <a:t>  yesterday's counts, tomorrow's weather forecast and the calendar – no sensors on the trail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PROOF OF CONCEPT</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From forecast to control – Horton Plains</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10</a:t>
            </a:r>
          </a:p>
        </p:txBody>
      </p:sp>
      <p:pic>
        <p:nvPicPr>
          <p:cNvPr id="6" name="Picture 5" descr="control_horton.png"/>
          <p:cNvPicPr>
            <a:picLocks noChangeAspect="1"/>
          </p:cNvPicPr>
          <p:nvPr/>
        </p:nvPicPr>
        <p:blipFill>
          <a:blip r:embed="rId3"/>
          <a:stretch>
            <a:fillRect/>
          </a:stretch>
        </p:blipFill>
        <p:spPr>
          <a:xfrm>
            <a:off x="411480" y="1371600"/>
            <a:ext cx="7863840" cy="2785110"/>
          </a:xfrm>
          <a:prstGeom prst="rect">
            <a:avLst/>
          </a:prstGeom>
        </p:spPr>
      </p:pic>
      <p:sp>
        <p:nvSpPr>
          <p:cNvPr id="7" name="TextBox 6"/>
          <p:cNvSpPr txBox="1"/>
          <p:nvPr/>
        </p:nvSpPr>
        <p:spPr>
          <a:xfrm>
            <a:off x="8458200" y="1463040"/>
            <a:ext cx="3566160" cy="4754880"/>
          </a:xfrm>
          <a:prstGeom prst="rect">
            <a:avLst/>
          </a:prstGeom>
          <a:noFill/>
        </p:spPr>
        <p:txBody>
          <a:bodyPr wrap="square">
            <a:spAutoFit/>
          </a:bodyPr>
          <a:lstStyle/>
          <a:p>
            <a:pPr>
              <a:spcAft>
                <a:spcPts val="1000"/>
              </a:spcAft>
            </a:pPr>
            <a:r>
              <a:rPr sz="1400" b="1">
                <a:solidFill>
                  <a:srgbClr val="1F2A24"/>
                </a:solidFill>
              </a:rPr>
              <a:t>•  Capacity:</a:t>
            </a:r>
            <a:r>
              <a:rPr sz="1400">
                <a:solidFill>
                  <a:srgbClr val="1F2A24"/>
                </a:solidFill>
              </a:rPr>
              <a:t>  Cifuentes PCC → RCC → ECC; the forecast adds a crowding factor next to rain</a:t>
            </a:r>
          </a:p>
          <a:p>
            <a:pPr>
              <a:spcAft>
                <a:spcPts val="1000"/>
              </a:spcAft>
            </a:pPr>
            <a:r>
              <a:rPr sz="1400" b="1">
                <a:solidFill>
                  <a:srgbClr val="1F2A24"/>
                </a:solidFill>
              </a:rPr>
              <a:t>•  Tickets:</a:t>
            </a:r>
            <a:r>
              <a:rPr sz="1400">
                <a:solidFill>
                  <a:srgbClr val="1F2A24"/>
                </a:solidFill>
              </a:rPr>
              <a:t>  per trail and 30-min slot from a linear programme (SciPy HiGHS)</a:t>
            </a:r>
          </a:p>
          <a:p>
            <a:pPr>
              <a:spcAft>
                <a:spcPts val="1000"/>
              </a:spcAft>
            </a:pPr>
            <a:r>
              <a:rPr sz="1400" b="1">
                <a:solidFill>
                  <a:srgbClr val="1F2A24"/>
                </a:solidFill>
              </a:rPr>
              <a:t>•  Full slot:</a:t>
            </a:r>
            <a:r>
              <a:rPr sz="1400">
                <a:solidFill>
                  <a:srgbClr val="1F2A24"/>
                </a:solidFill>
              </a:rPr>
              <a:t>  later slot, another trail, or another day – booked up to 90 days ahead</a:t>
            </a:r>
          </a:p>
          <a:p>
            <a:pPr>
              <a:spcAft>
                <a:spcPts val="1000"/>
              </a:spcAft>
            </a:pPr>
            <a:r>
              <a:rPr sz="1400" b="1">
                <a:solidFill>
                  <a:srgbClr val="1F2A24"/>
                </a:solidFill>
              </a:rPr>
              <a:t>•  Result:</a:t>
            </a:r>
            <a:r>
              <a:rPr sz="1400">
                <a:solidFill>
                  <a:srgbClr val="1F2A24"/>
                </a:solidFill>
              </a:rPr>
              <a:t>  over-capacity time −73 % (quota) vs −99.6 % (slot tickets)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CREATIVE SOLUTION</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Adam's Peak – no tickets, so advise and hold</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11</a:t>
            </a:r>
          </a:p>
        </p:txBody>
      </p:sp>
      <p:pic>
        <p:nvPicPr>
          <p:cNvPr id="6" name="Picture 5" descr="control_ap.png"/>
          <p:cNvPicPr>
            <a:picLocks noChangeAspect="1"/>
          </p:cNvPicPr>
          <p:nvPr/>
        </p:nvPicPr>
        <p:blipFill>
          <a:blip r:embed="rId3"/>
          <a:stretch>
            <a:fillRect/>
          </a:stretch>
        </p:blipFill>
        <p:spPr>
          <a:xfrm>
            <a:off x="411480" y="1371600"/>
            <a:ext cx="6035040" cy="3664131"/>
          </a:xfrm>
          <a:prstGeom prst="rect">
            <a:avLst/>
          </a:prstGeom>
        </p:spPr>
      </p:pic>
      <p:sp>
        <p:nvSpPr>
          <p:cNvPr id="7" name="TextBox 6"/>
          <p:cNvSpPr txBox="1"/>
          <p:nvPr/>
        </p:nvSpPr>
        <p:spPr>
          <a:xfrm>
            <a:off x="6675120" y="1463040"/>
            <a:ext cx="5303520" cy="4754880"/>
          </a:xfrm>
          <a:prstGeom prst="rect">
            <a:avLst/>
          </a:prstGeom>
          <a:noFill/>
        </p:spPr>
        <p:txBody>
          <a:bodyPr wrap="square">
            <a:spAutoFit/>
          </a:bodyPr>
          <a:lstStyle/>
          <a:p>
            <a:pPr>
              <a:spcAft>
                <a:spcPts val="1000"/>
              </a:spcAft>
            </a:pPr>
            <a:r>
              <a:rPr sz="1500" b="1">
                <a:solidFill>
                  <a:srgbClr val="1F2A24"/>
                </a:solidFill>
              </a:rPr>
              <a:t>•  Recommended start times:</a:t>
            </a:r>
            <a:r>
              <a:rPr sz="1500">
                <a:solidFill>
                  <a:srgbClr val="1F2A24"/>
                </a:solidFill>
              </a:rPr>
              <a:t>  per route, wait ≤ 20 min and summit before sunrise</a:t>
            </a:r>
          </a:p>
          <a:p>
            <a:pPr>
              <a:spcAft>
                <a:spcPts val="1000"/>
              </a:spcAft>
            </a:pPr>
            <a:r>
              <a:rPr sz="1500" b="1">
                <a:solidFill>
                  <a:srgbClr val="1F2A24"/>
                </a:solidFill>
              </a:rPr>
              <a:t>•  Herding-aware:</a:t>
            </a:r>
            <a:r>
              <a:rPr sz="1500">
                <a:solidFill>
                  <a:srgbClr val="1F2A24"/>
                </a:solidFill>
              </a:rPr>
              <a:t>  movers spread batch by batch – naive advice made the queue 22 % worse</a:t>
            </a:r>
          </a:p>
          <a:p>
            <a:pPr>
              <a:spcAft>
                <a:spcPts val="1000"/>
              </a:spcAft>
            </a:pPr>
            <a:r>
              <a:rPr sz="1500" b="1">
                <a:solidFill>
                  <a:srgbClr val="1F2A24"/>
                </a:solidFill>
              </a:rPr>
              <a:t>•  Halfway checks:</a:t>
            </a:r>
            <a:r>
              <a:rPr sz="1500">
                <a:solidFill>
                  <a:srgbClr val="1F2A24"/>
                </a:solidFill>
              </a:rPr>
              <a:t>  rangers enter counts; the app says HOLD and how many to release per 10 min</a:t>
            </a:r>
          </a:p>
          <a:p>
            <a:pPr>
              <a:spcAft>
                <a:spcPts val="1000"/>
              </a:spcAft>
            </a:pPr>
            <a:r>
              <a:rPr sz="1500" b="1">
                <a:solidFill>
                  <a:srgbClr val="1F2A24"/>
                </a:solidFill>
              </a:rPr>
              <a:t>•  Result (2025 season):</a:t>
            </a:r>
            <a:r>
              <a:rPr sz="1500">
                <a:solidFill>
                  <a:srgbClr val="1F2A24"/>
                </a:solidFill>
              </a:rPr>
              <a:t>  start times −22 % waiting; both together move all waiting off the final steps and cut it by 28 %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KEY FINDING</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RQ3 – Better forecasts help only with the right decision rule</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12</a:t>
            </a:r>
          </a:p>
        </p:txBody>
      </p:sp>
      <p:pic>
        <p:nvPicPr>
          <p:cNvPr id="6" name="Picture 5" descr="rq3.png"/>
          <p:cNvPicPr>
            <a:picLocks noChangeAspect="1"/>
          </p:cNvPicPr>
          <p:nvPr/>
        </p:nvPicPr>
        <p:blipFill>
          <a:blip r:embed="rId3"/>
          <a:stretch>
            <a:fillRect/>
          </a:stretch>
        </p:blipFill>
        <p:spPr>
          <a:xfrm>
            <a:off x="411480" y="1371600"/>
            <a:ext cx="6949440" cy="3474720"/>
          </a:xfrm>
          <a:prstGeom prst="rect">
            <a:avLst/>
          </a:prstGeom>
        </p:spPr>
      </p:pic>
      <p:sp>
        <p:nvSpPr>
          <p:cNvPr id="7" name="Rounded Rectangle 6"/>
          <p:cNvSpPr/>
          <p:nvPr/>
        </p:nvSpPr>
        <p:spPr>
          <a:xfrm>
            <a:off x="7772400" y="1554480"/>
            <a:ext cx="4023360" cy="2468880"/>
          </a:xfrm>
          <a:prstGeom prst="roundRect">
            <a:avLst>
              <a:gd name="adj" fmla="val 12000"/>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rPr>
              <a:t>Median forecast →</a:t>
            </a:r>
          </a:p>
          <a:p>
            <a:pPr algn="ctr"/>
            <a:r>
              <a:rPr sz="1400" b="0">
                <a:solidFill>
                  <a:srgbClr val="FFFFFF"/>
                </a:solidFill>
              </a:rPr>
              <a:t>18 % of the possible benefit</a:t>
            </a:r>
          </a:p>
          <a:p>
            <a:pPr algn="ctr"/>
            <a:r>
              <a:rPr sz="1400" b="0">
                <a:solidFill>
                  <a:srgbClr val="FFFFFF"/>
                </a:solidFill>
              </a:rPr>
              <a:t/>
            </a:r>
          </a:p>
          <a:p>
            <a:pPr algn="ctr"/>
            <a:r>
              <a:rPr sz="1400" b="0">
                <a:solidFill>
                  <a:srgbClr val="FFFFFF"/>
                </a:solidFill>
              </a:rPr>
              <a:t>Busy-case (P90) forecast →</a:t>
            </a:r>
          </a:p>
          <a:p>
            <a:pPr algn="ctr"/>
            <a:r>
              <a:rPr sz="1400" b="0">
                <a:solidFill>
                  <a:srgbClr val="FFFFFF"/>
                </a:solidFill>
              </a:rPr>
              <a:t>117 % of it,</a:t>
            </a:r>
          </a:p>
          <a:p>
            <a:pPr algn="ctr"/>
            <a:r>
              <a:rPr sz="1400" b="0">
                <a:solidFill>
                  <a:srgbClr val="FFFFFF"/>
                </a:solidFill>
              </a:rPr>
              <a:t>moving 6.4 % of pilgrims</a:t>
            </a:r>
          </a:p>
        </p:txBody>
      </p:sp>
      <p:sp>
        <p:nvSpPr>
          <p:cNvPr id="8" name="TextBox 7"/>
          <p:cNvSpPr txBox="1"/>
          <p:nvPr/>
        </p:nvSpPr>
        <p:spPr>
          <a:xfrm>
            <a:off x="7772400" y="4297680"/>
            <a:ext cx="4023360" cy="1097280"/>
          </a:xfrm>
          <a:prstGeom prst="rect">
            <a:avLst/>
          </a:prstGeom>
          <a:noFill/>
        </p:spPr>
        <p:txBody>
          <a:bodyPr wrap="square" anchor="t">
            <a:spAutoFit/>
          </a:bodyPr>
          <a:lstStyle/>
          <a:p>
            <a:pPr algn="l"/>
            <a:r>
              <a:rPr sz="1500" b="1">
                <a:solidFill>
                  <a:srgbClr val="1F2A24"/>
                </a:solidFill>
              </a:rPr>
              <a:t>Forecasts should be evaluated by the decisions they drive, not only by their error.</a:t>
            </a:r>
          </a:p>
        </p:txBody>
      </p:sp>
      <p:sp>
        <p:nvSpPr>
          <p:cNvPr id="9" name="TextBox 8"/>
          <p:cNvSpPr txBox="1"/>
          <p:nvPr/>
        </p:nvSpPr>
        <p:spPr>
          <a:xfrm>
            <a:off x="548640" y="5212080"/>
            <a:ext cx="10972800" cy="731520"/>
          </a:xfrm>
          <a:prstGeom prst="rect">
            <a:avLst/>
          </a:prstGeom>
          <a:noFill/>
        </p:spPr>
        <p:txBody>
          <a:bodyPr wrap="square" anchor="t">
            <a:spAutoFit/>
          </a:bodyPr>
          <a:lstStyle/>
          <a:p>
            <a:pPr algn="l"/>
            <a:r>
              <a:rPr sz="1100" b="0">
                <a:solidFill>
                  <a:srgbClr val="6B7280"/>
                </a:solidFill>
              </a:rPr>
              <a:t>Over 100 % is possible: 'perfect knowledge' means the true number of climbers, not the exact time each group starts; the cautious P90 advice also covers that uncertainty.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PROOF OF CONCEPT – LIMITS</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RQ2 transfer · RQ4 robustness</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13</a:t>
            </a:r>
          </a:p>
        </p:txBody>
      </p:sp>
      <p:pic>
        <p:nvPicPr>
          <p:cNvPr id="6" name="Picture 5" descr="rq2.png"/>
          <p:cNvPicPr>
            <a:picLocks noChangeAspect="1"/>
          </p:cNvPicPr>
          <p:nvPr/>
        </p:nvPicPr>
        <p:blipFill>
          <a:blip r:embed="rId3"/>
          <a:stretch>
            <a:fillRect/>
          </a:stretch>
        </p:blipFill>
        <p:spPr>
          <a:xfrm>
            <a:off x="365760" y="1371600"/>
            <a:ext cx="6492240" cy="3070654"/>
          </a:xfrm>
          <a:prstGeom prst="rect">
            <a:avLst/>
          </a:prstGeom>
        </p:spPr>
      </p:pic>
      <p:pic>
        <p:nvPicPr>
          <p:cNvPr id="7" name="Picture 6" descr="rq4.png"/>
          <p:cNvPicPr>
            <a:picLocks noChangeAspect="1"/>
          </p:cNvPicPr>
          <p:nvPr/>
        </p:nvPicPr>
        <p:blipFill>
          <a:blip r:embed="rId4"/>
          <a:stretch>
            <a:fillRect/>
          </a:stretch>
        </p:blipFill>
        <p:spPr>
          <a:xfrm>
            <a:off x="6949440" y="1371600"/>
            <a:ext cx="5029200" cy="3073400"/>
          </a:xfrm>
          <a:prstGeom prst="rect">
            <a:avLst/>
          </a:prstGeom>
        </p:spPr>
      </p:pic>
      <p:sp>
        <p:nvSpPr>
          <p:cNvPr id="8" name="TextBox 7"/>
          <p:cNvSpPr txBox="1"/>
          <p:nvPr/>
        </p:nvSpPr>
        <p:spPr>
          <a:xfrm>
            <a:off x="548640" y="4526280"/>
            <a:ext cx="11247120" cy="1737360"/>
          </a:xfrm>
          <a:prstGeom prst="rect">
            <a:avLst/>
          </a:prstGeom>
          <a:noFill/>
        </p:spPr>
        <p:txBody>
          <a:bodyPr wrap="square">
            <a:spAutoFit/>
          </a:bodyPr>
          <a:lstStyle/>
          <a:p>
            <a:pPr>
              <a:spcAft>
                <a:spcPts val="600"/>
              </a:spcAft>
            </a:pPr>
            <a:r>
              <a:rPr sz="1400" b="1">
                <a:solidFill>
                  <a:srgbClr val="1F2A24"/>
                </a:solidFill>
              </a:rPr>
              <a:t>•  Transfer:</a:t>
            </a:r>
            <a:r>
              <a:rPr sz="1400">
                <a:solidFill>
                  <a:srgbClr val="1F2A24"/>
                </a:solidFill>
              </a:rPr>
              <a:t>  unchanged → worse than the average; pre-trained + a few days beats scratch (7/8, p &lt; 0.05)</a:t>
            </a:r>
          </a:p>
          <a:p>
            <a:pPr>
              <a:spcAft>
                <a:spcPts val="600"/>
              </a:spcAft>
            </a:pPr>
            <a:r>
              <a:rPr sz="1400" b="1">
                <a:solidFill>
                  <a:srgbClr val="1F2A24"/>
                </a:solidFill>
              </a:rPr>
              <a:t>•  Robustness:</a:t>
            </a:r>
            <a:r>
              <a:rPr sz="1400">
                <a:solidFill>
                  <a:srgbClr val="1F2A24"/>
                </a:solidFill>
              </a:rPr>
              <a:t>  halfway checks clear the final steps at every flow (15–35/min); start times help at ≤ 25/min</a:t>
            </a:r>
          </a:p>
          <a:p>
            <a:pPr>
              <a:spcAft>
                <a:spcPts val="600"/>
              </a:spcAft>
            </a:pPr>
            <a:r>
              <a:rPr sz="1400" b="1">
                <a:solidFill>
                  <a:srgbClr val="1F2A24"/>
                </a:solidFill>
              </a:rPr>
              <a:t>•  Most important unknown:</a:t>
            </a:r>
            <a:r>
              <a:rPr sz="1400">
                <a:solidFill>
                  <a:srgbClr val="1F2A24"/>
                </a:solidFill>
              </a:rPr>
              <a:t>  final-steps flow – waiting changes 26-fold between 15 and 35 people/min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COMPLETION OF PROTOTYPE</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Working prototype – visitors plan a trip</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14</a:t>
            </a:r>
          </a:p>
        </p:txBody>
      </p:sp>
      <p:pic>
        <p:nvPicPr>
          <p:cNvPr id="6" name="Picture 5" descr="01_destinations.png"/>
          <p:cNvPicPr>
            <a:picLocks noChangeAspect="1"/>
          </p:cNvPicPr>
          <p:nvPr/>
        </p:nvPicPr>
        <p:blipFill>
          <a:blip r:embed="rId3"/>
          <a:stretch>
            <a:fillRect/>
          </a:stretch>
        </p:blipFill>
        <p:spPr>
          <a:xfrm>
            <a:off x="502920" y="1325880"/>
            <a:ext cx="1919113" cy="4160520"/>
          </a:xfrm>
          <a:prstGeom prst="rect">
            <a:avLst/>
          </a:prstGeom>
          <a:ln w="12700">
            <a:solidFill>
              <a:srgbClr val="C9D3CD"/>
            </a:solidFill>
          </a:ln>
        </p:spPr>
      </p:pic>
      <p:sp>
        <p:nvSpPr>
          <p:cNvPr id="7" name="TextBox 6"/>
          <p:cNvSpPr txBox="1"/>
          <p:nvPr/>
        </p:nvSpPr>
        <p:spPr>
          <a:xfrm>
            <a:off x="457200" y="5532120"/>
            <a:ext cx="2057400" cy="822960"/>
          </a:xfrm>
          <a:prstGeom prst="rect">
            <a:avLst/>
          </a:prstGeom>
          <a:noFill/>
        </p:spPr>
        <p:txBody>
          <a:bodyPr wrap="square" anchor="t">
            <a:spAutoFit/>
          </a:bodyPr>
          <a:lstStyle/>
          <a:p>
            <a:pPr algn="ctr"/>
            <a:r>
              <a:rPr sz="1100" b="0">
                <a:solidFill>
                  <a:srgbClr val="1F2A24"/>
                </a:solidFill>
              </a:rPr>
              <a:t>Where to? – every destination,</a:t>
            </a:r>
          </a:p>
          <a:p>
            <a:pPr algn="ctr"/>
            <a:r>
              <a:rPr sz="1100" b="0">
                <a:solidFill>
                  <a:srgbClr val="1F2A24"/>
                </a:solidFill>
              </a:rPr>
              <a:t>its next 7 days</a:t>
            </a:r>
          </a:p>
        </p:txBody>
      </p:sp>
      <p:pic>
        <p:nvPicPr>
          <p:cNvPr id="8" name="Picture 7" descr="02_overview_adams_peak.png"/>
          <p:cNvPicPr>
            <a:picLocks noChangeAspect="1"/>
          </p:cNvPicPr>
          <p:nvPr/>
        </p:nvPicPr>
        <p:blipFill>
          <a:blip r:embed="rId4"/>
          <a:stretch>
            <a:fillRect/>
          </a:stretch>
        </p:blipFill>
        <p:spPr>
          <a:xfrm>
            <a:off x="2606040" y="1325880"/>
            <a:ext cx="1919113" cy="4160520"/>
          </a:xfrm>
          <a:prstGeom prst="rect">
            <a:avLst/>
          </a:prstGeom>
          <a:ln w="12700">
            <a:solidFill>
              <a:srgbClr val="C9D3CD"/>
            </a:solidFill>
          </a:ln>
        </p:spPr>
      </p:pic>
      <p:sp>
        <p:nvSpPr>
          <p:cNvPr id="9" name="TextBox 8"/>
          <p:cNvSpPr txBox="1"/>
          <p:nvPr/>
        </p:nvSpPr>
        <p:spPr>
          <a:xfrm>
            <a:off x="2560320" y="5532120"/>
            <a:ext cx="2057400" cy="822960"/>
          </a:xfrm>
          <a:prstGeom prst="rect">
            <a:avLst/>
          </a:prstGeom>
          <a:noFill/>
        </p:spPr>
        <p:txBody>
          <a:bodyPr wrap="square" anchor="t">
            <a:spAutoFit/>
          </a:bodyPr>
          <a:lstStyle/>
          <a:p>
            <a:pPr algn="ctr"/>
            <a:r>
              <a:rPr sz="1100" b="0">
                <a:solidFill>
                  <a:srgbClr val="1F2A24"/>
                </a:solidFill>
              </a:rPr>
              <a:t>Destination overview,</a:t>
            </a:r>
          </a:p>
          <a:p>
            <a:pPr algn="ctr"/>
            <a:r>
              <a:rPr sz="1100" b="0">
                <a:solidFill>
                  <a:srgbClr val="1F2A24"/>
                </a:solidFill>
              </a:rPr>
              <a:t>quietest days, how to get there</a:t>
            </a:r>
          </a:p>
        </p:txBody>
      </p:sp>
      <p:pic>
        <p:nvPicPr>
          <p:cNvPr id="10" name="Picture 9" descr="03_calendar_horton.png"/>
          <p:cNvPicPr>
            <a:picLocks noChangeAspect="1"/>
          </p:cNvPicPr>
          <p:nvPr/>
        </p:nvPicPr>
        <p:blipFill>
          <a:blip r:embed="rId5"/>
          <a:stretch>
            <a:fillRect/>
          </a:stretch>
        </p:blipFill>
        <p:spPr>
          <a:xfrm>
            <a:off x="4709160" y="1325880"/>
            <a:ext cx="1919113" cy="4160520"/>
          </a:xfrm>
          <a:prstGeom prst="rect">
            <a:avLst/>
          </a:prstGeom>
          <a:ln w="12700">
            <a:solidFill>
              <a:srgbClr val="C9D3CD"/>
            </a:solidFill>
          </a:ln>
        </p:spPr>
      </p:pic>
      <p:sp>
        <p:nvSpPr>
          <p:cNvPr id="11" name="TextBox 10"/>
          <p:cNvSpPr txBox="1"/>
          <p:nvPr/>
        </p:nvSpPr>
        <p:spPr>
          <a:xfrm>
            <a:off x="4663440" y="5532120"/>
            <a:ext cx="2057400" cy="822960"/>
          </a:xfrm>
          <a:prstGeom prst="rect">
            <a:avLst/>
          </a:prstGeom>
          <a:noFill/>
        </p:spPr>
        <p:txBody>
          <a:bodyPr wrap="square" anchor="t">
            <a:spAutoFit/>
          </a:bodyPr>
          <a:lstStyle/>
          <a:p>
            <a:pPr algn="ctr"/>
            <a:r>
              <a:rPr sz="1100" b="0">
                <a:solidFill>
                  <a:srgbClr val="1F2A24"/>
                </a:solidFill>
              </a:rPr>
              <a:t>90-day crowd calendar</a:t>
            </a:r>
          </a:p>
        </p:txBody>
      </p:sp>
      <p:pic>
        <p:nvPicPr>
          <p:cNvPr id="12" name="Picture 11" descr="04_day_horton.png"/>
          <p:cNvPicPr>
            <a:picLocks noChangeAspect="1"/>
          </p:cNvPicPr>
          <p:nvPr/>
        </p:nvPicPr>
        <p:blipFill>
          <a:blip r:embed="rId6"/>
          <a:stretch>
            <a:fillRect/>
          </a:stretch>
        </p:blipFill>
        <p:spPr>
          <a:xfrm>
            <a:off x="6812280" y="1325880"/>
            <a:ext cx="1919113" cy="4160520"/>
          </a:xfrm>
          <a:prstGeom prst="rect">
            <a:avLst/>
          </a:prstGeom>
          <a:ln w="12700">
            <a:solidFill>
              <a:srgbClr val="C9D3CD"/>
            </a:solidFill>
          </a:ln>
        </p:spPr>
      </p:pic>
      <p:sp>
        <p:nvSpPr>
          <p:cNvPr id="13" name="TextBox 12"/>
          <p:cNvSpPr txBox="1"/>
          <p:nvPr/>
        </p:nvSpPr>
        <p:spPr>
          <a:xfrm>
            <a:off x="6766560" y="5532120"/>
            <a:ext cx="2057400" cy="822960"/>
          </a:xfrm>
          <a:prstGeom prst="rect">
            <a:avLst/>
          </a:prstGeom>
          <a:noFill/>
        </p:spPr>
        <p:txBody>
          <a:bodyPr wrap="square" anchor="t">
            <a:spAutoFit/>
          </a:bodyPr>
          <a:lstStyle/>
          <a:p>
            <a:pPr algn="ctr"/>
            <a:r>
              <a:rPr sz="1100" b="0">
                <a:solidFill>
                  <a:srgbClr val="1F2A24"/>
                </a:solidFill>
              </a:rPr>
              <a:t>One day: expected crowd</a:t>
            </a:r>
          </a:p>
          <a:p>
            <a:pPr algn="ctr"/>
            <a:r>
              <a:rPr sz="1100" b="0">
                <a:solidFill>
                  <a:srgbClr val="1F2A24"/>
                </a:solidFill>
              </a:rPr>
              <a:t>+ how to avoid it</a:t>
            </a:r>
          </a:p>
        </p:txBody>
      </p:sp>
      <p:sp>
        <p:nvSpPr>
          <p:cNvPr id="14" name="TextBox 13"/>
          <p:cNvSpPr txBox="1"/>
          <p:nvPr/>
        </p:nvSpPr>
        <p:spPr>
          <a:xfrm>
            <a:off x="8961120" y="1463040"/>
            <a:ext cx="3017520" cy="4572000"/>
          </a:xfrm>
          <a:prstGeom prst="rect">
            <a:avLst/>
          </a:prstGeom>
          <a:noFill/>
        </p:spPr>
        <p:txBody>
          <a:bodyPr wrap="square">
            <a:spAutoFit/>
          </a:bodyPr>
          <a:lstStyle/>
          <a:p>
            <a:pPr>
              <a:spcAft>
                <a:spcPts val="1000"/>
              </a:spcAft>
            </a:pPr>
            <a:r>
              <a:rPr sz="1300" b="1">
                <a:solidFill>
                  <a:srgbClr val="1F2A24"/>
                </a:solidFill>
              </a:rPr>
              <a:t>•  Offline:</a:t>
            </a:r>
            <a:r>
              <a:rPr sz="1300">
                <a:solidFill>
                  <a:srgbClr val="1F2A24"/>
                </a:solidFill>
              </a:rPr>
              <a:t>  outlook and tickets cached on the phone</a:t>
            </a:r>
          </a:p>
          <a:p>
            <a:pPr>
              <a:spcAft>
                <a:spcPts val="1000"/>
              </a:spcAft>
            </a:pPr>
            <a:r>
              <a:rPr sz="1300" b="1">
                <a:solidFill>
                  <a:srgbClr val="1F2A24"/>
                </a:solidFill>
              </a:rPr>
              <a:t>•  Booking:</a:t>
            </a:r>
            <a:r>
              <a:rPr sz="1300">
                <a:solidFill>
                  <a:srgbClr val="1F2A24"/>
                </a:solidFill>
              </a:rPr>
              <a:t>  slot ticket with QR code; full slot → later slot, other trail, other day</a:t>
            </a:r>
          </a:p>
          <a:p>
            <a:pPr>
              <a:spcAft>
                <a:spcPts val="1000"/>
              </a:spcAft>
            </a:pPr>
            <a:r>
              <a:rPr sz="1300" b="1">
                <a:solidFill>
                  <a:srgbClr val="1F2A24"/>
                </a:solidFill>
              </a:rPr>
              <a:t>•  Languages:</a:t>
            </a:r>
            <a:r>
              <a:rPr sz="1300">
                <a:solidFill>
                  <a:srgbClr val="1F2A24"/>
                </a:solidFill>
              </a:rPr>
              <a:t>  English · සිංහල · தமிழ் (drafts under native review)</a:t>
            </a:r>
          </a:p>
          <a:p>
            <a:pPr>
              <a:spcAft>
                <a:spcPts val="1000"/>
              </a:spcAft>
            </a:pPr>
            <a:r>
              <a:rPr sz="1300" b="1">
                <a:solidFill>
                  <a:srgbClr val="1F2A24"/>
                </a:solidFill>
              </a:rPr>
              <a:t>•  Map:</a:t>
            </a:r>
            <a:r>
              <a:rPr sz="1300">
                <a:solidFill>
                  <a:srgbClr val="1F2A24"/>
                </a:solidFill>
              </a:rPr>
              <a:t>  OpenStreetMap trails, starts, checkpoints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COMPLETION OF PROTOTYPE</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Working prototype – pilgrims and staff at Adam's Peak</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15</a:t>
            </a:r>
          </a:p>
        </p:txBody>
      </p:sp>
      <p:pic>
        <p:nvPicPr>
          <p:cNvPr id="6" name="Picture 5" descr="05_start_times.png"/>
          <p:cNvPicPr>
            <a:picLocks noChangeAspect="1"/>
          </p:cNvPicPr>
          <p:nvPr/>
        </p:nvPicPr>
        <p:blipFill>
          <a:blip r:embed="rId3"/>
          <a:stretch>
            <a:fillRect/>
          </a:stretch>
        </p:blipFill>
        <p:spPr>
          <a:xfrm>
            <a:off x="502920" y="1325880"/>
            <a:ext cx="1919113" cy="4160520"/>
          </a:xfrm>
          <a:prstGeom prst="rect">
            <a:avLst/>
          </a:prstGeom>
          <a:ln w="12700">
            <a:solidFill>
              <a:srgbClr val="C9D3CD"/>
            </a:solidFill>
          </a:ln>
        </p:spPr>
      </p:pic>
      <p:sp>
        <p:nvSpPr>
          <p:cNvPr id="7" name="TextBox 6"/>
          <p:cNvSpPr txBox="1"/>
          <p:nvPr/>
        </p:nvSpPr>
        <p:spPr>
          <a:xfrm>
            <a:off x="457200" y="5532120"/>
            <a:ext cx="2057400" cy="822960"/>
          </a:xfrm>
          <a:prstGeom prst="rect">
            <a:avLst/>
          </a:prstGeom>
          <a:noFill/>
        </p:spPr>
        <p:txBody>
          <a:bodyPr wrap="square" anchor="t">
            <a:spAutoFit/>
          </a:bodyPr>
          <a:lstStyle/>
          <a:p>
            <a:pPr algn="ctr"/>
            <a:r>
              <a:rPr sz="1100" b="0">
                <a:solidFill>
                  <a:srgbClr val="1F2A24"/>
                </a:solidFill>
              </a:rPr>
              <a:t>Pilgrim: best start times</a:t>
            </a:r>
          </a:p>
          <a:p>
            <a:pPr algn="ctr"/>
            <a:r>
              <a:rPr sz="1100" b="0">
                <a:solidFill>
                  <a:srgbClr val="1F2A24"/>
                </a:solidFill>
              </a:rPr>
              <a:t>and wait near the top</a:t>
            </a:r>
          </a:p>
        </p:txBody>
      </p:sp>
      <p:pic>
        <p:nvPicPr>
          <p:cNvPr id="8" name="Picture 7" descr="06_halfway_hold.png"/>
          <p:cNvPicPr>
            <a:picLocks noChangeAspect="1"/>
          </p:cNvPicPr>
          <p:nvPr/>
        </p:nvPicPr>
        <p:blipFill>
          <a:blip r:embed="rId4"/>
          <a:stretch>
            <a:fillRect/>
          </a:stretch>
        </p:blipFill>
        <p:spPr>
          <a:xfrm>
            <a:off x="2606040" y="1325880"/>
            <a:ext cx="1919113" cy="4160520"/>
          </a:xfrm>
          <a:prstGeom prst="rect">
            <a:avLst/>
          </a:prstGeom>
          <a:ln w="12700">
            <a:solidFill>
              <a:srgbClr val="C9D3CD"/>
            </a:solidFill>
          </a:ln>
        </p:spPr>
      </p:pic>
      <p:sp>
        <p:nvSpPr>
          <p:cNvPr id="9" name="TextBox 8"/>
          <p:cNvSpPr txBox="1"/>
          <p:nvPr/>
        </p:nvSpPr>
        <p:spPr>
          <a:xfrm>
            <a:off x="2560320" y="5532120"/>
            <a:ext cx="2057400" cy="822960"/>
          </a:xfrm>
          <a:prstGeom prst="rect">
            <a:avLst/>
          </a:prstGeom>
          <a:noFill/>
        </p:spPr>
        <p:txBody>
          <a:bodyPr wrap="square" anchor="t">
            <a:spAutoFit/>
          </a:bodyPr>
          <a:lstStyle/>
          <a:p>
            <a:pPr algn="ctr"/>
            <a:r>
              <a:rPr sz="1100" b="0">
                <a:solidFill>
                  <a:srgbClr val="1F2A24"/>
                </a:solidFill>
              </a:rPr>
              <a:t>Ranger: halfway count →</a:t>
            </a:r>
          </a:p>
          <a:p>
            <a:pPr algn="ctr"/>
            <a:r>
              <a:rPr sz="1100" b="0">
                <a:solidFill>
                  <a:srgbClr val="1F2A24"/>
                </a:solidFill>
              </a:rPr>
              <a:t>HOLD + release rate</a:t>
            </a:r>
          </a:p>
        </p:txBody>
      </p:sp>
      <p:pic>
        <p:nvPicPr>
          <p:cNvPr id="10" name="Picture 9" descr="08_officer_season.png"/>
          <p:cNvPicPr>
            <a:picLocks noChangeAspect="1"/>
          </p:cNvPicPr>
          <p:nvPr/>
        </p:nvPicPr>
        <p:blipFill>
          <a:blip r:embed="rId5"/>
          <a:stretch>
            <a:fillRect/>
          </a:stretch>
        </p:blipFill>
        <p:spPr>
          <a:xfrm>
            <a:off x="4709160" y="1325880"/>
            <a:ext cx="1919113" cy="4160520"/>
          </a:xfrm>
          <a:prstGeom prst="rect">
            <a:avLst/>
          </a:prstGeom>
          <a:ln w="12700">
            <a:solidFill>
              <a:srgbClr val="C9D3CD"/>
            </a:solidFill>
          </a:ln>
        </p:spPr>
      </p:pic>
      <p:sp>
        <p:nvSpPr>
          <p:cNvPr id="11" name="TextBox 10"/>
          <p:cNvSpPr txBox="1"/>
          <p:nvPr/>
        </p:nvSpPr>
        <p:spPr>
          <a:xfrm>
            <a:off x="4663440" y="5532120"/>
            <a:ext cx="2057400" cy="822960"/>
          </a:xfrm>
          <a:prstGeom prst="rect">
            <a:avLst/>
          </a:prstGeom>
          <a:noFill/>
        </p:spPr>
        <p:txBody>
          <a:bodyPr wrap="square" anchor="t">
            <a:spAutoFit/>
          </a:bodyPr>
          <a:lstStyle/>
          <a:p>
            <a:pPr algn="ctr"/>
            <a:r>
              <a:rPr sz="1100" b="0">
                <a:solidFill>
                  <a:srgbClr val="1F2A24"/>
                </a:solidFill>
              </a:rPr>
              <a:t>Officer: nights that may</a:t>
            </a:r>
          </a:p>
          <a:p>
            <a:pPr algn="ctr"/>
            <a:r>
              <a:rPr sz="1100" b="0">
                <a:solidFill>
                  <a:srgbClr val="1F2A24"/>
                </a:solidFill>
              </a:rPr>
              <a:t>need halfway checks</a:t>
            </a:r>
          </a:p>
        </p:txBody>
      </p:sp>
      <p:pic>
        <p:nvPicPr>
          <p:cNvPr id="12" name="Picture 11" descr="09_night_plan.png"/>
          <p:cNvPicPr>
            <a:picLocks noChangeAspect="1"/>
          </p:cNvPicPr>
          <p:nvPr/>
        </p:nvPicPr>
        <p:blipFill>
          <a:blip r:embed="rId6"/>
          <a:stretch>
            <a:fillRect/>
          </a:stretch>
        </p:blipFill>
        <p:spPr>
          <a:xfrm>
            <a:off x="6812280" y="1325880"/>
            <a:ext cx="1919113" cy="4160520"/>
          </a:xfrm>
          <a:prstGeom prst="rect">
            <a:avLst/>
          </a:prstGeom>
          <a:ln w="12700">
            <a:solidFill>
              <a:srgbClr val="C9D3CD"/>
            </a:solidFill>
          </a:ln>
        </p:spPr>
      </p:pic>
      <p:sp>
        <p:nvSpPr>
          <p:cNvPr id="13" name="TextBox 12"/>
          <p:cNvSpPr txBox="1"/>
          <p:nvPr/>
        </p:nvSpPr>
        <p:spPr>
          <a:xfrm>
            <a:off x="6766560" y="5532120"/>
            <a:ext cx="2057400" cy="822960"/>
          </a:xfrm>
          <a:prstGeom prst="rect">
            <a:avLst/>
          </a:prstGeom>
          <a:noFill/>
        </p:spPr>
        <p:txBody>
          <a:bodyPr wrap="square" anchor="t">
            <a:spAutoFit/>
          </a:bodyPr>
          <a:lstStyle/>
          <a:p>
            <a:pPr algn="ctr"/>
            <a:r>
              <a:rPr sz="1100" b="0">
                <a:solidFill>
                  <a:srgbClr val="1F2A24"/>
                </a:solidFill>
              </a:rPr>
              <a:t>Officer: night plan,</a:t>
            </a:r>
          </a:p>
          <a:p>
            <a:pPr algn="ctr"/>
            <a:r>
              <a:rPr sz="1100" b="0">
                <a:solidFill>
                  <a:srgbClr val="1F2A24"/>
                </a:solidFill>
              </a:rPr>
              <a:t>hold windows per checkpoint</a:t>
            </a:r>
          </a:p>
        </p:txBody>
      </p:sp>
      <p:sp>
        <p:nvSpPr>
          <p:cNvPr id="14" name="TextBox 13"/>
          <p:cNvSpPr txBox="1"/>
          <p:nvPr/>
        </p:nvSpPr>
        <p:spPr>
          <a:xfrm>
            <a:off x="8961120" y="1463040"/>
            <a:ext cx="3017520" cy="4572000"/>
          </a:xfrm>
          <a:prstGeom prst="rect">
            <a:avLst/>
          </a:prstGeom>
          <a:noFill/>
        </p:spPr>
        <p:txBody>
          <a:bodyPr wrap="square">
            <a:spAutoFit/>
          </a:bodyPr>
          <a:lstStyle/>
          <a:p>
            <a:pPr>
              <a:spcAft>
                <a:spcPts val="1000"/>
              </a:spcAft>
            </a:pPr>
            <a:r>
              <a:rPr sz="1300" b="1">
                <a:solidFill>
                  <a:srgbClr val="1F2A24"/>
                </a:solidFill>
              </a:rPr>
              <a:t>•  Backend:</a:t>
            </a:r>
            <a:r>
              <a:rPr sz="1300">
                <a:solidFill>
                  <a:srgbClr val="1F2A24"/>
                </a:solidFill>
              </a:rPr>
              <a:t>  FastAPI per park + gateway, 25+ endpoints</a:t>
            </a:r>
          </a:p>
          <a:p>
            <a:pPr>
              <a:spcAft>
                <a:spcPts val="1000"/>
              </a:spcAft>
            </a:pPr>
            <a:r>
              <a:rPr sz="1300" b="1">
                <a:solidFill>
                  <a:srgbClr val="1F2A24"/>
                </a:solidFill>
              </a:rPr>
              <a:t>•  Security:</a:t>
            </a:r>
            <a:r>
              <a:rPr sz="1300">
                <a:solidFill>
                  <a:srgbClr val="1F2A24"/>
                </a:solidFill>
              </a:rPr>
              <a:t>  roles ranger &lt; officer &lt; admin checked on the server; hashed passwords, lockout, audit log</a:t>
            </a:r>
          </a:p>
          <a:p>
            <a:pPr>
              <a:spcAft>
                <a:spcPts val="1000"/>
              </a:spcAft>
            </a:pPr>
            <a:r>
              <a:rPr sz="1300" b="1">
                <a:solidFill>
                  <a:srgbClr val="1F2A24"/>
                </a:solidFill>
              </a:rPr>
              <a:t>•  Quality:</a:t>
            </a:r>
            <a:r>
              <a:rPr sz="1300">
                <a:solidFill>
                  <a:srgbClr val="1F2A24"/>
                </a:solidFill>
              </a:rPr>
              <a:t>  56 Python tests · 16 Flutter widget tests · analyzer clean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USER &amp; FUNCTIONAL REQUIREMENTS</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Requirements and their status</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16</a:t>
            </a:r>
          </a:p>
        </p:txBody>
      </p:sp>
      <p:graphicFrame>
        <p:nvGraphicFramePr>
          <p:cNvPr id="6" name="Table 5"/>
          <p:cNvGraphicFramePr>
            <a:graphicFrameLocks noGrp="1"/>
          </p:cNvGraphicFramePr>
          <p:nvPr/>
        </p:nvGraphicFramePr>
        <p:xfrm>
          <a:off x="548640" y="1371600"/>
          <a:ext cx="11064239" cy="4754880"/>
        </p:xfrm>
        <a:graphic>
          <a:graphicData uri="http://schemas.openxmlformats.org/drawingml/2006/table">
            <a:tbl>
              <a:tblPr firstRow="1" bandRow="1">
                <a:tableStyleId>{5C22544A-7EE6-4342-B048-85BDC9FD1C3A}</a:tableStyleId>
              </a:tblPr>
              <a:tblGrid>
                <a:gridCol w="731520"/>
                <a:gridCol w="5120640"/>
                <a:gridCol w="1463040"/>
                <a:gridCol w="3749039"/>
              </a:tblGrid>
              <a:tr h="365760">
                <a:tc>
                  <a:txBody>
                    <a:bodyPr/>
                    <a:lstStyle/>
                    <a:p>
                      <a:r>
                        <a:rPr sz="1200" b="1">
                          <a:solidFill>
                            <a:srgbClr val="FFFFFF"/>
                          </a:solidFill>
                        </a:rPr>
                        <a:t>ID</a:t>
                      </a:r>
                    </a:p>
                  </a:txBody>
                  <a:tcPr marL="54864" marR="54864" marT="27432" marB="27432">
                    <a:solidFill>
                      <a:srgbClr val="2F6B4F"/>
                    </a:solidFill>
                  </a:tcPr>
                </a:tc>
                <a:tc>
                  <a:txBody>
                    <a:bodyPr/>
                    <a:lstStyle/>
                    <a:p>
                      <a:r>
                        <a:rPr sz="1200" b="1">
                          <a:solidFill>
                            <a:srgbClr val="FFFFFF"/>
                          </a:solidFill>
                        </a:rPr>
                        <a:t>Requirement</a:t>
                      </a:r>
                    </a:p>
                  </a:txBody>
                  <a:tcPr marL="54864" marR="54864" marT="27432" marB="27432">
                    <a:solidFill>
                      <a:srgbClr val="2F6B4F"/>
                    </a:solidFill>
                  </a:tcPr>
                </a:tc>
                <a:tc>
                  <a:txBody>
                    <a:bodyPr/>
                    <a:lstStyle/>
                    <a:p>
                      <a:r>
                        <a:rPr sz="1200" b="1">
                          <a:solidFill>
                            <a:srgbClr val="FFFFFF"/>
                          </a:solidFill>
                        </a:rPr>
                        <a:t>Status</a:t>
                      </a:r>
                    </a:p>
                  </a:txBody>
                  <a:tcPr marL="54864" marR="54864" marT="27432" marB="27432">
                    <a:solidFill>
                      <a:srgbClr val="2F6B4F"/>
                    </a:solidFill>
                  </a:tcPr>
                </a:tc>
                <a:tc>
                  <a:txBody>
                    <a:bodyPr/>
                    <a:lstStyle/>
                    <a:p>
                      <a:r>
                        <a:rPr sz="1200" b="1">
                          <a:solidFill>
                            <a:srgbClr val="FFFFFF"/>
                          </a:solidFill>
                        </a:rPr>
                        <a:t>Evidence</a:t>
                      </a:r>
                    </a:p>
                  </a:txBody>
                  <a:tcPr marL="54864" marR="54864" marT="27432" marB="27432">
                    <a:solidFill>
                      <a:srgbClr val="2F6B4F"/>
                    </a:solidFill>
                  </a:tcPr>
                </a:tc>
              </a:tr>
              <a:tr h="365760">
                <a:tc>
                  <a:txBody>
                    <a:bodyPr/>
                    <a:lstStyle/>
                    <a:p>
                      <a:r>
                        <a:rPr sz="1200" b="0">
                          <a:solidFill>
                            <a:srgbClr val="1F2A24"/>
                          </a:solidFill>
                        </a:rPr>
                        <a:t>FR1</a:t>
                      </a:r>
                    </a:p>
                  </a:txBody>
                  <a:tcPr marL="54864" marR="54864" marT="27432" marB="27432">
                    <a:solidFill>
                      <a:srgbClr val="FFFFFF"/>
                    </a:solidFill>
                  </a:tcPr>
                </a:tc>
                <a:tc>
                  <a:txBody>
                    <a:bodyPr/>
                    <a:lstStyle/>
                    <a:p>
                      <a:r>
                        <a:rPr sz="1200" b="0">
                          <a:solidFill>
                            <a:srgbClr val="1F2A24"/>
                          </a:solidFill>
                        </a:rPr>
                        <a:t>Build the trail graph with terrain/weather features from open data</a:t>
                      </a:r>
                    </a:p>
                  </a:txBody>
                  <a:tcPr marL="54864" marR="54864" marT="27432" marB="27432">
                    <a:solidFill>
                      <a:srgbClr val="FFFFFF"/>
                    </a:solidFill>
                  </a:tcPr>
                </a:tc>
                <a:tc>
                  <a:txBody>
                    <a:bodyPr/>
                    <a:lstStyle/>
                    <a:p>
                      <a:r>
                        <a:rPr sz="1200" b="0">
                          <a:solidFill>
                            <a:srgbClr val="1F2A24"/>
                          </a:solidFill>
                        </a:rPr>
                        <a:t>Done</a:t>
                      </a:r>
                    </a:p>
                  </a:txBody>
                  <a:tcPr marL="54864" marR="54864" marT="27432" marB="27432">
                    <a:solidFill>
                      <a:srgbClr val="FFFFFF"/>
                    </a:solidFill>
                  </a:tcPr>
                </a:tc>
                <a:tc>
                  <a:txBody>
                    <a:bodyPr/>
                    <a:lstStyle/>
                    <a:p>
                      <a:r>
                        <a:rPr sz="1200" b="0">
                          <a:solidFill>
                            <a:srgbClr val="1F2A24"/>
                          </a:solidFill>
                        </a:rPr>
                        <a:t>2 parks, 48 / 57 segments</a:t>
                      </a:r>
                    </a:p>
                  </a:txBody>
                  <a:tcPr marL="54864" marR="54864" marT="27432" marB="27432">
                    <a:solidFill>
                      <a:srgbClr val="FFFFFF"/>
                    </a:solidFill>
                  </a:tcPr>
                </a:tc>
              </a:tr>
              <a:tr h="365760">
                <a:tc>
                  <a:txBody>
                    <a:bodyPr/>
                    <a:lstStyle/>
                    <a:p>
                      <a:r>
                        <a:rPr sz="1200" b="0">
                          <a:solidFill>
                            <a:srgbClr val="1F2A24"/>
                          </a:solidFill>
                        </a:rPr>
                        <a:t>FR2</a:t>
                      </a:r>
                    </a:p>
                  </a:txBody>
                  <a:tcPr marL="54864" marR="54864" marT="27432" marB="27432">
                    <a:solidFill>
                      <a:srgbClr val="F4F7F5"/>
                    </a:solidFill>
                  </a:tcPr>
                </a:tc>
                <a:tc>
                  <a:txBody>
                    <a:bodyPr/>
                    <a:lstStyle/>
                    <a:p>
                      <a:r>
                        <a:rPr sz="1200" b="0">
                          <a:solidFill>
                            <a:srgbClr val="1F2A24"/>
                          </a:solidFill>
                        </a:rPr>
                        <a:t>Forecast occupancy per segment for the next 24 h</a:t>
                      </a:r>
                    </a:p>
                  </a:txBody>
                  <a:tcPr marL="54864" marR="54864" marT="27432" marB="27432">
                    <a:solidFill>
                      <a:srgbClr val="F4F7F5"/>
                    </a:solidFill>
                  </a:tcPr>
                </a:tc>
                <a:tc>
                  <a:txBody>
                    <a:bodyPr/>
                    <a:lstStyle/>
                    <a:p>
                      <a:r>
                        <a:rPr sz="1200" b="0">
                          <a:solidFill>
                            <a:srgbClr val="1F2A24"/>
                          </a:solidFill>
                        </a:rPr>
                        <a:t>Done</a:t>
                      </a:r>
                    </a:p>
                  </a:txBody>
                  <a:tcPr marL="54864" marR="54864" marT="27432" marB="27432">
                    <a:solidFill>
                      <a:srgbClr val="F4F7F5"/>
                    </a:solidFill>
                  </a:tcPr>
                </a:tc>
                <a:tc>
                  <a:txBody>
                    <a:bodyPr/>
                    <a:lstStyle/>
                    <a:p>
                      <a:r>
                        <a:rPr sz="1200" b="0">
                          <a:solidFill>
                            <a:srgbClr val="1F2A24"/>
                          </a:solidFill>
                        </a:rPr>
                        <a:t>ST-GNN, RQ1</a:t>
                      </a:r>
                    </a:p>
                  </a:txBody>
                  <a:tcPr marL="54864" marR="54864" marT="27432" marB="27432">
                    <a:solidFill>
                      <a:srgbClr val="F4F7F5"/>
                    </a:solidFill>
                  </a:tcPr>
                </a:tc>
              </a:tr>
              <a:tr h="365760">
                <a:tc>
                  <a:txBody>
                    <a:bodyPr/>
                    <a:lstStyle/>
                    <a:p>
                      <a:r>
                        <a:rPr sz="1200" b="0">
                          <a:solidFill>
                            <a:srgbClr val="1F2A24"/>
                          </a:solidFill>
                        </a:rPr>
                        <a:t>FR3</a:t>
                      </a:r>
                    </a:p>
                  </a:txBody>
                  <a:tcPr marL="54864" marR="54864" marT="27432" marB="27432">
                    <a:solidFill>
                      <a:srgbClr val="FFFFFF"/>
                    </a:solidFill>
                  </a:tcPr>
                </a:tc>
                <a:tc>
                  <a:txBody>
                    <a:bodyPr/>
                    <a:lstStyle/>
                    <a:p>
                      <a:r>
                        <a:rPr sz="1200" b="0">
                          <a:solidFill>
                            <a:srgbClr val="1F2A24"/>
                          </a:solidFill>
                        </a:rPr>
                        <a:t>Benchmark against HA, ARIMA, LSTM with significance tests</a:t>
                      </a:r>
                    </a:p>
                  </a:txBody>
                  <a:tcPr marL="54864" marR="54864" marT="27432" marB="27432">
                    <a:solidFill>
                      <a:srgbClr val="FFFFFF"/>
                    </a:solidFill>
                  </a:tcPr>
                </a:tc>
                <a:tc>
                  <a:txBody>
                    <a:bodyPr/>
                    <a:lstStyle/>
                    <a:p>
                      <a:r>
                        <a:rPr sz="1200" b="0">
                          <a:solidFill>
                            <a:srgbClr val="1F2A24"/>
                          </a:solidFill>
                        </a:rPr>
                        <a:t>Done</a:t>
                      </a:r>
                    </a:p>
                  </a:txBody>
                  <a:tcPr marL="54864" marR="54864" marT="27432" marB="27432">
                    <a:solidFill>
                      <a:srgbClr val="FFFFFF"/>
                    </a:solidFill>
                  </a:tcPr>
                </a:tc>
                <a:tc>
                  <a:txBody>
                    <a:bodyPr/>
                    <a:lstStyle/>
                    <a:p>
                      <a:r>
                        <a:rPr sz="1200" b="0">
                          <a:solidFill>
                            <a:srgbClr val="1F2A24"/>
                          </a:solidFill>
                        </a:rPr>
                        <a:t>paired t-tests, Holm</a:t>
                      </a:r>
                    </a:p>
                  </a:txBody>
                  <a:tcPr marL="54864" marR="54864" marT="27432" marB="27432">
                    <a:solidFill>
                      <a:srgbClr val="FFFFFF"/>
                    </a:solidFill>
                  </a:tcPr>
                </a:tc>
              </a:tr>
              <a:tr h="365760">
                <a:tc>
                  <a:txBody>
                    <a:bodyPr/>
                    <a:lstStyle/>
                    <a:p>
                      <a:r>
                        <a:rPr sz="1200" b="0">
                          <a:solidFill>
                            <a:srgbClr val="1F2A24"/>
                          </a:solidFill>
                        </a:rPr>
                        <a:t>FR4</a:t>
                      </a:r>
                    </a:p>
                  </a:txBody>
                  <a:tcPr marL="54864" marR="54864" marT="27432" marB="27432">
                    <a:solidFill>
                      <a:srgbClr val="F4F7F5"/>
                    </a:solidFill>
                  </a:tcPr>
                </a:tc>
                <a:tc>
                  <a:txBody>
                    <a:bodyPr/>
                    <a:lstStyle/>
                    <a:p>
                      <a:r>
                        <a:rPr sz="1200" b="0">
                          <a:solidFill>
                            <a:srgbClr val="1F2A24"/>
                          </a:solidFill>
                        </a:rPr>
                        <a:t>Dynamic carrying capacity per trail / segment</a:t>
                      </a:r>
                    </a:p>
                  </a:txBody>
                  <a:tcPr marL="54864" marR="54864" marT="27432" marB="27432">
                    <a:solidFill>
                      <a:srgbClr val="F4F7F5"/>
                    </a:solidFill>
                  </a:tcPr>
                </a:tc>
                <a:tc>
                  <a:txBody>
                    <a:bodyPr/>
                    <a:lstStyle/>
                    <a:p>
                      <a:r>
                        <a:rPr sz="1200" b="0">
                          <a:solidFill>
                            <a:srgbClr val="1F2A24"/>
                          </a:solidFill>
                        </a:rPr>
                        <a:t>Done</a:t>
                      </a:r>
                    </a:p>
                  </a:txBody>
                  <a:tcPr marL="54864" marR="54864" marT="27432" marB="27432">
                    <a:solidFill>
                      <a:srgbClr val="F4F7F5"/>
                    </a:solidFill>
                  </a:tcPr>
                </a:tc>
                <a:tc>
                  <a:txBody>
                    <a:bodyPr/>
                    <a:lstStyle/>
                    <a:p>
                      <a:r>
                        <a:rPr sz="1200" b="0">
                          <a:solidFill>
                            <a:srgbClr val="1F2A24"/>
                          </a:solidFill>
                        </a:rPr>
                        <a:t>Cifuentes + crowding factor</a:t>
                      </a:r>
                    </a:p>
                  </a:txBody>
                  <a:tcPr marL="54864" marR="54864" marT="27432" marB="27432">
                    <a:solidFill>
                      <a:srgbClr val="F4F7F5"/>
                    </a:solidFill>
                  </a:tcPr>
                </a:tc>
              </a:tr>
              <a:tr h="365760">
                <a:tc>
                  <a:txBody>
                    <a:bodyPr/>
                    <a:lstStyle/>
                    <a:p>
                      <a:r>
                        <a:rPr sz="1200" b="0">
                          <a:solidFill>
                            <a:srgbClr val="1F2A24"/>
                          </a:solidFill>
                        </a:rPr>
                        <a:t>FR5</a:t>
                      </a:r>
                    </a:p>
                  </a:txBody>
                  <a:tcPr marL="54864" marR="54864" marT="27432" marB="27432">
                    <a:solidFill>
                      <a:srgbClr val="FFFFFF"/>
                    </a:solidFill>
                  </a:tcPr>
                </a:tc>
                <a:tc>
                  <a:txBody>
                    <a:bodyPr/>
                    <a:lstStyle/>
                    <a:p>
                      <a:r>
                        <a:rPr sz="1200" b="0">
                          <a:solidFill>
                            <a:srgbClr val="1F2A24"/>
                          </a:solidFill>
                        </a:rPr>
                        <a:t>Visitors plan up to 90 days ahead and see alternatives</a:t>
                      </a:r>
                    </a:p>
                  </a:txBody>
                  <a:tcPr marL="54864" marR="54864" marT="27432" marB="27432">
                    <a:solidFill>
                      <a:srgbClr val="FFFFFF"/>
                    </a:solidFill>
                  </a:tcPr>
                </a:tc>
                <a:tc>
                  <a:txBody>
                    <a:bodyPr/>
                    <a:lstStyle/>
                    <a:p>
                      <a:r>
                        <a:rPr sz="1200" b="0">
                          <a:solidFill>
                            <a:srgbClr val="1F2A24"/>
                          </a:solidFill>
                        </a:rPr>
                        <a:t>Done</a:t>
                      </a:r>
                    </a:p>
                  </a:txBody>
                  <a:tcPr marL="54864" marR="54864" marT="27432" marB="27432">
                    <a:solidFill>
                      <a:srgbClr val="FFFFFF"/>
                    </a:solidFill>
                  </a:tcPr>
                </a:tc>
                <a:tc>
                  <a:txBody>
                    <a:bodyPr/>
                    <a:lstStyle/>
                    <a:p>
                      <a:r>
                        <a:rPr sz="1200" b="0">
                          <a:solidFill>
                            <a:srgbClr val="1F2A24"/>
                          </a:solidFill>
                        </a:rPr>
                        <a:t>planning model, suggestions</a:t>
                      </a:r>
                    </a:p>
                  </a:txBody>
                  <a:tcPr marL="54864" marR="54864" marT="27432" marB="27432">
                    <a:solidFill>
                      <a:srgbClr val="FFFFFF"/>
                    </a:solidFill>
                  </a:tcPr>
                </a:tc>
              </a:tr>
              <a:tr h="365760">
                <a:tc>
                  <a:txBody>
                    <a:bodyPr/>
                    <a:lstStyle/>
                    <a:p>
                      <a:r>
                        <a:rPr sz="1200" b="0">
                          <a:solidFill>
                            <a:srgbClr val="1F2A24"/>
                          </a:solidFill>
                        </a:rPr>
                        <a:t>FR6</a:t>
                      </a:r>
                    </a:p>
                  </a:txBody>
                  <a:tcPr marL="54864" marR="54864" marT="27432" marB="27432">
                    <a:solidFill>
                      <a:srgbClr val="F4F7F5"/>
                    </a:solidFill>
                  </a:tcPr>
                </a:tc>
                <a:tc>
                  <a:txBody>
                    <a:bodyPr/>
                    <a:lstStyle/>
                    <a:p>
                      <a:r>
                        <a:rPr sz="1200" b="0">
                          <a:solidFill>
                            <a:srgbClr val="1F2A24"/>
                          </a:solidFill>
                        </a:rPr>
                        <a:t>Prevent overcrowding (tickets / advice / holds)</a:t>
                      </a:r>
                    </a:p>
                  </a:txBody>
                  <a:tcPr marL="54864" marR="54864" marT="27432" marB="27432">
                    <a:solidFill>
                      <a:srgbClr val="F4F7F5"/>
                    </a:solidFill>
                  </a:tcPr>
                </a:tc>
                <a:tc>
                  <a:txBody>
                    <a:bodyPr/>
                    <a:lstStyle/>
                    <a:p>
                      <a:r>
                        <a:rPr sz="1200" b="0">
                          <a:solidFill>
                            <a:srgbClr val="1F2A24"/>
                          </a:solidFill>
                        </a:rPr>
                        <a:t>Done</a:t>
                      </a:r>
                    </a:p>
                  </a:txBody>
                  <a:tcPr marL="54864" marR="54864" marT="27432" marB="27432">
                    <a:solidFill>
                      <a:srgbClr val="F4F7F5"/>
                    </a:solidFill>
                  </a:tcPr>
                </a:tc>
                <a:tc>
                  <a:txBody>
                    <a:bodyPr/>
                    <a:lstStyle/>
                    <a:p>
                      <a:r>
                        <a:rPr sz="1200" b="0">
                          <a:solidFill>
                            <a:srgbClr val="1F2A24"/>
                          </a:solidFill>
                        </a:rPr>
                        <a:t>−99.6 % Horton, final steps cleared AP</a:t>
                      </a:r>
                    </a:p>
                  </a:txBody>
                  <a:tcPr marL="54864" marR="54864" marT="27432" marB="27432">
                    <a:solidFill>
                      <a:srgbClr val="F4F7F5"/>
                    </a:solidFill>
                  </a:tcPr>
                </a:tc>
              </a:tr>
              <a:tr h="365760">
                <a:tc>
                  <a:txBody>
                    <a:bodyPr/>
                    <a:lstStyle/>
                    <a:p>
                      <a:r>
                        <a:rPr sz="1200" b="0">
                          <a:solidFill>
                            <a:srgbClr val="1F2A24"/>
                          </a:solidFill>
                        </a:rPr>
                        <a:t>FR7</a:t>
                      </a:r>
                    </a:p>
                  </a:txBody>
                  <a:tcPr marL="54864" marR="54864" marT="27432" marB="27432">
                    <a:solidFill>
                      <a:srgbClr val="FFFFFF"/>
                    </a:solidFill>
                  </a:tcPr>
                </a:tc>
                <a:tc>
                  <a:txBody>
                    <a:bodyPr/>
                    <a:lstStyle/>
                    <a:p>
                      <a:r>
                        <a:rPr sz="1200" b="0">
                          <a:solidFill>
                            <a:srgbClr val="1F2A24"/>
                          </a:solidFill>
                        </a:rPr>
                        <a:t>Staff tools with roles</a:t>
                      </a:r>
                    </a:p>
                  </a:txBody>
                  <a:tcPr marL="54864" marR="54864" marT="27432" marB="27432">
                    <a:solidFill>
                      <a:srgbClr val="FFFFFF"/>
                    </a:solidFill>
                  </a:tcPr>
                </a:tc>
                <a:tc>
                  <a:txBody>
                    <a:bodyPr/>
                    <a:lstStyle/>
                    <a:p>
                      <a:r>
                        <a:rPr sz="1200" b="0">
                          <a:solidFill>
                            <a:srgbClr val="1F2A24"/>
                          </a:solidFill>
                        </a:rPr>
                        <a:t>Done</a:t>
                      </a:r>
                    </a:p>
                  </a:txBody>
                  <a:tcPr marL="54864" marR="54864" marT="27432" marB="27432">
                    <a:solidFill>
                      <a:srgbClr val="FFFFFF"/>
                    </a:solidFill>
                  </a:tcPr>
                </a:tc>
                <a:tc>
                  <a:txBody>
                    <a:bodyPr/>
                    <a:lstStyle/>
                    <a:p>
                      <a:r>
                        <a:rPr sz="1200" b="0">
                          <a:solidFill>
                            <a:srgbClr val="1F2A24"/>
                          </a:solidFill>
                        </a:rPr>
                        <a:t>ranger, officer, admin + audit</a:t>
                      </a:r>
                    </a:p>
                  </a:txBody>
                  <a:tcPr marL="54864" marR="54864" marT="27432" marB="27432">
                    <a:solidFill>
                      <a:srgbClr val="FFFFFF"/>
                    </a:solidFill>
                  </a:tcPr>
                </a:tc>
              </a:tr>
              <a:tr h="365760">
                <a:tc>
                  <a:txBody>
                    <a:bodyPr/>
                    <a:lstStyle/>
                    <a:p>
                      <a:r>
                        <a:rPr sz="1200" b="0">
                          <a:solidFill>
                            <a:srgbClr val="1F2A24"/>
                          </a:solidFill>
                        </a:rPr>
                        <a:t>NFR1</a:t>
                      </a:r>
                    </a:p>
                  </a:txBody>
                  <a:tcPr marL="54864" marR="54864" marT="27432" marB="27432">
                    <a:solidFill>
                      <a:srgbClr val="F4F7F5"/>
                    </a:solidFill>
                  </a:tcPr>
                </a:tc>
                <a:tc>
                  <a:txBody>
                    <a:bodyPr/>
                    <a:lstStyle/>
                    <a:p>
                      <a:r>
                        <a:rPr sz="1200" b="0">
                          <a:solidFill>
                            <a:srgbClr val="1F2A24"/>
                          </a:solidFill>
                        </a:rPr>
                        <a:t>Works without trail sensors</a:t>
                      </a:r>
                    </a:p>
                  </a:txBody>
                  <a:tcPr marL="54864" marR="54864" marT="27432" marB="27432">
                    <a:solidFill>
                      <a:srgbClr val="F4F7F5"/>
                    </a:solidFill>
                  </a:tcPr>
                </a:tc>
                <a:tc>
                  <a:txBody>
                    <a:bodyPr/>
                    <a:lstStyle/>
                    <a:p>
                      <a:r>
                        <a:rPr sz="1200" b="0">
                          <a:solidFill>
                            <a:srgbClr val="1F2A24"/>
                          </a:solidFill>
                        </a:rPr>
                        <a:t>Done</a:t>
                      </a:r>
                    </a:p>
                  </a:txBody>
                  <a:tcPr marL="54864" marR="54864" marT="27432" marB="27432">
                    <a:solidFill>
                      <a:srgbClr val="F4F7F5"/>
                    </a:solidFill>
                  </a:tcPr>
                </a:tc>
                <a:tc>
                  <a:txBody>
                    <a:bodyPr/>
                    <a:lstStyle/>
                    <a:p>
                      <a:r>
                        <a:rPr sz="1200" b="0">
                          <a:solidFill>
                            <a:srgbClr val="1F2A24"/>
                          </a:solidFill>
                        </a:rPr>
                        <a:t>counts only from tickets / halfway counts</a:t>
                      </a:r>
                    </a:p>
                  </a:txBody>
                  <a:tcPr marL="54864" marR="54864" marT="27432" marB="27432">
                    <a:solidFill>
                      <a:srgbClr val="F4F7F5"/>
                    </a:solidFill>
                  </a:tcPr>
                </a:tc>
              </a:tr>
              <a:tr h="365760">
                <a:tc>
                  <a:txBody>
                    <a:bodyPr/>
                    <a:lstStyle/>
                    <a:p>
                      <a:r>
                        <a:rPr sz="1200" b="0">
                          <a:solidFill>
                            <a:srgbClr val="1F2A24"/>
                          </a:solidFill>
                        </a:rPr>
                        <a:t>NFR2</a:t>
                      </a:r>
                    </a:p>
                  </a:txBody>
                  <a:tcPr marL="54864" marR="54864" marT="27432" marB="27432">
                    <a:solidFill>
                      <a:srgbClr val="FFFFFF"/>
                    </a:solidFill>
                  </a:tcPr>
                </a:tc>
                <a:tc>
                  <a:txBody>
                    <a:bodyPr/>
                    <a:lstStyle/>
                    <a:p>
                      <a:r>
                        <a:rPr sz="1200" b="0">
                          <a:solidFill>
                            <a:srgbClr val="1F2A24"/>
                          </a:solidFill>
                        </a:rPr>
                        <a:t>Fallback when the model is unavailable</a:t>
                      </a:r>
                    </a:p>
                  </a:txBody>
                  <a:tcPr marL="54864" marR="54864" marT="27432" marB="27432">
                    <a:solidFill>
                      <a:srgbClr val="FFFFFF"/>
                    </a:solidFill>
                  </a:tcPr>
                </a:tc>
                <a:tc>
                  <a:txBody>
                    <a:bodyPr/>
                    <a:lstStyle/>
                    <a:p>
                      <a:r>
                        <a:rPr sz="1200" b="0">
                          <a:solidFill>
                            <a:srgbClr val="1F2A24"/>
                          </a:solidFill>
                        </a:rPr>
                        <a:t>Done</a:t>
                      </a:r>
                    </a:p>
                  </a:txBody>
                  <a:tcPr marL="54864" marR="54864" marT="27432" marB="27432">
                    <a:solidFill>
                      <a:srgbClr val="FFFFFF"/>
                    </a:solidFill>
                  </a:tcPr>
                </a:tc>
                <a:tc>
                  <a:txBody>
                    <a:bodyPr/>
                    <a:lstStyle/>
                    <a:p>
                      <a:r>
                        <a:rPr sz="1200" b="0">
                          <a:solidFill>
                            <a:srgbClr val="1F2A24"/>
                          </a:solidFill>
                        </a:rPr>
                        <a:t>historical-average fallback</a:t>
                      </a:r>
                    </a:p>
                  </a:txBody>
                  <a:tcPr marL="54864" marR="54864" marT="27432" marB="27432">
                    <a:solidFill>
                      <a:srgbClr val="FFFFFF"/>
                    </a:solidFill>
                  </a:tcPr>
                </a:tc>
              </a:tr>
              <a:tr h="365760">
                <a:tc>
                  <a:txBody>
                    <a:bodyPr/>
                    <a:lstStyle/>
                    <a:p>
                      <a:r>
                        <a:rPr sz="1200" b="0">
                          <a:solidFill>
                            <a:srgbClr val="1F2A24"/>
                          </a:solidFill>
                        </a:rPr>
                        <a:t>NFR3</a:t>
                      </a:r>
                    </a:p>
                  </a:txBody>
                  <a:tcPr marL="54864" marR="54864" marT="27432" marB="27432">
                    <a:solidFill>
                      <a:srgbClr val="F4F7F5"/>
                    </a:solidFill>
                  </a:tcPr>
                </a:tc>
                <a:tc>
                  <a:txBody>
                    <a:bodyPr/>
                    <a:lstStyle/>
                    <a:p>
                      <a:r>
                        <a:rPr sz="1200" b="0">
                          <a:solidFill>
                            <a:srgbClr val="1F2A24"/>
                          </a:solidFill>
                        </a:rPr>
                        <a:t>Other OSM-mapped parks without architectural change</a:t>
                      </a:r>
                    </a:p>
                  </a:txBody>
                  <a:tcPr marL="54864" marR="54864" marT="27432" marB="27432">
                    <a:solidFill>
                      <a:srgbClr val="F4F7F5"/>
                    </a:solidFill>
                  </a:tcPr>
                </a:tc>
                <a:tc>
                  <a:txBody>
                    <a:bodyPr/>
                    <a:lstStyle/>
                    <a:p>
                      <a:r>
                        <a:rPr sz="1200" b="0">
                          <a:solidFill>
                            <a:srgbClr val="1F2A24"/>
                          </a:solidFill>
                        </a:rPr>
                        <a:t>Done (pipeline)</a:t>
                      </a:r>
                    </a:p>
                  </a:txBody>
                  <a:tcPr marL="54864" marR="54864" marT="27432" marB="27432">
                    <a:solidFill>
                      <a:srgbClr val="F4F7F5"/>
                    </a:solidFill>
                  </a:tcPr>
                </a:tc>
                <a:tc>
                  <a:txBody>
                    <a:bodyPr/>
                    <a:lstStyle/>
                    <a:p>
                      <a:r>
                        <a:rPr sz="1200" b="0">
                          <a:solidFill>
                            <a:srgbClr val="1F2A24"/>
                          </a:solidFill>
                        </a:rPr>
                        <a:t>Adam's Peak = 1 config file; RQ2</a:t>
                      </a:r>
                    </a:p>
                  </a:txBody>
                  <a:tcPr marL="54864" marR="54864" marT="27432" marB="27432">
                    <a:solidFill>
                      <a:srgbClr val="F4F7F5"/>
                    </a:solidFill>
                  </a:tcPr>
                </a:tc>
              </a:tr>
              <a:tr h="365760">
                <a:tc>
                  <a:txBody>
                    <a:bodyPr/>
                    <a:lstStyle/>
                    <a:p>
                      <a:r>
                        <a:rPr sz="1200" b="0">
                          <a:solidFill>
                            <a:srgbClr val="1F2A24"/>
                          </a:solidFill>
                        </a:rPr>
                        <a:t>NFR4</a:t>
                      </a:r>
                    </a:p>
                  </a:txBody>
                  <a:tcPr marL="54864" marR="54864" marT="27432" marB="27432">
                    <a:solidFill>
                      <a:srgbClr val="FFFFFF"/>
                    </a:solidFill>
                  </a:tcPr>
                </a:tc>
                <a:tc>
                  <a:txBody>
                    <a:bodyPr/>
                    <a:lstStyle/>
                    <a:p>
                      <a:r>
                        <a:rPr sz="1200" b="0">
                          <a:solidFill>
                            <a:srgbClr val="1F2A24"/>
                          </a:solidFill>
                        </a:rPr>
                        <a:t>Validated against real counts</a:t>
                      </a:r>
                    </a:p>
                  </a:txBody>
                  <a:tcPr marL="54864" marR="54864" marT="27432" marB="27432">
                    <a:solidFill>
                      <a:srgbClr val="FFFFFF"/>
                    </a:solidFill>
                  </a:tcPr>
                </a:tc>
                <a:tc>
                  <a:txBody>
                    <a:bodyPr/>
                    <a:lstStyle/>
                    <a:p>
                      <a:r>
                        <a:rPr sz="1200" b="0">
                          <a:solidFill>
                            <a:srgbClr val="1F2A24"/>
                          </a:solidFill>
                        </a:rPr>
                        <a:t>Pending</a:t>
                      </a:r>
                    </a:p>
                  </a:txBody>
                  <a:tcPr marL="54864" marR="54864" marT="27432" marB="27432">
                    <a:solidFill>
                      <a:srgbClr val="FFFFFF"/>
                    </a:solidFill>
                  </a:tcPr>
                </a:tc>
                <a:tc>
                  <a:txBody>
                    <a:bodyPr/>
                    <a:lstStyle/>
                    <a:p>
                      <a:r>
                        <a:rPr sz="1200" b="0">
                          <a:solidFill>
                            <a:srgbClr val="1F2A24"/>
                          </a:solidFill>
                        </a:rPr>
                        <a:t>field counts planned (risk R1)</a:t>
                      </a:r>
                    </a:p>
                  </a:txBody>
                  <a:tcPr marL="54864" marR="54864" marT="27432" marB="27432">
                    <a:solidFill>
                      <a:srgbClr val="FFFFFF"/>
                    </a:solidFill>
                  </a:tcPr>
                </a:tc>
              </a:tr>
              <a:tr h="365760">
                <a:tc>
                  <a:txBody>
                    <a:bodyPr/>
                    <a:lstStyle/>
                    <a:p>
                      <a:r>
                        <a:rPr sz="1200" b="0">
                          <a:solidFill>
                            <a:srgbClr val="1F2A24"/>
                          </a:solidFill>
                        </a:rPr>
                        <a:t>NFR5</a:t>
                      </a:r>
                    </a:p>
                  </a:txBody>
                  <a:tcPr marL="54864" marR="54864" marT="27432" marB="27432">
                    <a:solidFill>
                      <a:srgbClr val="F4F7F5"/>
                    </a:solidFill>
                  </a:tcPr>
                </a:tc>
                <a:tc>
                  <a:txBody>
                    <a:bodyPr/>
                    <a:lstStyle/>
                    <a:p>
                      <a:r>
                        <a:rPr sz="1200" b="0">
                          <a:solidFill>
                            <a:srgbClr val="1F2A24"/>
                          </a:solidFill>
                        </a:rPr>
                        <a:t>No personal visitor data</a:t>
                      </a:r>
                    </a:p>
                  </a:txBody>
                  <a:tcPr marL="54864" marR="54864" marT="27432" marB="27432">
                    <a:solidFill>
                      <a:srgbClr val="F4F7F5"/>
                    </a:solidFill>
                  </a:tcPr>
                </a:tc>
                <a:tc>
                  <a:txBody>
                    <a:bodyPr/>
                    <a:lstStyle/>
                    <a:p>
                      <a:r>
                        <a:rPr sz="1200" b="0">
                          <a:solidFill>
                            <a:srgbClr val="1F2A24"/>
                          </a:solidFill>
                        </a:rPr>
                        <a:t>Done</a:t>
                      </a:r>
                    </a:p>
                  </a:txBody>
                  <a:tcPr marL="54864" marR="54864" marT="27432" marB="27432">
                    <a:solidFill>
                      <a:srgbClr val="F4F7F5"/>
                    </a:solidFill>
                  </a:tcPr>
                </a:tc>
                <a:tc>
                  <a:txBody>
                    <a:bodyPr/>
                    <a:lstStyle/>
                    <a:p>
                      <a:r>
                        <a:rPr sz="1200" b="0">
                          <a:solidFill>
                            <a:srgbClr val="1F2A24"/>
                          </a:solidFill>
                        </a:rPr>
                        <a:t>booking code only, no names</a:t>
                      </a:r>
                    </a:p>
                  </a:txBody>
                  <a:tcPr marL="54864" marR="54864" marT="27432" marB="27432">
                    <a:solidFill>
                      <a:srgbClr val="F4F7F5"/>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RISK MITIGATION</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Risks and mitigation</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17</a:t>
            </a:r>
          </a:p>
        </p:txBody>
      </p:sp>
      <p:graphicFrame>
        <p:nvGraphicFramePr>
          <p:cNvPr id="6" name="Table 5"/>
          <p:cNvGraphicFramePr>
            <a:graphicFrameLocks noGrp="1"/>
          </p:cNvGraphicFramePr>
          <p:nvPr/>
        </p:nvGraphicFramePr>
        <p:xfrm>
          <a:off x="548640" y="1371600"/>
          <a:ext cx="11064240" cy="3657600"/>
        </p:xfrm>
        <a:graphic>
          <a:graphicData uri="http://schemas.openxmlformats.org/drawingml/2006/table">
            <a:tbl>
              <a:tblPr firstRow="1" bandRow="1">
                <a:tableStyleId>{5C22544A-7EE6-4342-B048-85BDC9FD1C3A}</a:tableStyleId>
              </a:tblPr>
              <a:tblGrid>
                <a:gridCol w="457200"/>
                <a:gridCol w="3657600"/>
                <a:gridCol w="914400"/>
                <a:gridCol w="6035040"/>
              </a:tblGrid>
              <a:tr h="457200">
                <a:tc>
                  <a:txBody>
                    <a:bodyPr/>
                    <a:lstStyle/>
                    <a:p>
                      <a:r>
                        <a:rPr sz="1200" b="1">
                          <a:solidFill>
                            <a:srgbClr val="FFFFFF"/>
                          </a:solidFill>
                        </a:rPr>
                        <a:t>#</a:t>
                      </a:r>
                    </a:p>
                  </a:txBody>
                  <a:tcPr marL="54864" marR="54864" marT="27432" marB="27432">
                    <a:solidFill>
                      <a:srgbClr val="2F6B4F"/>
                    </a:solidFill>
                  </a:tcPr>
                </a:tc>
                <a:tc>
                  <a:txBody>
                    <a:bodyPr/>
                    <a:lstStyle/>
                    <a:p>
                      <a:r>
                        <a:rPr sz="1200" b="1">
                          <a:solidFill>
                            <a:srgbClr val="FFFFFF"/>
                          </a:solidFill>
                        </a:rPr>
                        <a:t>Risk</a:t>
                      </a:r>
                    </a:p>
                  </a:txBody>
                  <a:tcPr marL="54864" marR="54864" marT="27432" marB="27432">
                    <a:solidFill>
                      <a:srgbClr val="2F6B4F"/>
                    </a:solidFill>
                  </a:tcPr>
                </a:tc>
                <a:tc>
                  <a:txBody>
                    <a:bodyPr/>
                    <a:lstStyle/>
                    <a:p>
                      <a:r>
                        <a:rPr sz="1200" b="1">
                          <a:solidFill>
                            <a:srgbClr val="FFFFFF"/>
                          </a:solidFill>
                        </a:rPr>
                        <a:t>Impact</a:t>
                      </a:r>
                    </a:p>
                  </a:txBody>
                  <a:tcPr marL="54864" marR="54864" marT="27432" marB="27432">
                    <a:solidFill>
                      <a:srgbClr val="2F6B4F"/>
                    </a:solidFill>
                  </a:tcPr>
                </a:tc>
                <a:tc>
                  <a:txBody>
                    <a:bodyPr/>
                    <a:lstStyle/>
                    <a:p>
                      <a:r>
                        <a:rPr sz="1200" b="1">
                          <a:solidFill>
                            <a:srgbClr val="FFFFFF"/>
                          </a:solidFill>
                        </a:rPr>
                        <a:t>Mitigation (status)</a:t>
                      </a:r>
                    </a:p>
                  </a:txBody>
                  <a:tcPr marL="54864" marR="54864" marT="27432" marB="27432">
                    <a:solidFill>
                      <a:srgbClr val="2F6B4F"/>
                    </a:solidFill>
                  </a:tcPr>
                </a:tc>
              </a:tr>
              <a:tr h="457200">
                <a:tc>
                  <a:txBody>
                    <a:bodyPr/>
                    <a:lstStyle/>
                    <a:p>
                      <a:r>
                        <a:rPr sz="1200" b="0">
                          <a:solidFill>
                            <a:srgbClr val="1F2A24"/>
                          </a:solidFill>
                        </a:rPr>
                        <a:t>R1</a:t>
                      </a:r>
                    </a:p>
                  </a:txBody>
                  <a:tcPr marL="54864" marR="54864" marT="27432" marB="27432">
                    <a:solidFill>
                      <a:srgbClr val="FFFFFF"/>
                    </a:solidFill>
                  </a:tcPr>
                </a:tc>
                <a:tc>
                  <a:txBody>
                    <a:bodyPr/>
                    <a:lstStyle/>
                    <a:p>
                      <a:r>
                        <a:rPr sz="1200" b="0">
                          <a:solidFill>
                            <a:srgbClr val="1F2A24"/>
                          </a:solidFill>
                        </a:rPr>
                        <a:t>No real segment-level counts: the target is synthetic</a:t>
                      </a:r>
                    </a:p>
                  </a:txBody>
                  <a:tcPr marL="54864" marR="54864" marT="27432" marB="27432">
                    <a:solidFill>
                      <a:srgbClr val="FFFFFF"/>
                    </a:solidFill>
                  </a:tcPr>
                </a:tc>
                <a:tc>
                  <a:txBody>
                    <a:bodyPr/>
                    <a:lstStyle/>
                    <a:p>
                      <a:r>
                        <a:rPr sz="1200" b="0">
                          <a:solidFill>
                            <a:srgbClr val="1F2A24"/>
                          </a:solidFill>
                        </a:rPr>
                        <a:t>High</a:t>
                      </a:r>
                    </a:p>
                  </a:txBody>
                  <a:tcPr marL="54864" marR="54864" marT="27432" marB="27432">
                    <a:solidFill>
                      <a:srgbClr val="FFFFFF"/>
                    </a:solidFill>
                  </a:tcPr>
                </a:tc>
                <a:tc>
                  <a:txBody>
                    <a:bodyPr/>
                    <a:lstStyle/>
                    <a:p>
                      <a:r>
                        <a:rPr sz="1200" b="0">
                          <a:solidFill>
                            <a:srgbClr val="1F2A24"/>
                          </a:solidFill>
                        </a:rPr>
                        <a:t>Assumptions listed and parameterised; RQ4 sensitivity; field counts at World's End and one Poya night (planned)</a:t>
                      </a:r>
                    </a:p>
                  </a:txBody>
                  <a:tcPr marL="54864" marR="54864" marT="27432" marB="27432">
                    <a:solidFill>
                      <a:srgbClr val="FFFFFF"/>
                    </a:solidFill>
                  </a:tcPr>
                </a:tc>
              </a:tr>
              <a:tr h="457200">
                <a:tc>
                  <a:txBody>
                    <a:bodyPr/>
                    <a:lstStyle/>
                    <a:p>
                      <a:r>
                        <a:rPr sz="1200" b="0">
                          <a:solidFill>
                            <a:srgbClr val="1F2A24"/>
                          </a:solidFill>
                        </a:rPr>
                        <a:t>R2</a:t>
                      </a:r>
                    </a:p>
                  </a:txBody>
                  <a:tcPr marL="54864" marR="54864" marT="27432" marB="27432">
                    <a:solidFill>
                      <a:srgbClr val="F4F7F5"/>
                    </a:solidFill>
                  </a:tcPr>
                </a:tc>
                <a:tc>
                  <a:txBody>
                    <a:bodyPr/>
                    <a:lstStyle/>
                    <a:p>
                      <a:r>
                        <a:rPr sz="1200" b="0">
                          <a:solidFill>
                            <a:srgbClr val="1F2A24"/>
                          </a:solidFill>
                        </a:rPr>
                        <a:t>ST-GNN not better than simpler models</a:t>
                      </a:r>
                    </a:p>
                  </a:txBody>
                  <a:tcPr marL="54864" marR="54864" marT="27432" marB="27432">
                    <a:solidFill>
                      <a:srgbClr val="F4F7F5"/>
                    </a:solidFill>
                  </a:tcPr>
                </a:tc>
                <a:tc>
                  <a:txBody>
                    <a:bodyPr/>
                    <a:lstStyle/>
                    <a:p>
                      <a:r>
                        <a:rPr sz="1200" b="0">
                          <a:solidFill>
                            <a:srgbClr val="1F2A24"/>
                          </a:solidFill>
                        </a:rPr>
                        <a:t>Medium</a:t>
                      </a:r>
                    </a:p>
                  </a:txBody>
                  <a:tcPr marL="54864" marR="54864" marT="27432" marB="27432">
                    <a:solidFill>
                      <a:srgbClr val="F4F7F5"/>
                    </a:solidFill>
                  </a:tcPr>
                </a:tc>
                <a:tc>
                  <a:txBody>
                    <a:bodyPr/>
                    <a:lstStyle/>
                    <a:p>
                      <a:r>
                        <a:rPr sz="1200" b="0">
                          <a:solidFill>
                            <a:srgbClr val="1F2A24"/>
                          </a:solidFill>
                        </a:rPr>
                        <a:t>Mandatory baselines + ablation; result reported either way; LSTM-cell ST-GNN next (in progress)</a:t>
                      </a:r>
                    </a:p>
                  </a:txBody>
                  <a:tcPr marL="54864" marR="54864" marT="27432" marB="27432">
                    <a:solidFill>
                      <a:srgbClr val="F4F7F5"/>
                    </a:solidFill>
                  </a:tcPr>
                </a:tc>
              </a:tr>
              <a:tr h="457200">
                <a:tc>
                  <a:txBody>
                    <a:bodyPr/>
                    <a:lstStyle/>
                    <a:p>
                      <a:r>
                        <a:rPr sz="1200" b="0">
                          <a:solidFill>
                            <a:srgbClr val="1F2A24"/>
                          </a:solidFill>
                        </a:rPr>
                        <a:t>R3</a:t>
                      </a:r>
                    </a:p>
                  </a:txBody>
                  <a:tcPr marL="54864" marR="54864" marT="27432" marB="27432">
                    <a:solidFill>
                      <a:srgbClr val="FFFFFF"/>
                    </a:solidFill>
                  </a:tcPr>
                </a:tc>
                <a:tc>
                  <a:txBody>
                    <a:bodyPr/>
                    <a:lstStyle/>
                    <a:p>
                      <a:r>
                        <a:rPr sz="1200" b="0">
                          <a:solidFill>
                            <a:srgbClr val="1F2A24"/>
                          </a:solidFill>
                        </a:rPr>
                        <a:t>Last part of the Adam's Peak trail missing in OSM</a:t>
                      </a:r>
                    </a:p>
                  </a:txBody>
                  <a:tcPr marL="54864" marR="54864" marT="27432" marB="27432">
                    <a:solidFill>
                      <a:srgbClr val="FFFFFF"/>
                    </a:solidFill>
                  </a:tcPr>
                </a:tc>
                <a:tc>
                  <a:txBody>
                    <a:bodyPr/>
                    <a:lstStyle/>
                    <a:p>
                      <a:r>
                        <a:rPr sz="1200" b="0">
                          <a:solidFill>
                            <a:srgbClr val="1F2A24"/>
                          </a:solidFill>
                        </a:rPr>
                        <a:t>Medium</a:t>
                      </a:r>
                    </a:p>
                  </a:txBody>
                  <a:tcPr marL="54864" marR="54864" marT="27432" marB="27432">
                    <a:solidFill>
                      <a:srgbClr val="FFFFFF"/>
                    </a:solidFill>
                  </a:tcPr>
                </a:tc>
                <a:tc>
                  <a:txBody>
                    <a:bodyPr/>
                    <a:lstStyle/>
                    <a:p>
                      <a:r>
                        <a:rPr sz="1200" b="0">
                          <a:solidFill>
                            <a:srgbClr val="1F2A24"/>
                          </a:solidFill>
                        </a:rPr>
                        <a:t>Approximate link flagged; replace with a GPS track</a:t>
                      </a:r>
                    </a:p>
                  </a:txBody>
                  <a:tcPr marL="54864" marR="54864" marT="27432" marB="27432">
                    <a:solidFill>
                      <a:srgbClr val="FFFFFF"/>
                    </a:solidFill>
                  </a:tcPr>
                </a:tc>
              </a:tr>
              <a:tr h="457200">
                <a:tc>
                  <a:txBody>
                    <a:bodyPr/>
                    <a:lstStyle/>
                    <a:p>
                      <a:r>
                        <a:rPr sz="1200" b="0">
                          <a:solidFill>
                            <a:srgbClr val="1F2A24"/>
                          </a:solidFill>
                        </a:rPr>
                        <a:t>R4</a:t>
                      </a:r>
                    </a:p>
                  </a:txBody>
                  <a:tcPr marL="54864" marR="54864" marT="27432" marB="27432">
                    <a:solidFill>
                      <a:srgbClr val="F4F7F5"/>
                    </a:solidFill>
                  </a:tcPr>
                </a:tc>
                <a:tc>
                  <a:txBody>
                    <a:bodyPr/>
                    <a:lstStyle/>
                    <a:p>
                      <a:r>
                        <a:rPr sz="1200" b="0">
                          <a:solidFill>
                            <a:srgbClr val="1F2A24"/>
                          </a:solidFill>
                        </a:rPr>
                        <a:t>Authorities do not adopt tickets / advice</a:t>
                      </a:r>
                    </a:p>
                  </a:txBody>
                  <a:tcPr marL="54864" marR="54864" marT="27432" marB="27432">
                    <a:solidFill>
                      <a:srgbClr val="F4F7F5"/>
                    </a:solidFill>
                  </a:tcPr>
                </a:tc>
                <a:tc>
                  <a:txBody>
                    <a:bodyPr/>
                    <a:lstStyle/>
                    <a:p>
                      <a:r>
                        <a:rPr sz="1200" b="0">
                          <a:solidFill>
                            <a:srgbClr val="1F2A24"/>
                          </a:solidFill>
                        </a:rPr>
                        <a:t>Medium</a:t>
                      </a:r>
                    </a:p>
                  </a:txBody>
                  <a:tcPr marL="54864" marR="54864" marT="27432" marB="27432">
                    <a:solidFill>
                      <a:srgbClr val="F4F7F5"/>
                    </a:solidFill>
                  </a:tcPr>
                </a:tc>
                <a:tc>
                  <a:txBody>
                    <a:bodyPr/>
                    <a:lstStyle/>
                    <a:p>
                      <a:r>
                        <a:rPr sz="1200" b="0">
                          <a:solidFill>
                            <a:srgbClr val="1F2A24"/>
                          </a:solidFill>
                        </a:rPr>
                        <a:t>Advice-only mode for pilgrim sites; decisions to confirm with DWC and Sri Pada Trust</a:t>
                      </a:r>
                    </a:p>
                  </a:txBody>
                  <a:tcPr marL="54864" marR="54864" marT="27432" marB="27432">
                    <a:solidFill>
                      <a:srgbClr val="F4F7F5"/>
                    </a:solidFill>
                  </a:tcPr>
                </a:tc>
              </a:tr>
              <a:tr h="457200">
                <a:tc>
                  <a:txBody>
                    <a:bodyPr/>
                    <a:lstStyle/>
                    <a:p>
                      <a:r>
                        <a:rPr sz="1200" b="0">
                          <a:solidFill>
                            <a:srgbClr val="1F2A24"/>
                          </a:solidFill>
                        </a:rPr>
                        <a:t>R5</a:t>
                      </a:r>
                    </a:p>
                  </a:txBody>
                  <a:tcPr marL="54864" marR="54864" marT="27432" marB="27432">
                    <a:solidFill>
                      <a:srgbClr val="FFFFFF"/>
                    </a:solidFill>
                  </a:tcPr>
                </a:tc>
                <a:tc>
                  <a:txBody>
                    <a:bodyPr/>
                    <a:lstStyle/>
                    <a:p>
                      <a:r>
                        <a:rPr sz="1200" b="0">
                          <a:solidFill>
                            <a:srgbClr val="1F2A24"/>
                          </a:solidFill>
                        </a:rPr>
                        <a:t>Holiday calendar not published for 2027</a:t>
                      </a:r>
                    </a:p>
                  </a:txBody>
                  <a:tcPr marL="54864" marR="54864" marT="27432" marB="27432">
                    <a:solidFill>
                      <a:srgbClr val="FFFFFF"/>
                    </a:solidFill>
                  </a:tcPr>
                </a:tc>
                <a:tc>
                  <a:txBody>
                    <a:bodyPr/>
                    <a:lstStyle/>
                    <a:p>
                      <a:r>
                        <a:rPr sz="1200" b="0">
                          <a:solidFill>
                            <a:srgbClr val="1F2A24"/>
                          </a:solidFill>
                        </a:rPr>
                        <a:t>Low</a:t>
                      </a:r>
                    </a:p>
                  </a:txBody>
                  <a:tcPr marL="54864" marR="54864" marT="27432" marB="27432">
                    <a:solidFill>
                      <a:srgbClr val="FFFFFF"/>
                    </a:solidFill>
                  </a:tcPr>
                </a:tc>
                <a:tc>
                  <a:txBody>
                    <a:bodyPr/>
                    <a:lstStyle/>
                    <a:p>
                      <a:r>
                        <a:rPr sz="1200" b="0">
                          <a:solidFill>
                            <a:srgbClr val="1F2A24"/>
                          </a:solidFill>
                        </a:rPr>
                        <a:t>Estimated Poya days (62/62 within 1 day); swap in gazette</a:t>
                      </a:r>
                    </a:p>
                  </a:txBody>
                  <a:tcPr marL="54864" marR="54864" marT="27432" marB="27432">
                    <a:solidFill>
                      <a:srgbClr val="FFFFFF"/>
                    </a:solidFill>
                  </a:tcPr>
                </a:tc>
              </a:tr>
              <a:tr h="457200">
                <a:tc>
                  <a:txBody>
                    <a:bodyPr/>
                    <a:lstStyle/>
                    <a:p>
                      <a:r>
                        <a:rPr sz="1200" b="0">
                          <a:solidFill>
                            <a:srgbClr val="1F2A24"/>
                          </a:solidFill>
                        </a:rPr>
                        <a:t>R6</a:t>
                      </a:r>
                    </a:p>
                  </a:txBody>
                  <a:tcPr marL="54864" marR="54864" marT="27432" marB="27432">
                    <a:solidFill>
                      <a:srgbClr val="F4F7F5"/>
                    </a:solidFill>
                  </a:tcPr>
                </a:tc>
                <a:tc>
                  <a:txBody>
                    <a:bodyPr/>
                    <a:lstStyle/>
                    <a:p>
                      <a:r>
                        <a:rPr sz="1200" b="0">
                          <a:solidFill>
                            <a:srgbClr val="1F2A24"/>
                          </a:solidFill>
                        </a:rPr>
                        <a:t>CPU-only training time</a:t>
                      </a:r>
                    </a:p>
                  </a:txBody>
                  <a:tcPr marL="54864" marR="54864" marT="27432" marB="27432">
                    <a:solidFill>
                      <a:srgbClr val="F4F7F5"/>
                    </a:solidFill>
                  </a:tcPr>
                </a:tc>
                <a:tc>
                  <a:txBody>
                    <a:bodyPr/>
                    <a:lstStyle/>
                    <a:p>
                      <a:r>
                        <a:rPr sz="1200" b="0">
                          <a:solidFill>
                            <a:srgbClr val="1F2A24"/>
                          </a:solidFill>
                        </a:rPr>
                        <a:t>Low</a:t>
                      </a:r>
                    </a:p>
                  </a:txBody>
                  <a:tcPr marL="54864" marR="54864" marT="27432" marB="27432">
                    <a:solidFill>
                      <a:srgbClr val="F4F7F5"/>
                    </a:solidFill>
                  </a:tcPr>
                </a:tc>
                <a:tc>
                  <a:txBody>
                    <a:bodyPr/>
                    <a:lstStyle/>
                    <a:p>
                      <a:r>
                        <a:rPr sz="1200" b="0">
                          <a:solidFill>
                            <a:srgbClr val="1F2A24"/>
                          </a:solidFill>
                        </a:rPr>
                        <a:t>Small graph, early stopping; seeds run overnight</a:t>
                      </a:r>
                    </a:p>
                  </a:txBody>
                  <a:tcPr marL="54864" marR="54864" marT="27432" marB="27432">
                    <a:solidFill>
                      <a:srgbClr val="F4F7F5"/>
                    </a:solidFill>
                  </a:tcPr>
                </a:tc>
              </a:tr>
              <a:tr h="457200">
                <a:tc>
                  <a:txBody>
                    <a:bodyPr/>
                    <a:lstStyle/>
                    <a:p>
                      <a:r>
                        <a:rPr sz="1200" b="0">
                          <a:solidFill>
                            <a:srgbClr val="1F2A24"/>
                          </a:solidFill>
                        </a:rPr>
                        <a:t>R7</a:t>
                      </a:r>
                    </a:p>
                  </a:txBody>
                  <a:tcPr marL="54864" marR="54864" marT="27432" marB="27432">
                    <a:solidFill>
                      <a:srgbClr val="FFFFFF"/>
                    </a:solidFill>
                  </a:tcPr>
                </a:tc>
                <a:tc>
                  <a:txBody>
                    <a:bodyPr/>
                    <a:lstStyle/>
                    <a:p>
                      <a:r>
                        <a:rPr sz="1200" b="0">
                          <a:solidFill>
                            <a:srgbClr val="1F2A24"/>
                          </a:solidFill>
                        </a:rPr>
                        <a:t>Translations inaccurate</a:t>
                      </a:r>
                    </a:p>
                  </a:txBody>
                  <a:tcPr marL="54864" marR="54864" marT="27432" marB="27432">
                    <a:solidFill>
                      <a:srgbClr val="FFFFFF"/>
                    </a:solidFill>
                  </a:tcPr>
                </a:tc>
                <a:tc>
                  <a:txBody>
                    <a:bodyPr/>
                    <a:lstStyle/>
                    <a:p>
                      <a:r>
                        <a:rPr sz="1200" b="0">
                          <a:solidFill>
                            <a:srgbClr val="1F2A24"/>
                          </a:solidFill>
                        </a:rPr>
                        <a:t>Low</a:t>
                      </a:r>
                    </a:p>
                  </a:txBody>
                  <a:tcPr marL="54864" marR="54864" marT="27432" marB="27432">
                    <a:solidFill>
                      <a:srgbClr val="FFFFFF"/>
                    </a:solidFill>
                  </a:tcPr>
                </a:tc>
                <a:tc>
                  <a:txBody>
                    <a:bodyPr/>
                    <a:lstStyle/>
                    <a:p>
                      <a:r>
                        <a:rPr sz="1200" b="0">
                          <a:solidFill>
                            <a:srgbClr val="1F2A24"/>
                          </a:solidFill>
                        </a:rPr>
                        <a:t>Marked as drafts; native-speaker review</a:t>
                      </a:r>
                    </a:p>
                  </a:txBody>
                  <a:tcPr marL="54864" marR="54864" marT="27432" marB="27432">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COMMERCIALISATION</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Who would use it, and why they would pay</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18</a:t>
            </a:r>
          </a:p>
        </p:txBody>
      </p:sp>
      <p:graphicFrame>
        <p:nvGraphicFramePr>
          <p:cNvPr id="6" name="Table 5"/>
          <p:cNvGraphicFramePr>
            <a:graphicFrameLocks noGrp="1"/>
          </p:cNvGraphicFramePr>
          <p:nvPr/>
        </p:nvGraphicFramePr>
        <p:xfrm>
          <a:off x="548640" y="1463040"/>
          <a:ext cx="6766560" cy="2743200"/>
        </p:xfrm>
        <a:graphic>
          <a:graphicData uri="http://schemas.openxmlformats.org/drawingml/2006/table">
            <a:tbl>
              <a:tblPr firstRow="1" bandRow="1">
                <a:tableStyleId>{5C22544A-7EE6-4342-B048-85BDC9FD1C3A}</a:tableStyleId>
              </a:tblPr>
              <a:tblGrid>
                <a:gridCol w="2377440"/>
                <a:gridCol w="4389120"/>
              </a:tblGrid>
              <a:tr h="548640">
                <a:tc>
                  <a:txBody>
                    <a:bodyPr/>
                    <a:lstStyle/>
                    <a:p>
                      <a:r>
                        <a:rPr sz="1300" b="1">
                          <a:solidFill>
                            <a:srgbClr val="FFFFFF"/>
                          </a:solidFill>
                        </a:rPr>
                        <a:t>User</a:t>
                      </a:r>
                    </a:p>
                  </a:txBody>
                  <a:tcPr marL="54864" marR="54864" marT="27432" marB="27432">
                    <a:solidFill>
                      <a:srgbClr val="2F6B4F"/>
                    </a:solidFill>
                  </a:tcPr>
                </a:tc>
                <a:tc>
                  <a:txBody>
                    <a:bodyPr/>
                    <a:lstStyle/>
                    <a:p>
                      <a:r>
                        <a:rPr sz="1300" b="1">
                          <a:solidFill>
                            <a:srgbClr val="FFFFFF"/>
                          </a:solidFill>
                        </a:rPr>
                        <a:t>Benefit</a:t>
                      </a:r>
                    </a:p>
                  </a:txBody>
                  <a:tcPr marL="54864" marR="54864" marT="27432" marB="27432">
                    <a:solidFill>
                      <a:srgbClr val="2F6B4F"/>
                    </a:solidFill>
                  </a:tcPr>
                </a:tc>
              </a:tr>
              <a:tr h="548640">
                <a:tc>
                  <a:txBody>
                    <a:bodyPr/>
                    <a:lstStyle/>
                    <a:p>
                      <a:r>
                        <a:rPr sz="1300" b="0">
                          <a:solidFill>
                            <a:srgbClr val="1F2A24"/>
                          </a:solidFill>
                        </a:rPr>
                        <a:t>DWC / park management</a:t>
                      </a:r>
                    </a:p>
                  </a:txBody>
                  <a:tcPr marL="54864" marR="54864" marT="27432" marB="27432">
                    <a:solidFill>
                      <a:srgbClr val="FFFFFF"/>
                    </a:solidFill>
                  </a:tcPr>
                </a:tc>
                <a:tc>
                  <a:txBody>
                    <a:bodyPr/>
                    <a:lstStyle/>
                    <a:p>
                      <a:r>
                        <a:rPr sz="1300" b="0">
                          <a:solidFill>
                            <a:srgbClr val="1F2A24"/>
                          </a:solidFill>
                        </a:rPr>
                        <a:t>Dynamic quotas and slot plans instead of a fixed number; season staffing plan</a:t>
                      </a:r>
                    </a:p>
                  </a:txBody>
                  <a:tcPr marL="54864" marR="54864" marT="27432" marB="27432">
                    <a:solidFill>
                      <a:srgbClr val="FFFFFF"/>
                    </a:solidFill>
                  </a:tcPr>
                </a:tc>
              </a:tr>
              <a:tr h="548640">
                <a:tc>
                  <a:txBody>
                    <a:bodyPr/>
                    <a:lstStyle/>
                    <a:p>
                      <a:r>
                        <a:rPr sz="1300" b="0">
                          <a:solidFill>
                            <a:srgbClr val="1F2A24"/>
                          </a:solidFill>
                        </a:rPr>
                        <a:t>Sri Pada Trust / police</a:t>
                      </a:r>
                    </a:p>
                  </a:txBody>
                  <a:tcPr marL="54864" marR="54864" marT="27432" marB="27432">
                    <a:solidFill>
                      <a:srgbClr val="F4F7F5"/>
                    </a:solidFill>
                  </a:tcPr>
                </a:tc>
                <a:tc>
                  <a:txBody>
                    <a:bodyPr/>
                    <a:lstStyle/>
                    <a:p>
                      <a:r>
                        <a:rPr sz="1300" b="0">
                          <a:solidFill>
                            <a:srgbClr val="1F2A24"/>
                          </a:solidFill>
                        </a:rPr>
                        <a:t>Which nights need halfway checks, when to hold, how many to release</a:t>
                      </a:r>
                    </a:p>
                  </a:txBody>
                  <a:tcPr marL="54864" marR="54864" marT="27432" marB="27432">
                    <a:solidFill>
                      <a:srgbClr val="F4F7F5"/>
                    </a:solidFill>
                  </a:tcPr>
                </a:tc>
              </a:tr>
              <a:tr h="548640">
                <a:tc>
                  <a:txBody>
                    <a:bodyPr/>
                    <a:lstStyle/>
                    <a:p>
                      <a:r>
                        <a:rPr sz="1300" b="0">
                          <a:solidFill>
                            <a:srgbClr val="1F2A24"/>
                          </a:solidFill>
                        </a:rPr>
                        <a:t>Visitors and pilgrims</a:t>
                      </a:r>
                    </a:p>
                  </a:txBody>
                  <a:tcPr marL="54864" marR="54864" marT="27432" marB="27432">
                    <a:solidFill>
                      <a:srgbClr val="FFFFFF"/>
                    </a:solidFill>
                  </a:tcPr>
                </a:tc>
                <a:tc>
                  <a:txBody>
                    <a:bodyPr/>
                    <a:lstStyle/>
                    <a:p>
                      <a:r>
                        <a:rPr sz="1300" b="0">
                          <a:solidFill>
                            <a:srgbClr val="1F2A24"/>
                          </a:solidFill>
                        </a:rPr>
                        <a:t>Know before travelling: quiet days, start times, guaranteed entry slot</a:t>
                      </a:r>
                    </a:p>
                  </a:txBody>
                  <a:tcPr marL="54864" marR="54864" marT="27432" marB="27432">
                    <a:solidFill>
                      <a:srgbClr val="FFFFFF"/>
                    </a:solidFill>
                  </a:tcPr>
                </a:tc>
              </a:tr>
              <a:tr h="548640">
                <a:tc>
                  <a:txBody>
                    <a:bodyPr/>
                    <a:lstStyle/>
                    <a:p>
                      <a:r>
                        <a:rPr sz="1300" b="0">
                          <a:solidFill>
                            <a:srgbClr val="1F2A24"/>
                          </a:solidFill>
                        </a:rPr>
                        <a:t>Tour operators / SLTDA</a:t>
                      </a:r>
                    </a:p>
                  </a:txBody>
                  <a:tcPr marL="54864" marR="54864" marT="27432" marB="27432">
                    <a:solidFill>
                      <a:srgbClr val="F4F7F5"/>
                    </a:solidFill>
                  </a:tcPr>
                </a:tc>
                <a:tc>
                  <a:txBody>
                    <a:bodyPr/>
                    <a:lstStyle/>
                    <a:p>
                      <a:r>
                        <a:rPr sz="1300" b="0">
                          <a:solidFill>
                            <a:srgbClr val="1F2A24"/>
                          </a:solidFill>
                        </a:rPr>
                        <a:t>Plan groups on quiet days; tourism statistics per site</a:t>
                      </a:r>
                    </a:p>
                  </a:txBody>
                  <a:tcPr marL="54864" marR="54864" marT="27432" marB="27432">
                    <a:solidFill>
                      <a:srgbClr val="F4F7F5"/>
                    </a:solidFill>
                  </a:tcPr>
                </a:tc>
              </a:tr>
            </a:tbl>
          </a:graphicData>
        </a:graphic>
      </p:graphicFrame>
      <p:sp>
        <p:nvSpPr>
          <p:cNvPr id="7" name="TextBox 6"/>
          <p:cNvSpPr txBox="1"/>
          <p:nvPr/>
        </p:nvSpPr>
        <p:spPr>
          <a:xfrm>
            <a:off x="7680960" y="1554480"/>
            <a:ext cx="4297680" cy="4572000"/>
          </a:xfrm>
          <a:prstGeom prst="rect">
            <a:avLst/>
          </a:prstGeom>
          <a:noFill/>
        </p:spPr>
        <p:txBody>
          <a:bodyPr wrap="square">
            <a:spAutoFit/>
          </a:bodyPr>
          <a:lstStyle/>
          <a:p>
            <a:pPr>
              <a:spcAft>
                <a:spcPts val="1200"/>
              </a:spcAft>
            </a:pPr>
            <a:r>
              <a:rPr sz="1500" b="1">
                <a:solidFill>
                  <a:srgbClr val="1F2A24"/>
                </a:solidFill>
              </a:rPr>
              <a:t>•  Model:</a:t>
            </a:r>
            <a:r>
              <a:rPr sz="1500">
                <a:solidFill>
                  <a:srgbClr val="1F2A24"/>
                </a:solidFill>
              </a:rPr>
              <a:t>  licence per site (authority) + small booking fee per ticket</a:t>
            </a:r>
          </a:p>
          <a:p>
            <a:pPr>
              <a:spcAft>
                <a:spcPts val="1200"/>
              </a:spcAft>
            </a:pPr>
            <a:r>
              <a:rPr sz="1500" b="1">
                <a:solidFill>
                  <a:srgbClr val="1F2A24"/>
                </a:solidFill>
              </a:rPr>
              <a:t>•  Scales:</a:t>
            </a:r>
            <a:r>
              <a:rPr sz="1500">
                <a:solidFill>
                  <a:srgbClr val="1F2A24"/>
                </a:solidFill>
              </a:rPr>
              <a:t>  a new destination = one config file + open data – no sensors to buy or maintain</a:t>
            </a:r>
          </a:p>
          <a:p>
            <a:pPr>
              <a:spcAft>
                <a:spcPts val="1200"/>
              </a:spcAft>
            </a:pPr>
            <a:r>
              <a:rPr sz="1500" b="1">
                <a:solidFill>
                  <a:srgbClr val="1F2A24"/>
                </a:solidFill>
              </a:rPr>
              <a:t>•  Next sites:</a:t>
            </a:r>
            <a:r>
              <a:rPr sz="1500">
                <a:solidFill>
                  <a:srgbClr val="1F2A24"/>
                </a:solidFill>
              </a:rPr>
              <a:t>  Ella Rock, Knuckles, Sigiriya, Sinharaja, Adam's Peak minor routes</a:t>
            </a:r>
          </a:p>
          <a:p>
            <a:pPr>
              <a:spcAft>
                <a:spcPts val="1200"/>
              </a:spcAft>
            </a:pPr>
            <a:r>
              <a:rPr sz="1500" b="1">
                <a:solidFill>
                  <a:srgbClr val="1F2A24"/>
                </a:solidFill>
              </a:rPr>
              <a:t>•  Low cost:</a:t>
            </a:r>
            <a:r>
              <a:rPr sz="1500">
                <a:solidFill>
                  <a:srgbClr val="1F2A24"/>
                </a:solidFill>
              </a:rPr>
              <a:t>  open data, CPU-only, offline-capable app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COMPLETION &amp; PLAN</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Progress and next steps</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19</a:t>
            </a:r>
          </a:p>
        </p:txBody>
      </p:sp>
      <p:graphicFrame>
        <p:nvGraphicFramePr>
          <p:cNvPr id="6" name="Table 5"/>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5486400"/>
                <a:gridCol w="5577840"/>
              </a:tblGrid>
              <a:tr h="566928">
                <a:tc>
                  <a:txBody>
                    <a:bodyPr/>
                    <a:lstStyle/>
                    <a:p>
                      <a:r>
                        <a:rPr sz="1300" b="1">
                          <a:solidFill>
                            <a:srgbClr val="FFFFFF"/>
                          </a:solidFill>
                        </a:rPr>
                        <a:t>Done (PP1)</a:t>
                      </a:r>
                    </a:p>
                  </a:txBody>
                  <a:tcPr marL="54864" marR="54864" marT="27432" marB="27432">
                    <a:solidFill>
                      <a:srgbClr val="2F6B4F"/>
                    </a:solidFill>
                  </a:tcPr>
                </a:tc>
                <a:tc>
                  <a:txBody>
                    <a:bodyPr/>
                    <a:lstStyle/>
                    <a:p>
                      <a:r>
                        <a:rPr sz="1300" b="1">
                          <a:solidFill>
                            <a:srgbClr val="FFFFFF"/>
                          </a:solidFill>
                        </a:rPr>
                        <a:t>Next (to PP2)</a:t>
                      </a:r>
                    </a:p>
                  </a:txBody>
                  <a:tcPr marL="54864" marR="54864" marT="27432" marB="27432">
                    <a:solidFill>
                      <a:srgbClr val="2F6B4F"/>
                    </a:solidFill>
                  </a:tcPr>
                </a:tc>
              </a:tr>
              <a:tr h="566928">
                <a:tc>
                  <a:txBody>
                    <a:bodyPr/>
                    <a:lstStyle/>
                    <a:p>
                      <a:r>
                        <a:rPr sz="1300" b="0">
                          <a:solidFill>
                            <a:srgbClr val="1F2A24"/>
                          </a:solidFill>
                        </a:rPr>
                        <a:t>Graph + features for 2 parks; simulator; dataset</a:t>
                      </a:r>
                    </a:p>
                  </a:txBody>
                  <a:tcPr marL="54864" marR="54864" marT="27432" marB="27432">
                    <a:solidFill>
                      <a:srgbClr val="FFFFFF"/>
                    </a:solidFill>
                  </a:tcPr>
                </a:tc>
                <a:tc>
                  <a:txBody>
                    <a:bodyPr/>
                    <a:lstStyle/>
                    <a:p>
                      <a:r>
                        <a:rPr sz="1300" b="0">
                          <a:solidFill>
                            <a:srgbClr val="1F2A24"/>
                          </a:solidFill>
                        </a:rPr>
                        <a:t>Field counts: World's End (2–3 days), final-steps flow (1 Poya night)</a:t>
                      </a:r>
                    </a:p>
                  </a:txBody>
                  <a:tcPr marL="54864" marR="54864" marT="27432" marB="27432">
                    <a:solidFill>
                      <a:srgbClr val="FFFFFF"/>
                    </a:solidFill>
                  </a:tcPr>
                </a:tc>
              </a:tr>
              <a:tr h="566928">
                <a:tc>
                  <a:txBody>
                    <a:bodyPr/>
                    <a:lstStyle/>
                    <a:p>
                      <a:r>
                        <a:rPr sz="1300" b="0">
                          <a:solidFill>
                            <a:srgbClr val="1F2A24"/>
                          </a:solidFill>
                        </a:rPr>
                        <a:t>ST-GNN + 4 baselines, spatial CV, tests (RQ1)</a:t>
                      </a:r>
                    </a:p>
                  </a:txBody>
                  <a:tcPr marL="54864" marR="54864" marT="27432" marB="27432">
                    <a:solidFill>
                      <a:srgbClr val="F4F7F5"/>
                    </a:solidFill>
                  </a:tcPr>
                </a:tc>
                <a:tc>
                  <a:txBody>
                    <a:bodyPr/>
                    <a:lstStyle/>
                    <a:p>
                      <a:r>
                        <a:rPr sz="1300" b="0">
                          <a:solidFill>
                            <a:srgbClr val="1F2A24"/>
                          </a:solidFill>
                        </a:rPr>
                        <a:t>ST-GNN with LSTM cell; 3 seeds at Adam's Peak</a:t>
                      </a:r>
                    </a:p>
                  </a:txBody>
                  <a:tcPr marL="54864" marR="54864" marT="27432" marB="27432">
                    <a:solidFill>
                      <a:srgbClr val="F4F7F5"/>
                    </a:solidFill>
                  </a:tcPr>
                </a:tc>
              </a:tr>
              <a:tr h="566928">
                <a:tc>
                  <a:txBody>
                    <a:bodyPr/>
                    <a:lstStyle/>
                    <a:p>
                      <a:r>
                        <a:rPr sz="1300" b="0">
                          <a:solidFill>
                            <a:srgbClr val="1F2A24"/>
                          </a:solidFill>
                        </a:rPr>
                        <a:t>Cifuentes capacity; slot tickets; start times + holds</a:t>
                      </a:r>
                    </a:p>
                  </a:txBody>
                  <a:tcPr marL="54864" marR="54864" marT="27432" marB="27432">
                    <a:solidFill>
                      <a:srgbClr val="FFFFFF"/>
                    </a:solidFill>
                  </a:tcPr>
                </a:tc>
                <a:tc>
                  <a:txBody>
                    <a:bodyPr/>
                    <a:lstStyle/>
                    <a:p>
                      <a:r>
                        <a:rPr sz="1300" b="0">
                          <a:solidFill>
                            <a:srgbClr val="1F2A24"/>
                          </a:solidFill>
                        </a:rPr>
                        <a:t>Learning curve: days of counts a new park needs (RQ2)</a:t>
                      </a:r>
                    </a:p>
                  </a:txBody>
                  <a:tcPr marL="54864" marR="54864" marT="27432" marB="27432">
                    <a:solidFill>
                      <a:srgbClr val="FFFFFF"/>
                    </a:solidFill>
                  </a:tcPr>
                </a:tc>
              </a:tr>
              <a:tr h="566928">
                <a:tc>
                  <a:txBody>
                    <a:bodyPr/>
                    <a:lstStyle/>
                    <a:p>
                      <a:r>
                        <a:rPr sz="1300" b="0">
                          <a:solidFill>
                            <a:srgbClr val="1F2A24"/>
                          </a:solidFill>
                        </a:rPr>
                        <a:t>Transfer, forecast value, sensitivity (RQ2–RQ4)</a:t>
                      </a:r>
                    </a:p>
                  </a:txBody>
                  <a:tcPr marL="54864" marR="54864" marT="27432" marB="27432">
                    <a:solidFill>
                      <a:srgbClr val="F4F7F5"/>
                    </a:solidFill>
                  </a:tcPr>
                </a:tc>
                <a:tc>
                  <a:txBody>
                    <a:bodyPr/>
                    <a:lstStyle/>
                    <a:p>
                      <a:r>
                        <a:rPr sz="1300" b="0">
                          <a:solidFill>
                            <a:srgbClr val="1F2A24"/>
                          </a:solidFill>
                        </a:rPr>
                        <a:t>Calibrate the simulator with DWC totals; re-run RQ1–RQ4</a:t>
                      </a:r>
                    </a:p>
                  </a:txBody>
                  <a:tcPr marL="54864" marR="54864" marT="27432" marB="27432">
                    <a:solidFill>
                      <a:srgbClr val="F4F7F5"/>
                    </a:solidFill>
                  </a:tcPr>
                </a:tc>
              </a:tr>
              <a:tr h="566928">
                <a:tc>
                  <a:txBody>
                    <a:bodyPr/>
                    <a:lstStyle/>
                    <a:p>
                      <a:r>
                        <a:rPr sz="1300" b="0">
                          <a:solidFill>
                            <a:srgbClr val="1F2A24"/>
                          </a:solidFill>
                        </a:rPr>
                        <a:t>API, gateway, Flutter app, 3 languages</a:t>
                      </a:r>
                    </a:p>
                  </a:txBody>
                  <a:tcPr marL="54864" marR="54864" marT="27432" marB="27432">
                    <a:solidFill>
                      <a:srgbClr val="FFFFFF"/>
                    </a:solidFill>
                  </a:tcPr>
                </a:tc>
                <a:tc>
                  <a:txBody>
                    <a:bodyPr/>
                    <a:lstStyle/>
                    <a:p>
                      <a:r>
                        <a:rPr sz="1300" b="0">
                          <a:solidFill>
                            <a:srgbClr val="1F2A24"/>
                          </a:solidFill>
                        </a:rPr>
                        <a:t>Usability study (SUS, 10–15 users) + ranger / officer interviews</a:t>
                      </a:r>
                    </a:p>
                  </a:txBody>
                  <a:tcPr marL="54864" marR="54864" marT="27432" marB="27432">
                    <a:solidFill>
                      <a:srgbClr val="FFFFFF"/>
                    </a:solidFill>
                  </a:tcPr>
                </a:tc>
              </a:tr>
              <a:tr h="566928">
                <a:tc>
                  <a:txBody>
                    <a:bodyPr/>
                    <a:lstStyle/>
                    <a:p>
                      <a:r>
                        <a:rPr sz="1300" b="0">
                          <a:solidFill>
                            <a:srgbClr val="1F2A24"/>
                          </a:solidFill>
                        </a:rPr>
                        <a:t>Planning model 2–90 days (P10–P90 ≈ 78 % coverage)</a:t>
                      </a:r>
                    </a:p>
                  </a:txBody>
                  <a:tcPr marL="54864" marR="54864" marT="27432" marB="27432">
                    <a:solidFill>
                      <a:srgbClr val="F4F7F5"/>
                    </a:solidFill>
                  </a:tcPr>
                </a:tc>
                <a:tc>
                  <a:txBody>
                    <a:bodyPr/>
                    <a:lstStyle/>
                    <a:p>
                      <a:r>
                        <a:rPr sz="1300" b="0">
                          <a:solidFill>
                            <a:srgbClr val="1F2A24"/>
                          </a:solidFill>
                        </a:rPr>
                        <a:t>Research paper draft; integration with the team app</a:t>
                      </a:r>
                    </a:p>
                  </a:txBody>
                  <a:tcPr marL="54864" marR="54864" marT="27432" marB="27432">
                    <a:solidFill>
                      <a:srgbClr val="F4F7F5"/>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058400" cy="1097280"/>
          </a:xfrm>
          <a:prstGeom prst="rect">
            <a:avLst/>
          </a:prstGeom>
          <a:noFill/>
        </p:spPr>
        <p:txBody>
          <a:bodyPr wrap="square" anchor="t">
            <a:spAutoFit/>
          </a:bodyPr>
          <a:lstStyle/>
          <a:p>
            <a:pPr algn="l"/>
            <a:r>
              <a:rPr sz="4800" b="1">
                <a:solidFill>
                  <a:srgbClr val="FFFFFF"/>
                </a:solidFill>
              </a:rPr>
              <a:t>Thank you</a:t>
            </a:r>
          </a:p>
        </p:txBody>
      </p:sp>
      <p:sp>
        <p:nvSpPr>
          <p:cNvPr id="4" name="TextBox 3"/>
          <p:cNvSpPr txBox="1"/>
          <p:nvPr/>
        </p:nvSpPr>
        <p:spPr>
          <a:xfrm>
            <a:off x="731520" y="3200400"/>
            <a:ext cx="10058400" cy="731520"/>
          </a:xfrm>
          <a:prstGeom prst="rect">
            <a:avLst/>
          </a:prstGeom>
          <a:noFill/>
        </p:spPr>
        <p:txBody>
          <a:bodyPr wrap="square" anchor="t">
            <a:spAutoFit/>
          </a:bodyPr>
          <a:lstStyle/>
          <a:p>
            <a:pPr algn="l"/>
            <a:r>
              <a:rPr sz="2600" b="0">
                <a:solidFill>
                  <a:srgbClr val="E0A100"/>
                </a:solidFill>
              </a:rPr>
              <a:t>Questions?</a:t>
            </a:r>
          </a:p>
        </p:txBody>
      </p:sp>
      <p:sp>
        <p:nvSpPr>
          <p:cNvPr id="5" name="TextBox 4"/>
          <p:cNvSpPr txBox="1"/>
          <p:nvPr/>
        </p:nvSpPr>
        <p:spPr>
          <a:xfrm>
            <a:off x="731520" y="5120640"/>
            <a:ext cx="10058400" cy="457200"/>
          </a:xfrm>
          <a:prstGeom prst="rect">
            <a:avLst/>
          </a:prstGeom>
          <a:noFill/>
        </p:spPr>
        <p:txBody>
          <a:bodyPr wrap="square" anchor="t">
            <a:spAutoFit/>
          </a:bodyPr>
          <a:lstStyle/>
          <a:p>
            <a:pPr algn="l"/>
            <a:r>
              <a:rPr sz="1600" b="0">
                <a:solidFill>
                  <a:srgbClr val="CFE3D7"/>
                </a:solidFill>
              </a:rPr>
              <a:t>Weerasekera J.V. · IT23343948 · Component 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320040"/>
          </a:xfrm>
          <a:prstGeom prst="rect">
            <a:avLst/>
          </a:prstGeom>
          <a:noFill/>
        </p:spPr>
        <p:txBody>
          <a:bodyPr wrap="square" anchor="t">
            <a:spAutoFit/>
          </a:bodyPr>
          <a:lstStyle/>
          <a:p>
            <a:pPr algn="l"/>
            <a:r>
              <a:rPr sz="1200" b="1">
                <a:solidFill>
                  <a:srgbClr val="2F6B4F"/>
                </a:solidFill>
              </a:rPr>
              <a:t>BACKUP</a:t>
            </a:r>
          </a:p>
        </p:txBody>
      </p:sp>
      <p:sp>
        <p:nvSpPr>
          <p:cNvPr id="4" name="TextBox 3"/>
          <p:cNvSpPr txBox="1"/>
          <p:nvPr/>
        </p:nvSpPr>
        <p:spPr>
          <a:xfrm>
            <a:off x="502920" y="566928"/>
            <a:ext cx="11247120" cy="731520"/>
          </a:xfrm>
          <a:prstGeom prst="rect">
            <a:avLst/>
          </a:prstGeom>
          <a:noFill/>
        </p:spPr>
        <p:txBody>
          <a:bodyPr wrap="square" anchor="t">
            <a:spAutoFit/>
          </a:bodyPr>
          <a:lstStyle/>
          <a:p>
            <a:pPr algn="l"/>
            <a:r>
              <a:rPr sz="2800" b="1">
                <a:solidFill>
                  <a:srgbClr val="1F2A24"/>
                </a:solidFill>
              </a:rPr>
              <a:t>Backup – Limitations (stated before you are asked)</a:t>
            </a:r>
          </a:p>
        </p:txBody>
      </p:sp>
      <p:sp>
        <p:nvSpPr>
          <p:cNvPr id="5" name="TextBox 4"/>
          <p:cNvSpPr txBox="1"/>
          <p:nvPr/>
        </p:nvSpPr>
        <p:spPr>
          <a:xfrm>
            <a:off x="8961120" y="6446520"/>
            <a:ext cx="3017520" cy="274320"/>
          </a:xfrm>
          <a:prstGeom prst="rect">
            <a:avLst/>
          </a:prstGeom>
          <a:noFill/>
        </p:spPr>
        <p:txBody>
          <a:bodyPr wrap="square" anchor="t">
            <a:spAutoFit/>
          </a:bodyPr>
          <a:lstStyle/>
          <a:p>
            <a:pPr algn="r"/>
            <a:r>
              <a:rPr sz="900" b="0">
                <a:solidFill>
                  <a:srgbClr val="6B7280"/>
                </a:solidFill>
              </a:rPr>
              <a:t>Component 4 · IT23343948 · 21</a:t>
            </a:r>
          </a:p>
        </p:txBody>
      </p:sp>
      <p:sp>
        <p:nvSpPr>
          <p:cNvPr id="6" name="TextBox 5"/>
          <p:cNvSpPr txBox="1"/>
          <p:nvPr/>
        </p:nvSpPr>
        <p:spPr>
          <a:xfrm>
            <a:off x="548640" y="1463040"/>
            <a:ext cx="11155680" cy="4846320"/>
          </a:xfrm>
          <a:prstGeom prst="rect">
            <a:avLst/>
          </a:prstGeom>
          <a:noFill/>
        </p:spPr>
        <p:txBody>
          <a:bodyPr wrap="square">
            <a:spAutoFit/>
          </a:bodyPr>
          <a:lstStyle/>
          <a:p>
            <a:pPr>
              <a:spcAft>
                <a:spcPts val="1200"/>
              </a:spcAft>
            </a:pPr>
            <a:r>
              <a:rPr sz="1600" b="1">
                <a:solidFill>
                  <a:srgbClr val="1F2A24"/>
                </a:solidFill>
              </a:rPr>
              <a:t>•  Synthetic target:</a:t>
            </a:r>
            <a:r>
              <a:rPr sz="1600">
                <a:solidFill>
                  <a:srgbClr val="1F2A24"/>
                </a:solidFill>
              </a:rPr>
              <a:t>  all results test the method on a simulator, not the real parks; every assumption is in docs/assumptions*.md with what would replace it</a:t>
            </a:r>
          </a:p>
          <a:p>
            <a:pPr>
              <a:spcAft>
                <a:spcPts val="1200"/>
              </a:spcAft>
            </a:pPr>
            <a:r>
              <a:rPr sz="1600" b="1">
                <a:solidFill>
                  <a:srgbClr val="1F2A24"/>
                </a:solidFill>
              </a:rPr>
              <a:t>•  Same simulator:</a:t>
            </a:r>
            <a:r>
              <a:rPr sz="1600">
                <a:solidFill>
                  <a:srgbClr val="1F2A24"/>
                </a:solidFill>
              </a:rPr>
              <a:t>  the control results (RQ3, RQ4) use the simulator that made the data</a:t>
            </a:r>
          </a:p>
          <a:p>
            <a:pPr>
              <a:spcAft>
                <a:spcPts val="1200"/>
              </a:spcAft>
            </a:pPr>
            <a:r>
              <a:rPr sz="1600" b="1">
                <a:solidFill>
                  <a:srgbClr val="1F2A24"/>
                </a:solidFill>
              </a:rPr>
              <a:t>•  Seeds:</a:t>
            </a:r>
            <a:r>
              <a:rPr sz="1600">
                <a:solidFill>
                  <a:srgbClr val="1F2A24"/>
                </a:solidFill>
              </a:rPr>
              <a:t>  Adam's Peak and transfer results use one seed; Horton temporal uses three</a:t>
            </a:r>
          </a:p>
          <a:p>
            <a:pPr>
              <a:spcAft>
                <a:spcPts val="1200"/>
              </a:spcAft>
            </a:pPr>
            <a:r>
              <a:rPr sz="1600" b="1">
                <a:solidFill>
                  <a:srgbClr val="1F2A24"/>
                </a:solidFill>
              </a:rPr>
              <a:t>•  Weather:</a:t>
            </a:r>
            <a:r>
              <a:rPr sz="1600">
                <a:solidFill>
                  <a:srgbClr val="1F2A24"/>
                </a:solidFill>
              </a:rPr>
              <a:t>  the day-ahead test uses observed weather (a perfect forecast) – an upper bound</a:t>
            </a:r>
          </a:p>
          <a:p>
            <a:pPr>
              <a:spcAft>
                <a:spcPts val="1200"/>
              </a:spcAft>
            </a:pPr>
            <a:r>
              <a:rPr sz="1600" b="1">
                <a:solidFill>
                  <a:srgbClr val="1F2A24"/>
                </a:solidFill>
              </a:rPr>
              <a:t>•  OSM gaps:</a:t>
            </a:r>
            <a:r>
              <a:rPr sz="1600">
                <a:solidFill>
                  <a:srgbClr val="1F2A24"/>
                </a:solidFill>
              </a:rPr>
              <a:t>  the last ~350 m to the Adam's Peak summit is an approximate link; minor routes not mapped</a:t>
            </a:r>
          </a:p>
          <a:p>
            <a:pPr>
              <a:spcAft>
                <a:spcPts val="1200"/>
              </a:spcAft>
            </a:pPr>
            <a:r>
              <a:rPr sz="1600" b="1">
                <a:solidFill>
                  <a:srgbClr val="1F2A24"/>
                </a:solidFill>
              </a:rPr>
              <a:t>•  Planning model:</a:t>
            </a:r>
            <a:r>
              <a:rPr sz="1600">
                <a:solidFill>
                  <a:srgbClr val="1F2A24"/>
                </a:solidFill>
              </a:rPr>
              <a:t>  daily totals no better than the calendar average (MAE ≈ 110 vs 108); segment-hour occupancy better (1.44 vs 1.65)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
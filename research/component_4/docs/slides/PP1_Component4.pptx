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yourself and the component in one sentence: I forecast where and when trails get crowded, a day to 90 days ahead, and turn that forecast into crowd control – at two very different sites. (~20 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implementation: Horton Plains uses a daily permit cap; Adam's Peak has no limit at all and relies on police on the night. Neither knows WHERE on the trail or WHEN the crowd will be. Stress the gap: no segment-level data exists, and nobody installs sensors – so it has to work from open data. (~60 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six objectives exactly as numbered in the proposal. Every one has working code and results; what is still open is said in the status column - field counts (December), two more traffic datasets, CHIRPS, and a real phone measurement. Novelty: ST-GNNs are proven on city traffic with hundreds of sensors; here 48-57 nodes and no sensors, and the forecast is judged by the decisions it improves. (~60 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to right: open data becomes a graph; the simulator makes the training target; two forecasters (day-ahead ST-GNN, 2-90 day planning model); capacity and control turn forecasts into decisions; the API serves the app. Every park is one config file. (~60 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Horton: three trails sharing an entrance, day visits. Adam's Peak: four OSM-mapped routes that meet at one summit, climbed at night – the bottleneck is a queue, not a crowded viewpoint. The last ~350 m to the summit is missing from OSM and is approximated (stated as a limitation). (~45 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architecture: per hour, a GCN mixes neighbouring segments, a GRU runs over the last 24 h, a decoder uses the known future weather and calendar. Key design choice: segments without counts send no messages in the first graph layer, so missing data is not read as 'empty'. Segments are described (viewpoint? minutes from trailhead? share of visitors?) instead of named, so the same model shape fits any park. (~75 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'how do you know it works'. Time split avoids leakage; spatial block CV tests the real deployment case (segments with no counts); pairs are forecast days because hourly errors are correlated; Holm correction for several baselines. Every run saves config, seed and git hash. (~45 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Hatched bars are the deployment case: segments with no counts. At Horton Plains the ST-GNN is best there (2.48 vs LSTM 2.59 vs historical average 4.20, p &lt; 0.001). With counts on every segment the networks tie at both parks (3 seeds; p = 0.12 and p = 0.09) - the earlier 'LSTM wins at Adam's Peak' was seed noise. An ST-GNN with an LSTM cell was tried and was worse, so it was dropped. At Adam's Peak on unseen segments the ST-GNN is worse vs the LSTM (p &lt; 0.001) overall: it is best on the two blocks of ordinary trail but loses on the block with the summit queue, which forms from the capacity of the final steps, not from what neighbouring segments look like. Next: give the model the queue state. (~75 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a typical busy day – the ST-GNN error at World's End is 6 people per hour vs 6 for the historical average. Right: the busiest day of 2025 – the actual peak is 608, the forecast only 191. Rare extreme days are underpredicted; that is exactly why the control side plans on the busy case (P90), see RQ3. (~45 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ticket fixes a trail and an entry time, so the simulator tells us where its holder will be. A linear programme sells tickets only while every segment stays under its Cifuentes capacity in every half hour. Replaying 2025: the current daily quota removes 73 % of over-capacity person-hours; slot tickets with moving remove 99.6 %, and let more people walk. (~45 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Turning pilgrims away is not acceptable. The danger is the queue on the steep final steps. Two measures: recommended start times per route (spread so the advice does not create a new peak – we found naive advice made queues 22 % worse), and officers at halfway rest stops who count passers and hold groups. Start times alone: −22 %. Both: no waiting on the final steps and −28 % waiting overall. (~60 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132 nights, advice computed before each night from different forecasts. The median forecast gets only 18 % of what perfect knowledge would, because it is too low on exactly the rare peak nights. Planning on the busy case (P90) gets all of it. Bootstrap 95 % interval of P90 vs P50 advice: -34,178 to -2,107 person-hours. This is why the officer console plans halfway checks on the busy case. (~60 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RQ2: a model from one park used unchanged at the other fails – the parks differ too much (day hike vs night pilgrimage). Pre-training does help a new park learn from little data (7 of 8 settings), but with under 90 days a historical average is as good: start a new park on the average and switch later. RQ4: start-time advice works when the final steps really are a bottleneck (≤ 25 people/min) and fades above 30; the flow is the number to measure in the field. (~60 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 objective O3. Same ST-GNN core pretrained on METR-LA (207 sensors) then PEMS-BAY (325), target = congestion. Then three ways to use it at each park, 3 seeds, paired tests over 365 test days. Answer: only at Horton Plains, only with 30-90 days of counts (−5 % and −12 % vs scratch, p &lt; 0.001). Not at Adam's Peak - a night pilgrimage with a summit queue looks nothing like road traffic. Zero-shot fails everywhere. With a full year the pretrained start slightly hurts (negative transfer). Honest, publishable answer to the gap. Next: freeze layers / gradual unfreezing and PeMS04/08. (~75 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 objective O6 and NFR1 (&lt; 2 s). Exported to ONNX: 1.9 ms for 24 hours x every segment on one laptop core, 13,665 parameters, about 100 KB. int8 quantisation was tested and rejected: it saves 2 KB and raises the error by 25 % at Adam's Peak. On the phone the same network runs in plain Dart from a 175 KB daily pack - identical to PyTorch within 0.0001 people - so tomorrow's forecast works with no signal on the mountain. Next: time it on a real Android phone. (~60 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 objective O2 says the agreement level is defined in the evaluation plan - it is now, and it was fixed today, before any counting, so it cannot be tuned afterwards. Both the simulated target and the forecast are compared. One visit day is held back: if the simulator is recalibrated with the counts, the held-back day is the honest test. The comparison tool is built and tested; it reads a simple counting sheet. (~45 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of the proposal on one screen. Left: every trail section coloured by how full the ST-GNN expects it to be at the chosen hour - forecast people divided by what the section holds at Cifuentes spacing - computed on the phone, so it also works in airplane mode. Drag the hour slider: at 08:00 World's End and Baker's Falls are over capacity. Right: the safe number per trail and for the park, set by the most limiting section, instead of one fixed quota. Officers get the same view as their first tab. (~60 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 rendered from the real API output. Trip planner: any number of destinations, read from config. Overview: week ahead and the quietest days. Calendar: 90-day crowd outlook. Day: expected crowd with a range and suggestions (other trail, later start, other day). Show the live demo if time allows – RUN_APP.md. (~45 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times per route with the expected wait. Ranger at a halfway rest stop enters counts; the app turns red (HOLD) and gives the release rate. The officer sees which nights may need checks (here: Christmas, stand by) and a night plan with hold windows. (~45 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Numbered exactly as in the proposal (section 5). Two are partial and say why: FR4 needs the data contract agreed with Module 3, NFR1 is measured on a laptop and in the Dart engine but not yet on a real phone. Extensions beyond the proposal are listed separately. Requirements are still provisional until the surveys come back - say this before you are asked. (~45 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R1 – it is the question examiners will ask. The mitigation is already in motion: every assumption is listed and parameterised, sensitivity analysis shows which ones matter, and field counts are planned. (~45 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Benefits are concrete: fewer dangerous queues, fairer access, revenue protected by booking instead of turning people away at the gate, data for planning staff. Business model: a per-site licence to the authority, small booking fee, and the same engine for other sites (Ella Rock, Knuckles, Sigiriya, Sinharaja) by adding a config. (~45 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twelve WBS tasks from the proposal (section 8). Nine are done or nearly done; field validation and team integration were always planned for later months in the Gantt chart (months 8-11). Build is ahead of plan; validation is on plan. About 65 % of the component overall. (~45 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open item has an owner (me), a date and a 'done when'. The two that depend on other people - the surveys and the Module 3 schema - are started first because they take elapsed time. (~45 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slides follow: limitations, planning model.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if asked about the synthetic data or validity.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png"/><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00600"/>
            <a:ext cx="12191695" cy="73152"/>
          </a:xfrm>
          <a:prstGeom prst="rect">
            <a:avLst/>
          </a:prstGeom>
          <a:solidFill>
            <a:srgbClr val="E0A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058400" cy="365760"/>
          </a:xfrm>
          <a:prstGeom prst="rect">
            <a:avLst/>
          </a:prstGeom>
          <a:noFill/>
        </p:spPr>
        <p:txBody>
          <a:bodyPr wrap="square" anchor="t">
            <a:spAutoFit/>
          </a:bodyPr>
          <a:lstStyle/>
          <a:p>
            <a:pPr algn="l"/>
            <a:r>
              <a:rPr sz="1400" b="1">
                <a:solidFill>
                  <a:srgbClr val="E0A100"/>
                </a:solidFill>
              </a:rPr>
              <a:t>PROGRESS PRESENTATION 1 · J26-IT-363 · COMPONENT 4</a:t>
            </a:r>
          </a:p>
        </p:txBody>
      </p:sp>
      <p:sp>
        <p:nvSpPr>
          <p:cNvPr id="5" name="TextBox 4"/>
          <p:cNvSpPr txBox="1"/>
          <p:nvPr/>
        </p:nvSpPr>
        <p:spPr>
          <a:xfrm>
            <a:off x="731520" y="1463040"/>
            <a:ext cx="10789920" cy="1828800"/>
          </a:xfrm>
          <a:prstGeom prst="rect">
            <a:avLst/>
          </a:prstGeom>
          <a:noFill/>
        </p:spPr>
        <p:txBody>
          <a:bodyPr wrap="square" anchor="t">
            <a:spAutoFit/>
          </a:bodyPr>
          <a:lstStyle/>
          <a:p>
            <a:pPr algn="l"/>
            <a:r>
              <a:rPr sz="3800" b="1">
                <a:solidFill>
                  <a:srgbClr val="FFFFFF"/>
                </a:solidFill>
              </a:rPr>
              <a:t>Forecasting trail bottlenecks and</a:t>
            </a:r>
          </a:p>
          <a:p>
            <a:pPr algn="l"/>
            <a:r>
              <a:rPr sz="3800" b="1">
                <a:solidFill>
                  <a:srgbClr val="FFFFFF"/>
                </a:solidFill>
              </a:rPr>
              <a:t>controlling crowds with a Spatio-Temporal GNN</a:t>
            </a:r>
          </a:p>
        </p:txBody>
      </p:sp>
      <p:sp>
        <p:nvSpPr>
          <p:cNvPr id="6" name="TextBox 5"/>
          <p:cNvSpPr txBox="1"/>
          <p:nvPr/>
        </p:nvSpPr>
        <p:spPr>
          <a:xfrm>
            <a:off x="731520" y="3429000"/>
            <a:ext cx="10058400" cy="457200"/>
          </a:xfrm>
          <a:prstGeom prst="rect">
            <a:avLst/>
          </a:prstGeom>
          <a:noFill/>
        </p:spPr>
        <p:txBody>
          <a:bodyPr wrap="square" anchor="t">
            <a:spAutoFit/>
          </a:bodyPr>
          <a:lstStyle/>
          <a:p>
            <a:pPr algn="l"/>
            <a:r>
              <a:rPr sz="2000" b="0">
                <a:solidFill>
                  <a:srgbClr val="CFE3D7"/>
                </a:solidFill>
              </a:rPr>
              <a:t>Horton Plains National Park  ·  Adam's Peak (Sri Pada)</a:t>
            </a:r>
          </a:p>
        </p:txBody>
      </p:sp>
      <p:sp>
        <p:nvSpPr>
          <p:cNvPr id="7" name="TextBox 6"/>
          <p:cNvSpPr txBox="1"/>
          <p:nvPr/>
        </p:nvSpPr>
        <p:spPr>
          <a:xfrm>
            <a:off x="731520" y="5120640"/>
            <a:ext cx="7315200" cy="914400"/>
          </a:xfrm>
          <a:prstGeom prst="rect">
            <a:avLst/>
          </a:prstGeom>
          <a:noFill/>
        </p:spPr>
        <p:txBody>
          <a:bodyPr wrap="square" anchor="t">
            <a:spAutoFit/>
          </a:bodyPr>
          <a:lstStyle/>
          <a:p>
            <a:pPr algn="l"/>
            <a:r>
              <a:rPr sz="1600" b="0">
                <a:solidFill>
                  <a:srgbClr val="FFFFFF"/>
                </a:solidFill>
              </a:rPr>
              <a:t>Weerasekera J.V.  ·  IT23343948</a:t>
            </a:r>
          </a:p>
          <a:p>
            <a:pPr algn="l"/>
            <a:r>
              <a:rPr sz="1600" b="0">
                <a:solidFill>
                  <a:srgbClr val="FFFFFF"/>
                </a:solidFill>
              </a:rPr>
              <a:t>Decentralized Hiking 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PROBLEM DEFINITION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Crowding is managed with a fixed daily number</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a:t>
            </a:r>
          </a:p>
        </p:txBody>
      </p:sp>
      <p:sp>
        <p:nvSpPr>
          <p:cNvPr id="6" name="TextBox 5"/>
          <p:cNvSpPr txBox="1"/>
          <p:nvPr/>
        </p:nvSpPr>
        <p:spPr>
          <a:xfrm>
            <a:off x="548640" y="1463040"/>
            <a:ext cx="6949440" cy="4572000"/>
          </a:xfrm>
          <a:prstGeom prst="rect">
            <a:avLst/>
          </a:prstGeom>
          <a:noFill/>
        </p:spPr>
        <p:txBody>
          <a:bodyPr wrap="square">
            <a:spAutoFit/>
          </a:bodyPr>
          <a:lstStyle/>
          <a:p>
            <a:pPr>
              <a:spcAft>
                <a:spcPts val="1200"/>
              </a:spcAft>
            </a:pPr>
            <a:r>
              <a:rPr sz="1700" b="1">
                <a:solidFill>
                  <a:srgbClr val="1F2A24"/>
                </a:solidFill>
              </a:rPr>
              <a:t>•  Horton Plains today:</a:t>
            </a:r>
            <a:r>
              <a:rPr sz="1700">
                <a:solidFill>
                  <a:srgbClr val="1F2A24"/>
                </a:solidFill>
              </a:rPr>
              <a:t>  a static daily permit quota (DWC). It cannot tell 300 people on a dry Poya morning from 50 in the rain, or where they bunch up – World's End fills up between 08:00 and 10:00.</a:t>
            </a:r>
          </a:p>
          <a:p>
            <a:pPr>
              <a:spcAft>
                <a:spcPts val="1200"/>
              </a:spcAft>
            </a:pPr>
            <a:r>
              <a:rPr sz="1700" b="1">
                <a:solidFill>
                  <a:srgbClr val="1F2A24"/>
                </a:solidFill>
              </a:rPr>
              <a:t>•  Adam's Peak today:</a:t>
            </a:r>
            <a:r>
              <a:rPr sz="1700">
                <a:solidFill>
                  <a:srgbClr val="1F2A24"/>
                </a:solidFill>
              </a:rPr>
              <a:t>  no limit and no tickets. On Poya nights thousands queue for hours on the steep final steps below the summit – a safety risk.</a:t>
            </a:r>
          </a:p>
          <a:p>
            <a:pPr>
              <a:spcAft>
                <a:spcPts val="1200"/>
              </a:spcAft>
            </a:pPr>
            <a:r>
              <a:rPr sz="1700" b="1">
                <a:solidFill>
                  <a:srgbClr val="1F2A24"/>
                </a:solidFill>
              </a:rPr>
              <a:t>•  Data gap:</a:t>
            </a:r>
            <a:r>
              <a:rPr sz="1700">
                <a:solidFill>
                  <a:srgbClr val="1F2A24"/>
                </a:solidFill>
              </a:rPr>
              <a:t>  authorities publish only park-level visitor totals. There are no counts per trail section, and no sensors on the trails.</a:t>
            </a:r>
          </a:p>
          <a:p>
            <a:pPr>
              <a:spcAft>
                <a:spcPts val="1200"/>
              </a:spcAft>
            </a:pPr>
            <a:r>
              <a:rPr sz="1700" b="1">
                <a:solidFill>
                  <a:srgbClr val="1F2A24"/>
                </a:solidFill>
              </a:rPr>
              <a:t>•  Missing tool:</a:t>
            </a:r>
            <a:r>
              <a:rPr sz="1700">
                <a:solidFill>
                  <a:srgbClr val="1F2A24"/>
                </a:solidFill>
              </a:rPr>
              <a:t>  nothing forecasts where and when a bottleneck will form, or turns that into a decision (how many to let in, when to start, when to hold groups).</a:t>
            </a:r>
          </a:p>
        </p:txBody>
      </p:sp>
      <p:sp>
        <p:nvSpPr>
          <p:cNvPr id="7" name="Rounded Rectangle 6"/>
          <p:cNvSpPr/>
          <p:nvPr/>
        </p:nvSpPr>
        <p:spPr>
          <a:xfrm>
            <a:off x="7863840" y="1645920"/>
            <a:ext cx="3840480" cy="3291840"/>
          </a:xfrm>
          <a:prstGeom prst="roundRect">
            <a:avLst>
              <a:gd name="adj" fmla="val 12000"/>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rPr>
              <a:t>Research question</a:t>
            </a:r>
          </a:p>
          <a:p>
            <a:pPr algn="ctr"/>
            <a:r>
              <a:rPr sz="1300" b="0">
                <a:solidFill>
                  <a:srgbClr val="FFFFFF"/>
                </a:solidFill>
              </a:rPr>
              <a:t/>
            </a:r>
          </a:p>
          <a:p>
            <a:pPr algn="ctr"/>
            <a:r>
              <a:rPr sz="1300" b="0">
                <a:solidFill>
                  <a:srgbClr val="FFFFFF"/>
                </a:solidFill>
              </a:rPr>
              <a:t>Can a Spatio-Temporal GNN, using only the trail graph, terrain, weather and calendar, forecast segment-level crowding and drive crowd control that replaces a static quota?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PROVEN GAP / CREATIVE SOLUTION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Proposal objectives and where each one stands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3</a:t>
            </a:r>
          </a:p>
        </p:txBody>
      </p:sp>
      <p:graphicFrame>
        <p:nvGraphicFramePr>
          <p:cNvPr id="6" name="Table 5"/>
          <p:cNvGraphicFramePr>
            <a:graphicFrameLocks noGrp="1"/>
          </p:cNvGraphicFramePr>
          <p:nvPr/>
        </p:nvGraphicFramePr>
        <p:xfrm>
          <a:off x="548640" y="1463040"/>
          <a:ext cx="11064240" cy="2304288"/>
        </p:xfrm>
        <a:graphic>
          <a:graphicData uri="http://schemas.openxmlformats.org/drawingml/2006/table">
            <a:tbl>
              <a:tblPr firstRow="1" bandRow="1">
                <a:tableStyleId>{5C22544A-7EE6-4342-B048-85BDC9FD1C3A}</a:tableStyleId>
              </a:tblPr>
              <a:tblGrid>
                <a:gridCol w="3931920"/>
                <a:gridCol w="4846320"/>
                <a:gridCol w="2286000"/>
              </a:tblGrid>
              <a:tr h="329184">
                <a:tc>
                  <a:txBody>
                    <a:bodyPr/>
                    <a:lstStyle/>
                    <a:p>
                      <a:r>
                        <a:rPr sz="1200" b="1">
                          <a:solidFill>
                            <a:srgbClr val="FFFFFF"/>
                          </a:solidFill>
                        </a:rPr>
                        <a:t>Proposal objective</a:t>
                      </a:r>
                    </a:p>
                  </a:txBody>
                  <a:tcPr marL="54864" marR="54864" marT="27432" marB="27432">
                    <a:solidFill>
                      <a:srgbClr val="2F6B4F"/>
                    </a:solidFill>
                  </a:tcPr>
                </a:tc>
                <a:tc>
                  <a:txBody>
                    <a:bodyPr/>
                    <a:lstStyle/>
                    <a:p>
                      <a:r>
                        <a:rPr sz="1200" b="1">
                          <a:solidFill>
                            <a:srgbClr val="FFFFFF"/>
                          </a:solidFill>
                        </a:rPr>
                        <a:t>What was built</a:t>
                      </a:r>
                    </a:p>
                  </a:txBody>
                  <a:tcPr marL="54864" marR="54864" marT="27432" marB="27432">
                    <a:solidFill>
                      <a:srgbClr val="2F6B4F"/>
                    </a:solidFill>
                  </a:tcPr>
                </a:tc>
                <a:tc>
                  <a:txBody>
                    <a:bodyPr/>
                    <a:lstStyle/>
                    <a:p>
                      <a:r>
                        <a:rPr sz="1200" b="1">
                          <a:solidFill>
                            <a:srgbClr val="FFFFFF"/>
                          </a:solidFill>
                        </a:rPr>
                        <a:t>Status</a:t>
                      </a:r>
                    </a:p>
                  </a:txBody>
                  <a:tcPr marL="54864" marR="54864" marT="27432" marB="27432">
                    <a:solidFill>
                      <a:srgbClr val="2F6B4F"/>
                    </a:solidFill>
                  </a:tcPr>
                </a:tc>
              </a:tr>
              <a:tr h="329184">
                <a:tc>
                  <a:txBody>
                    <a:bodyPr/>
                    <a:lstStyle/>
                    <a:p>
                      <a:r>
                        <a:rPr sz="1200" b="0">
                          <a:solidFill>
                            <a:srgbClr val="1F2A24"/>
                          </a:solidFill>
                        </a:rPr>
                        <a:t>O1  Trail graph + terrain + weather (open data)</a:t>
                      </a:r>
                    </a:p>
                  </a:txBody>
                  <a:tcPr marL="54864" marR="54864" marT="27432" marB="27432">
                    <a:solidFill>
                      <a:srgbClr val="FFFFFF"/>
                    </a:solidFill>
                  </a:tcPr>
                </a:tc>
                <a:tc>
                  <a:txBody>
                    <a:bodyPr/>
                    <a:lstStyle/>
                    <a:p>
                      <a:r>
                        <a:rPr sz="1200" b="0">
                          <a:solidFill>
                            <a:srgbClr val="1F2A24"/>
                          </a:solidFill>
                        </a:rPr>
                        <a:t>OSM graph, Copernicus DEM (slope, TWI), Open-Meteo/ERA5, calendar; 2 parks</a:t>
                      </a:r>
                    </a:p>
                  </a:txBody>
                  <a:tcPr marL="54864" marR="54864" marT="27432" marB="27432">
                    <a:solidFill>
                      <a:srgbClr val="FFFFFF"/>
                    </a:solidFill>
                  </a:tcPr>
                </a:tc>
                <a:tc>
                  <a:txBody>
                    <a:bodyPr/>
                    <a:lstStyle/>
                    <a:p>
                      <a:r>
                        <a:rPr sz="1200" b="0">
                          <a:solidFill>
                            <a:srgbClr val="1F2A24"/>
                          </a:solidFill>
                        </a:rPr>
                        <a:t>Done – CHIRPS / NASA POWER next</a:t>
                      </a:r>
                    </a:p>
                  </a:txBody>
                  <a:tcPr marL="54864" marR="54864" marT="27432" marB="27432">
                    <a:solidFill>
                      <a:srgbClr val="FFFFFF"/>
                    </a:solidFill>
                  </a:tcPr>
                </a:tc>
              </a:tr>
              <a:tr h="329184">
                <a:tc>
                  <a:txBody>
                    <a:bodyPr/>
                    <a:lstStyle/>
                    <a:p>
                      <a:r>
                        <a:rPr sz="1200" b="0">
                          <a:solidFill>
                            <a:srgbClr val="1F2A24"/>
                          </a:solidFill>
                        </a:rPr>
                        <a:t>O2  Synthetic target, validated with field counts</a:t>
                      </a:r>
                    </a:p>
                  </a:txBody>
                  <a:tcPr marL="54864" marR="54864" marT="27432" marB="27432">
                    <a:solidFill>
                      <a:srgbClr val="F4F7F5"/>
                    </a:solidFill>
                  </a:tcPr>
                </a:tc>
                <a:tc>
                  <a:txBody>
                    <a:bodyPr/>
                    <a:lstStyle/>
                    <a:p>
                      <a:r>
                        <a:rPr sz="1200" b="0">
                          <a:solidFill>
                            <a:srgbClr val="1F2A24"/>
                          </a:solidFill>
                        </a:rPr>
                        <a:t>Group-walking simulator; agreement criteria fixed before the visits</a:t>
                      </a:r>
                    </a:p>
                  </a:txBody>
                  <a:tcPr marL="54864" marR="54864" marT="27432" marB="27432">
                    <a:solidFill>
                      <a:srgbClr val="F4F7F5"/>
                    </a:solidFill>
                  </a:tcPr>
                </a:tc>
                <a:tc>
                  <a:txBody>
                    <a:bodyPr/>
                    <a:lstStyle/>
                    <a:p>
                      <a:r>
                        <a:rPr sz="1200" b="0">
                          <a:solidFill>
                            <a:srgbClr val="1F2A24"/>
                          </a:solidFill>
                        </a:rPr>
                        <a:t>Method done – counts Dec</a:t>
                      </a:r>
                    </a:p>
                  </a:txBody>
                  <a:tcPr marL="54864" marR="54864" marT="27432" marB="27432">
                    <a:solidFill>
                      <a:srgbClr val="F4F7F5"/>
                    </a:solidFill>
                  </a:tcPr>
                </a:tc>
              </a:tr>
              <a:tr h="329184">
                <a:tc>
                  <a:txBody>
                    <a:bodyPr/>
                    <a:lstStyle/>
                    <a:p>
                      <a:r>
                        <a:rPr sz="1200" b="0">
                          <a:solidFill>
                            <a:srgbClr val="1F2A24"/>
                          </a:solidFill>
                        </a:rPr>
                        <a:t>O3  Pretrain on traffic, adapt to the trail</a:t>
                      </a:r>
                    </a:p>
                  </a:txBody>
                  <a:tcPr marL="54864" marR="54864" marT="27432" marB="27432">
                    <a:solidFill>
                      <a:srgbClr val="FFFFFF"/>
                    </a:solidFill>
                  </a:tcPr>
                </a:tc>
                <a:tc>
                  <a:txBody>
                    <a:bodyPr/>
                    <a:lstStyle/>
                    <a:p>
                      <a:r>
                        <a:rPr sz="1200" b="0">
                          <a:solidFill>
                            <a:srgbClr val="1F2A24"/>
                          </a:solidFill>
                        </a:rPr>
                        <a:t>METR-LA → PEMS-BAY pretraining, fine-tuned on both parks (RQ5)</a:t>
                      </a:r>
                    </a:p>
                  </a:txBody>
                  <a:tcPr marL="54864" marR="54864" marT="27432" marB="27432">
                    <a:solidFill>
                      <a:srgbClr val="FFFFFF"/>
                    </a:solidFill>
                  </a:tcPr>
                </a:tc>
                <a:tc>
                  <a:txBody>
                    <a:bodyPr/>
                    <a:lstStyle/>
                    <a:p>
                      <a:r>
                        <a:rPr sz="1200" b="0">
                          <a:solidFill>
                            <a:srgbClr val="1F2A24"/>
                          </a:solidFill>
                        </a:rPr>
                        <a:t>Done – PeMS04/08 next</a:t>
                      </a:r>
                    </a:p>
                  </a:txBody>
                  <a:tcPr marL="54864" marR="54864" marT="27432" marB="27432">
                    <a:solidFill>
                      <a:srgbClr val="FFFFFF"/>
                    </a:solidFill>
                  </a:tcPr>
                </a:tc>
              </a:tr>
              <a:tr h="329184">
                <a:tc>
                  <a:txBody>
                    <a:bodyPr/>
                    <a:lstStyle/>
                    <a:p>
                      <a:r>
                        <a:rPr sz="1200" b="0">
                          <a:solidFill>
                            <a:srgbClr val="1F2A24"/>
                          </a:solidFill>
                        </a:rPr>
                        <a:t>O4  Benchmark vs HA, ARIMA, LSTM, paired t-test</a:t>
                      </a:r>
                    </a:p>
                  </a:txBody>
                  <a:tcPr marL="54864" marR="54864" marT="27432" marB="27432">
                    <a:solidFill>
                      <a:srgbClr val="F4F7F5"/>
                    </a:solidFill>
                  </a:tcPr>
                </a:tc>
                <a:tc>
                  <a:txBody>
                    <a:bodyPr/>
                    <a:lstStyle/>
                    <a:p>
                      <a:r>
                        <a:rPr sz="1200" b="0">
                          <a:solidFill>
                            <a:srgbClr val="1F2A24"/>
                          </a:solidFill>
                        </a:rPr>
                        <a:t>3 seeds, spatial block CV, Holm-corrected tests (RQ1)</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r>
              <a:tr h="329184">
                <a:tc>
                  <a:txBody>
                    <a:bodyPr/>
                    <a:lstStyle/>
                    <a:p>
                      <a:r>
                        <a:rPr sz="1200" b="0">
                          <a:solidFill>
                            <a:srgbClr val="1F2A24"/>
                          </a:solidFill>
                        </a:rPr>
                        <a:t>O5  Cifuentes PCC → RCC → ECC with the forecast</a:t>
                      </a:r>
                    </a:p>
                  </a:txBody>
                  <a:tcPr marL="54864" marR="54864" marT="27432" marB="27432">
                    <a:solidFill>
                      <a:srgbClr val="FFFFFF"/>
                    </a:solidFill>
                  </a:tcPr>
                </a:tc>
                <a:tc>
                  <a:txBody>
                    <a:bodyPr/>
                    <a:lstStyle/>
                    <a:p>
                      <a:r>
                        <a:rPr sz="1200" b="0">
                          <a:solidFill>
                            <a:srgbClr val="1F2A24"/>
                          </a:solidFill>
                        </a:rPr>
                        <a:t>Daily safe limit per trail: rain, wet ground, crowding, trail condition</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r>
              <a:tr h="329184">
                <a:tc>
                  <a:txBody>
                    <a:bodyPr/>
                    <a:lstStyle/>
                    <a:p>
                      <a:r>
                        <a:rPr sz="1200" b="0">
                          <a:solidFill>
                            <a:srgbClr val="1F2A24"/>
                          </a:solidFill>
                        </a:rPr>
                        <a:t>O6  Package for on-device inference</a:t>
                      </a:r>
                    </a:p>
                  </a:txBody>
                  <a:tcPr marL="54864" marR="54864" marT="27432" marB="27432">
                    <a:solidFill>
                      <a:srgbClr val="F4F7F5"/>
                    </a:solidFill>
                  </a:tcPr>
                </a:tc>
                <a:tc>
                  <a:txBody>
                    <a:bodyPr/>
                    <a:lstStyle/>
                    <a:p>
                      <a:r>
                        <a:rPr sz="1200" b="0">
                          <a:solidFill>
                            <a:srgbClr val="1F2A24"/>
                          </a:solidFill>
                        </a:rPr>
                        <a:t>ONNX + int8 tested; ST-GNN runs in Dart on the phone, offline (RQ6)</a:t>
                      </a:r>
                    </a:p>
                  </a:txBody>
                  <a:tcPr marL="54864" marR="54864" marT="27432" marB="27432">
                    <a:solidFill>
                      <a:srgbClr val="F4F7F5"/>
                    </a:solidFill>
                  </a:tcPr>
                </a:tc>
                <a:tc>
                  <a:txBody>
                    <a:bodyPr/>
                    <a:lstStyle/>
                    <a:p>
                      <a:r>
                        <a:rPr sz="1200" b="0">
                          <a:solidFill>
                            <a:srgbClr val="1F2A24"/>
                          </a:solidFill>
                        </a:rPr>
                        <a:t>Done – phone timing next</a:t>
                      </a:r>
                    </a:p>
                  </a:txBody>
                  <a:tcPr marL="54864" marR="54864" marT="27432" marB="27432">
                    <a:solidFill>
                      <a:srgbClr val="F4F7F5"/>
                    </a:solidFill>
                  </a:tcPr>
                </a:tc>
              </a:tr>
            </a:tbl>
          </a:graphicData>
        </a:graphic>
      </p:graphicFrame>
      <p:sp>
        <p:nvSpPr>
          <p:cNvPr id="7" name="Rounded Rectangle 6"/>
          <p:cNvSpPr/>
          <p:nvPr/>
        </p:nvSpPr>
        <p:spPr>
          <a:xfrm>
            <a:off x="548640" y="4480560"/>
            <a:ext cx="3566160" cy="137160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Novelty 1</a:t>
            </a:r>
          </a:p>
          <a:p>
            <a:pPr algn="ctr"/>
            <a:r>
              <a:rPr sz="1100" b="0">
                <a:solidFill>
                  <a:srgbClr val="1F2A24"/>
                </a:solidFill>
              </a:rPr>
              <a:t>ST-GNN on a tiny (48–57 node), sensor-free trail graph – tested against baselines, not assumed</a:t>
            </a:r>
          </a:p>
        </p:txBody>
      </p:sp>
      <p:sp>
        <p:nvSpPr>
          <p:cNvPr id="8" name="Rounded Rectangle 7"/>
          <p:cNvSpPr/>
          <p:nvPr/>
        </p:nvSpPr>
        <p:spPr>
          <a:xfrm>
            <a:off x="4297680" y="4480560"/>
            <a:ext cx="3566160" cy="137160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Novelty 2</a:t>
            </a:r>
          </a:p>
          <a:p>
            <a:pPr algn="ctr"/>
            <a:r>
              <a:rPr sz="1100" b="0">
                <a:solidFill>
                  <a:srgbClr val="1F2A24"/>
                </a:solidFill>
              </a:rPr>
              <a:t>Forecast judged by the decision it improves (crowd control), not only by its error</a:t>
            </a:r>
          </a:p>
        </p:txBody>
      </p:sp>
      <p:sp>
        <p:nvSpPr>
          <p:cNvPr id="9" name="Rounded Rectangle 8"/>
          <p:cNvSpPr/>
          <p:nvPr/>
        </p:nvSpPr>
        <p:spPr>
          <a:xfrm>
            <a:off x="8046720" y="4480560"/>
            <a:ext cx="3566160" cy="137160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Novelty 3</a:t>
            </a:r>
          </a:p>
          <a:p>
            <a:pPr algn="ctr"/>
            <a:r>
              <a:rPr sz="1100" b="0">
                <a:solidFill>
                  <a:srgbClr val="1F2A24"/>
                </a:solidFill>
              </a:rPr>
              <a:t>One pipeline, two kinds of site: ticketed park and no-ticket pilgrimage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DESIGN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System overview</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4</a:t>
            </a:r>
          </a:p>
        </p:txBody>
      </p:sp>
      <p:sp>
        <p:nvSpPr>
          <p:cNvPr id="6" name="Rounded Rectangle 5"/>
          <p:cNvSpPr/>
          <p:nvPr/>
        </p:nvSpPr>
        <p:spPr>
          <a:xfrm>
            <a:off x="502920" y="1737360"/>
            <a:ext cx="1737360" cy="105156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Open data</a:t>
            </a:r>
          </a:p>
          <a:p>
            <a:pPr algn="ctr"/>
            <a:r>
              <a:rPr sz="1100" b="0">
                <a:solidFill>
                  <a:srgbClr val="1F2A24"/>
                </a:solidFill>
              </a:rPr>
              <a:t>OSM · DEM · weather</a:t>
            </a:r>
          </a:p>
          <a:p>
            <a:pPr algn="ctr"/>
            <a:r>
              <a:rPr sz="1100" b="0">
                <a:solidFill>
                  <a:srgbClr val="1F2A24"/>
                </a:solidFill>
              </a:rPr>
              <a:t>calendar · Poya</a:t>
            </a:r>
          </a:p>
        </p:txBody>
      </p:sp>
      <p:sp>
        <p:nvSpPr>
          <p:cNvPr id="7" name="Rounded Rectangle 6"/>
          <p:cNvSpPr/>
          <p:nvPr/>
        </p:nvSpPr>
        <p:spPr>
          <a:xfrm>
            <a:off x="2404872" y="1737360"/>
            <a:ext cx="1737360" cy="105156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Trail graph</a:t>
            </a:r>
          </a:p>
          <a:p>
            <a:pPr algn="ctr"/>
            <a:r>
              <a:rPr sz="1100" b="0">
                <a:solidFill>
                  <a:srgbClr val="1F2A24"/>
                </a:solidFill>
              </a:rPr>
              <a:t>300–500 m segments</a:t>
            </a:r>
          </a:p>
          <a:p>
            <a:pPr algn="ctr"/>
            <a:r>
              <a:rPr sz="1100" b="0">
                <a:solidFill>
                  <a:srgbClr val="1F2A24"/>
                </a:solidFill>
              </a:rPr>
              <a:t>terrain features</a:t>
            </a:r>
          </a:p>
        </p:txBody>
      </p:sp>
      <p:cxnSp>
        <p:nvCxnSpPr>
          <p:cNvPr id="8" name="Connector 7"/>
          <p:cNvCxnSpPr/>
          <p:nvPr/>
        </p:nvCxnSpPr>
        <p:spPr>
          <a:xfrm>
            <a:off x="2240280"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306824" y="1737360"/>
            <a:ext cx="1737360" cy="1051560"/>
          </a:xfrm>
          <a:prstGeom prst="roundRect">
            <a:avLst>
              <a:gd name="adj" fmla="val 12000"/>
            </a:avLst>
          </a:prstGeom>
          <a:solidFill>
            <a:srgbClr val="FFF4D6"/>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Simulator</a:t>
            </a:r>
          </a:p>
          <a:p>
            <a:pPr algn="ctr"/>
            <a:r>
              <a:rPr sz="1100" b="0">
                <a:solidFill>
                  <a:srgbClr val="1F2A24"/>
                </a:solidFill>
              </a:rPr>
              <a:t>groups walk the graph</a:t>
            </a:r>
          </a:p>
          <a:p>
            <a:pPr algn="ctr"/>
            <a:r>
              <a:rPr sz="1100" b="0">
                <a:solidFill>
                  <a:srgbClr val="1F2A24"/>
                </a:solidFill>
              </a:rPr>
              <a:t>→ occupancy target</a:t>
            </a:r>
          </a:p>
        </p:txBody>
      </p:sp>
      <p:cxnSp>
        <p:nvCxnSpPr>
          <p:cNvPr id="10" name="Connector 9"/>
          <p:cNvCxnSpPr/>
          <p:nvPr/>
        </p:nvCxnSpPr>
        <p:spPr>
          <a:xfrm>
            <a:off x="4142232"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208776" y="1737360"/>
            <a:ext cx="1737360" cy="105156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Forecasting</a:t>
            </a:r>
          </a:p>
          <a:p>
            <a:pPr algn="ctr"/>
            <a:r>
              <a:rPr sz="1100" b="0">
                <a:solidFill>
                  <a:srgbClr val="1F2A24"/>
                </a:solidFill>
              </a:rPr>
              <a:t>ST-GNN (day ahead)</a:t>
            </a:r>
          </a:p>
          <a:p>
            <a:pPr algn="ctr"/>
            <a:r>
              <a:rPr sz="1100" b="0">
                <a:solidFill>
                  <a:srgbClr val="1F2A24"/>
                </a:solidFill>
              </a:rPr>
              <a:t>planning model (90 d)</a:t>
            </a:r>
          </a:p>
        </p:txBody>
      </p:sp>
      <p:cxnSp>
        <p:nvCxnSpPr>
          <p:cNvPr id="12" name="Connector 11"/>
          <p:cNvCxnSpPr/>
          <p:nvPr/>
        </p:nvCxnSpPr>
        <p:spPr>
          <a:xfrm>
            <a:off x="6044184"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110728" y="1737360"/>
            <a:ext cx="1737360" cy="105156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Capacity &amp; control</a:t>
            </a:r>
          </a:p>
          <a:p>
            <a:pPr algn="ctr"/>
            <a:r>
              <a:rPr sz="1100" b="0">
                <a:solidFill>
                  <a:srgbClr val="1F2A24"/>
                </a:solidFill>
              </a:rPr>
              <a:t>Cifuentes · slot LP</a:t>
            </a:r>
          </a:p>
          <a:p>
            <a:pPr algn="ctr"/>
            <a:r>
              <a:rPr sz="1100" b="0">
                <a:solidFill>
                  <a:srgbClr val="1F2A24"/>
                </a:solidFill>
              </a:rPr>
              <a:t>start times · holds</a:t>
            </a:r>
          </a:p>
        </p:txBody>
      </p:sp>
      <p:cxnSp>
        <p:nvCxnSpPr>
          <p:cNvPr id="14" name="Connector 13"/>
          <p:cNvCxnSpPr/>
          <p:nvPr/>
        </p:nvCxnSpPr>
        <p:spPr>
          <a:xfrm>
            <a:off x="7946136"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0012680" y="1737360"/>
            <a:ext cx="1737360" cy="1051560"/>
          </a:xfrm>
          <a:prstGeom prst="roundRect">
            <a:avLst>
              <a:gd name="adj" fmla="val 12000"/>
            </a:avLst>
          </a:prstGeom>
          <a:solidFill>
            <a:srgbClr val="E3EAF5"/>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Service</a:t>
            </a:r>
          </a:p>
          <a:p>
            <a:pPr algn="ctr"/>
            <a:r>
              <a:rPr sz="1100" b="0">
                <a:solidFill>
                  <a:srgbClr val="1F2A24"/>
                </a:solidFill>
              </a:rPr>
              <a:t>FastAPI per park</a:t>
            </a:r>
          </a:p>
          <a:p>
            <a:pPr algn="ctr"/>
            <a:r>
              <a:rPr sz="1100" b="0">
                <a:solidFill>
                  <a:srgbClr val="1F2A24"/>
                </a:solidFill>
              </a:rPr>
              <a:t>gateway · Flutter app</a:t>
            </a:r>
          </a:p>
        </p:txBody>
      </p:sp>
      <p:cxnSp>
        <p:nvCxnSpPr>
          <p:cNvPr id="16" name="Connector 15"/>
          <p:cNvCxnSpPr/>
          <p:nvPr/>
        </p:nvCxnSpPr>
        <p:spPr>
          <a:xfrm>
            <a:off x="9848088"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3154680"/>
            <a:ext cx="11155680" cy="3108960"/>
          </a:xfrm>
          <a:prstGeom prst="rect">
            <a:avLst/>
          </a:prstGeom>
          <a:noFill/>
        </p:spPr>
        <p:txBody>
          <a:bodyPr wrap="square">
            <a:spAutoFit/>
          </a:bodyPr>
          <a:lstStyle/>
          <a:p>
            <a:pPr>
              <a:spcAft>
                <a:spcPts val="1000"/>
              </a:spcAft>
            </a:pPr>
            <a:r>
              <a:rPr sz="1600" b="1">
                <a:solidFill>
                  <a:srgbClr val="1F2A24"/>
                </a:solidFill>
              </a:rPr>
              <a:t>•  Per park:</a:t>
            </a:r>
            <a:r>
              <a:rPr sz="1600">
                <a:solidFill>
                  <a:srgbClr val="1F2A24"/>
                </a:solidFill>
              </a:rPr>
              <a:t>  one YAML file (configs/parks/*.yaml) – adding a destination needs no code or app change</a:t>
            </a:r>
          </a:p>
          <a:p>
            <a:pPr>
              <a:spcAft>
                <a:spcPts val="1000"/>
              </a:spcAft>
            </a:pPr>
            <a:r>
              <a:rPr sz="1600" b="1">
                <a:solidFill>
                  <a:srgbClr val="1F2A24"/>
                </a:solidFill>
              </a:rPr>
              <a:t>•  Two horizons:</a:t>
            </a:r>
            <a:r>
              <a:rPr sz="1600">
                <a:solidFill>
                  <a:srgbClr val="1F2A24"/>
                </a:solidFill>
              </a:rPr>
              <a:t>  day-ahead hourly occupancy per segment (ST-GNN) and a 2–90 day outlook with a P10–P90 range</a:t>
            </a:r>
          </a:p>
          <a:p>
            <a:pPr>
              <a:spcAft>
                <a:spcPts val="1000"/>
              </a:spcAft>
            </a:pPr>
            <a:r>
              <a:rPr sz="1600" b="1">
                <a:solidFill>
                  <a:srgbClr val="1F2A24"/>
                </a:solidFill>
              </a:rPr>
              <a:t>•  Two control styles:</a:t>
            </a:r>
            <a:r>
              <a:rPr sz="1600">
                <a:solidFill>
                  <a:srgbClr val="1F2A24"/>
                </a:solidFill>
              </a:rPr>
              <a:t>  Horton Plains – timed tickets per trail and 30-min slot; Adam's Peak – advice only (recommended start times + officer holds at halfway rest stops)</a:t>
            </a:r>
          </a:p>
          <a:p>
            <a:pPr>
              <a:spcAft>
                <a:spcPts val="1000"/>
              </a:spcAft>
            </a:pPr>
            <a:r>
              <a:rPr sz="1600" b="1">
                <a:solidFill>
                  <a:srgbClr val="1F2A24"/>
                </a:solidFill>
              </a:rPr>
              <a:t>•  Users:</a:t>
            </a:r>
            <a:r>
              <a:rPr sz="1600">
                <a:solidFill>
                  <a:srgbClr val="1F2A24"/>
                </a:solidFill>
              </a:rPr>
              <a:t>  visitors / pilgrims (plan, book, start times), rangers (gate, halfway counts), officers (season plan, closures), admin (audit)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APPLICATION OF KNOWLEDGE</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Two study sites, built from open data only</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5</a:t>
            </a:r>
          </a:p>
        </p:txBody>
      </p:sp>
      <p:pic>
        <p:nvPicPr>
          <p:cNvPr id="6" name="Picture 5" descr="map_horton_plains.png"/>
          <p:cNvPicPr>
            <a:picLocks noChangeAspect="1"/>
          </p:cNvPicPr>
          <p:nvPr/>
        </p:nvPicPr>
        <p:blipFill>
          <a:blip r:embed="rId3"/>
          <a:stretch>
            <a:fillRect/>
          </a:stretch>
        </p:blipFill>
        <p:spPr>
          <a:xfrm>
            <a:off x="457200" y="1371600"/>
            <a:ext cx="4444779" cy="3931920"/>
          </a:xfrm>
          <a:prstGeom prst="rect">
            <a:avLst/>
          </a:prstGeom>
        </p:spPr>
      </p:pic>
      <p:pic>
        <p:nvPicPr>
          <p:cNvPr id="7" name="Picture 6" descr="map_adams_peak.png"/>
          <p:cNvPicPr>
            <a:picLocks noChangeAspect="1"/>
          </p:cNvPicPr>
          <p:nvPr/>
        </p:nvPicPr>
        <p:blipFill>
          <a:blip r:embed="rId4"/>
          <a:stretch>
            <a:fillRect/>
          </a:stretch>
        </p:blipFill>
        <p:spPr>
          <a:xfrm>
            <a:off x="4937760" y="1371600"/>
            <a:ext cx="4444779" cy="3931920"/>
          </a:xfrm>
          <a:prstGeom prst="rect">
            <a:avLst/>
          </a:prstGeom>
        </p:spPr>
      </p:pic>
      <p:sp>
        <p:nvSpPr>
          <p:cNvPr id="8" name="TextBox 7"/>
          <p:cNvSpPr txBox="1"/>
          <p:nvPr/>
        </p:nvSpPr>
        <p:spPr>
          <a:xfrm>
            <a:off x="9144000" y="1463040"/>
            <a:ext cx="2834640" cy="4754880"/>
          </a:xfrm>
          <a:prstGeom prst="rect">
            <a:avLst/>
          </a:prstGeom>
          <a:noFill/>
        </p:spPr>
        <p:txBody>
          <a:bodyPr wrap="square">
            <a:spAutoFit/>
          </a:bodyPr>
          <a:lstStyle/>
          <a:p>
            <a:pPr>
              <a:spcAft>
                <a:spcPts val="800"/>
              </a:spcAft>
            </a:pPr>
            <a:r>
              <a:rPr sz="1200" b="1">
                <a:solidFill>
                  <a:srgbClr val="1F2A24"/>
                </a:solidFill>
              </a:rPr>
              <a:t>•  Graph:</a:t>
            </a:r>
            <a:r>
              <a:rPr sz="1200">
                <a:solidFill>
                  <a:srgbClr val="1F2A24"/>
                </a:solidFill>
              </a:rPr>
              <a:t>  OpenStreetMap paths split into ~300 m (Horton) / ~500 m (Adam's Peak) segments</a:t>
            </a:r>
          </a:p>
          <a:p>
            <a:pPr>
              <a:spcAft>
                <a:spcPts val="800"/>
              </a:spcAft>
            </a:pPr>
            <a:r>
              <a:rPr sz="1200" b="1">
                <a:solidFill>
                  <a:srgbClr val="1F2A24"/>
                </a:solidFill>
              </a:rPr>
              <a:t>•  Terrain:</a:t>
            </a:r>
            <a:r>
              <a:rPr sz="1200">
                <a:solidFill>
                  <a:srgbClr val="1F2A24"/>
                </a:solidFill>
              </a:rPr>
              <a:t>  Copernicus 30 m DEM – slope, TWI, Tobler walking time, stairs</a:t>
            </a:r>
          </a:p>
          <a:p>
            <a:pPr>
              <a:spcAft>
                <a:spcPts val="800"/>
              </a:spcAft>
            </a:pPr>
            <a:r>
              <a:rPr sz="1200" b="1">
                <a:solidFill>
                  <a:srgbClr val="1F2A24"/>
                </a:solidFill>
              </a:rPr>
              <a:t>•  Weather:</a:t>
            </a:r>
            <a:r>
              <a:rPr sz="1200">
                <a:solidFill>
                  <a:srgbClr val="1F2A24"/>
                </a:solidFill>
              </a:rPr>
              <a:t>  Open-Meteo archive + 16-day forecast</a:t>
            </a:r>
          </a:p>
          <a:p>
            <a:pPr>
              <a:spcAft>
                <a:spcPts val="800"/>
              </a:spcAft>
            </a:pPr>
            <a:r>
              <a:rPr sz="1200" b="1">
                <a:solidFill>
                  <a:srgbClr val="1F2A24"/>
                </a:solidFill>
              </a:rPr>
              <a:t>•  Calendar:</a:t>
            </a:r>
            <a:r>
              <a:rPr sz="1200">
                <a:solidFill>
                  <a:srgbClr val="1F2A24"/>
                </a:solidFill>
              </a:rPr>
              <a:t>  public holidays, Poya days (estimated after 2026), school holidays, pilgrimage season</a:t>
            </a:r>
          </a:p>
          <a:p>
            <a:pPr>
              <a:spcAft>
                <a:spcPts val="800"/>
              </a:spcAft>
            </a:pPr>
            <a:r>
              <a:rPr sz="1200" b="1">
                <a:solidFill>
                  <a:srgbClr val="1F2A24"/>
                </a:solidFill>
              </a:rPr>
              <a:t>•  No personal data:</a:t>
            </a:r>
            <a:r>
              <a:rPr sz="1200">
                <a:solidFill>
                  <a:srgbClr val="1F2A24"/>
                </a:solidFill>
              </a:rPr>
              <a:t>  counts only</a:t>
            </a:r>
          </a:p>
        </p:txBody>
      </p:sp>
      <p:sp>
        <p:nvSpPr>
          <p:cNvPr id="9" name="TextBox 8"/>
          <p:cNvSpPr txBox="1"/>
          <p:nvPr/>
        </p:nvSpPr>
        <p:spPr>
          <a:xfrm>
            <a:off x="548640" y="5440680"/>
            <a:ext cx="8229600" cy="365760"/>
          </a:xfrm>
          <a:prstGeom prst="rect">
            <a:avLst/>
          </a:prstGeom>
          <a:noFill/>
        </p:spPr>
        <p:txBody>
          <a:bodyPr wrap="square" anchor="t">
            <a:spAutoFit/>
          </a:bodyPr>
          <a:lstStyle/>
          <a:p>
            <a:pPr algn="l"/>
            <a:r>
              <a:rPr sz="1100" b="0">
                <a:solidFill>
                  <a:srgbClr val="6B7280"/>
                </a:solidFill>
              </a:rPr>
              <a:t>▲ viewpoint   ★ summit   ■ halfway checkpoint   ○ start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APPLICATION OF TECHNOLOGIES</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The ST-GNN and the technologies behind it</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6</a:t>
            </a:r>
          </a:p>
        </p:txBody>
      </p:sp>
      <p:sp>
        <p:nvSpPr>
          <p:cNvPr id="6" name="Rounded Rectangle 5"/>
          <p:cNvSpPr/>
          <p:nvPr/>
        </p:nvSpPr>
        <p:spPr>
          <a:xfrm>
            <a:off x="502920" y="1508760"/>
            <a:ext cx="1691640" cy="100584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Last 24 h</a:t>
            </a:r>
          </a:p>
          <a:p>
            <a:pPr algn="ctr"/>
            <a:r>
              <a:rPr sz="1000" b="0">
                <a:solidFill>
                  <a:srgbClr val="1F2A24"/>
                </a:solidFill>
              </a:rPr>
              <a:t>counts + weather</a:t>
            </a:r>
          </a:p>
          <a:p>
            <a:pPr algn="ctr"/>
            <a:r>
              <a:rPr sz="1000" b="0">
                <a:solidFill>
                  <a:srgbClr val="1F2A24"/>
                </a:solidFill>
              </a:rPr>
              <a:t>+ calendar</a:t>
            </a:r>
          </a:p>
        </p:txBody>
      </p:sp>
      <p:sp>
        <p:nvSpPr>
          <p:cNvPr id="7" name="Rounded Rectangle 6"/>
          <p:cNvSpPr/>
          <p:nvPr/>
        </p:nvSpPr>
        <p:spPr>
          <a:xfrm>
            <a:off x="2395728" y="1508760"/>
            <a:ext cx="1691640" cy="100584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GCN × 2</a:t>
            </a:r>
          </a:p>
          <a:p>
            <a:pPr algn="ctr"/>
            <a:r>
              <a:rPr sz="1000" b="0">
                <a:solidFill>
                  <a:srgbClr val="1F2A24"/>
                </a:solidFill>
              </a:rPr>
              <a:t>neighbouring</a:t>
            </a:r>
          </a:p>
          <a:p>
            <a:pPr algn="ctr"/>
            <a:r>
              <a:rPr sz="1000" b="0">
                <a:solidFill>
                  <a:srgbClr val="1F2A24"/>
                </a:solidFill>
              </a:rPr>
              <a:t>segments</a:t>
            </a:r>
          </a:p>
        </p:txBody>
      </p:sp>
      <p:cxnSp>
        <p:nvCxnSpPr>
          <p:cNvPr id="8" name="Connector 7"/>
          <p:cNvCxnSpPr/>
          <p:nvPr/>
        </p:nvCxnSpPr>
        <p:spPr>
          <a:xfrm>
            <a:off x="2194560"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288536" y="1508760"/>
            <a:ext cx="1691640" cy="100584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GRU</a:t>
            </a:r>
          </a:p>
          <a:p>
            <a:pPr algn="ctr"/>
            <a:r>
              <a:rPr sz="1000" b="0">
                <a:solidFill>
                  <a:srgbClr val="1F2A24"/>
                </a:solidFill>
              </a:rPr>
              <a:t>over time</a:t>
            </a:r>
          </a:p>
        </p:txBody>
      </p:sp>
      <p:cxnSp>
        <p:nvCxnSpPr>
          <p:cNvPr id="10" name="Connector 9"/>
          <p:cNvCxnSpPr/>
          <p:nvPr/>
        </p:nvCxnSpPr>
        <p:spPr>
          <a:xfrm>
            <a:off x="4087368"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181344" y="1508760"/>
            <a:ext cx="1691640" cy="100584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GCN</a:t>
            </a:r>
          </a:p>
          <a:p>
            <a:pPr algn="ctr"/>
            <a:r>
              <a:rPr sz="1000" b="0">
                <a:solidFill>
                  <a:srgbClr val="1F2A24"/>
                </a:solidFill>
              </a:rPr>
              <a:t>spread state</a:t>
            </a:r>
          </a:p>
        </p:txBody>
      </p:sp>
      <p:cxnSp>
        <p:nvCxnSpPr>
          <p:cNvPr id="12" name="Connector 11"/>
          <p:cNvCxnSpPr/>
          <p:nvPr/>
        </p:nvCxnSpPr>
        <p:spPr>
          <a:xfrm>
            <a:off x="5980176"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074152" y="1508760"/>
            <a:ext cx="1691640" cy="100584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Decoder</a:t>
            </a:r>
          </a:p>
          <a:p>
            <a:pPr algn="ctr"/>
            <a:r>
              <a:rPr sz="1000" b="0">
                <a:solidFill>
                  <a:srgbClr val="1F2A24"/>
                </a:solidFill>
              </a:rPr>
              <a:t>next 24 h weather</a:t>
            </a:r>
          </a:p>
          <a:p>
            <a:pPr algn="ctr"/>
            <a:r>
              <a:rPr sz="1000" b="0">
                <a:solidFill>
                  <a:srgbClr val="1F2A24"/>
                </a:solidFill>
              </a:rPr>
              <a:t>+ calendar</a:t>
            </a:r>
          </a:p>
        </p:txBody>
      </p:sp>
      <p:cxnSp>
        <p:nvCxnSpPr>
          <p:cNvPr id="14" name="Connector 13"/>
          <p:cNvCxnSpPr/>
          <p:nvPr/>
        </p:nvCxnSpPr>
        <p:spPr>
          <a:xfrm>
            <a:off x="7872984"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966960" y="1508760"/>
            <a:ext cx="1691640" cy="1005840"/>
          </a:xfrm>
          <a:prstGeom prst="roundRect">
            <a:avLst>
              <a:gd name="adj" fmla="val 12000"/>
            </a:avLst>
          </a:prstGeom>
          <a:solidFill>
            <a:srgbClr val="FFF4D6"/>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Occupancy</a:t>
            </a:r>
          </a:p>
          <a:p>
            <a:pPr algn="ctr"/>
            <a:r>
              <a:rPr sz="1000" b="0">
                <a:solidFill>
                  <a:srgbClr val="1F2A24"/>
                </a:solidFill>
              </a:rPr>
              <a:t>per segment</a:t>
            </a:r>
          </a:p>
          <a:p>
            <a:pPr algn="ctr"/>
            <a:r>
              <a:rPr sz="1000" b="0">
                <a:solidFill>
                  <a:srgbClr val="1F2A24"/>
                </a:solidFill>
              </a:rPr>
              <a:t>per hour</a:t>
            </a:r>
          </a:p>
        </p:txBody>
      </p:sp>
      <p:cxnSp>
        <p:nvCxnSpPr>
          <p:cNvPr id="16" name="Connector 15"/>
          <p:cNvCxnSpPr/>
          <p:nvPr/>
        </p:nvCxnSpPr>
        <p:spPr>
          <a:xfrm>
            <a:off x="9765792"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7" name="Table 16"/>
          <p:cNvGraphicFramePr>
            <a:graphicFrameLocks noGrp="1"/>
          </p:cNvGraphicFramePr>
          <p:nvPr/>
        </p:nvGraphicFramePr>
        <p:xfrm>
          <a:off x="548640" y="2880360"/>
          <a:ext cx="7589520" cy="2962656"/>
        </p:xfrm>
        <a:graphic>
          <a:graphicData uri="http://schemas.openxmlformats.org/drawingml/2006/table">
            <a:tbl>
              <a:tblPr firstRow="1" bandRow="1">
                <a:tableStyleId>{5C22544A-7EE6-4342-B048-85BDC9FD1C3A}</a:tableStyleId>
              </a:tblPr>
              <a:tblGrid>
                <a:gridCol w="1737360"/>
                <a:gridCol w="3566160"/>
                <a:gridCol w="2286000"/>
              </a:tblGrid>
              <a:tr h="329184">
                <a:tc>
                  <a:txBody>
                    <a:bodyPr/>
                    <a:lstStyle/>
                    <a:p>
                      <a:r>
                        <a:rPr sz="1200" b="1">
                          <a:solidFill>
                            <a:srgbClr val="FFFFFF"/>
                          </a:solidFill>
                        </a:rPr>
                        <a:t>Area</a:t>
                      </a:r>
                    </a:p>
                  </a:txBody>
                  <a:tcPr marL="54864" marR="54864" marT="27432" marB="27432">
                    <a:solidFill>
                      <a:srgbClr val="2F6B4F"/>
                    </a:solidFill>
                  </a:tcPr>
                </a:tc>
                <a:tc>
                  <a:txBody>
                    <a:bodyPr/>
                    <a:lstStyle/>
                    <a:p>
                      <a:r>
                        <a:rPr sz="1200" b="1">
                          <a:solidFill>
                            <a:srgbClr val="FFFFFF"/>
                          </a:solidFill>
                        </a:rPr>
                        <a:t>Technology</a:t>
                      </a:r>
                    </a:p>
                  </a:txBody>
                  <a:tcPr marL="54864" marR="54864" marT="27432" marB="27432">
                    <a:solidFill>
                      <a:srgbClr val="2F6B4F"/>
                    </a:solidFill>
                  </a:tcPr>
                </a:tc>
                <a:tc>
                  <a:txBody>
                    <a:bodyPr/>
                    <a:lstStyle/>
                    <a:p>
                      <a:r>
                        <a:rPr sz="1200" b="1">
                          <a:solidFill>
                            <a:srgbClr val="FFFFFF"/>
                          </a:solidFill>
                        </a:rPr>
                        <a:t>Why</a:t>
                      </a:r>
                    </a:p>
                  </a:txBody>
                  <a:tcPr marL="54864" marR="54864" marT="27432" marB="27432">
                    <a:solidFill>
                      <a:srgbClr val="2F6B4F"/>
                    </a:solidFill>
                  </a:tcPr>
                </a:tc>
              </a:tr>
              <a:tr h="329184">
                <a:tc>
                  <a:txBody>
                    <a:bodyPr/>
                    <a:lstStyle/>
                    <a:p>
                      <a:r>
                        <a:rPr sz="1200" b="0">
                          <a:solidFill>
                            <a:srgbClr val="1F2A24"/>
                          </a:solidFill>
                        </a:rPr>
                        <a:t>Graph learning</a:t>
                      </a:r>
                    </a:p>
                  </a:txBody>
                  <a:tcPr marL="54864" marR="54864" marT="27432" marB="27432">
                    <a:solidFill>
                      <a:srgbClr val="FFFFFF"/>
                    </a:solidFill>
                  </a:tcPr>
                </a:tc>
                <a:tc>
                  <a:txBody>
                    <a:bodyPr/>
                    <a:lstStyle/>
                    <a:p>
                      <a:r>
                        <a:rPr sz="1200" b="0">
                          <a:solidFill>
                            <a:srgbClr val="1F2A24"/>
                          </a:solidFill>
                        </a:rPr>
                        <a:t>PyTorch 2 + PyTorch Geometric (DenseGCNConv)</a:t>
                      </a:r>
                    </a:p>
                  </a:txBody>
                  <a:tcPr marL="54864" marR="54864" marT="27432" marB="27432">
                    <a:solidFill>
                      <a:srgbClr val="FFFFFF"/>
                    </a:solidFill>
                  </a:tcPr>
                </a:tc>
                <a:tc>
                  <a:txBody>
                    <a:bodyPr/>
                    <a:lstStyle/>
                    <a:p>
                      <a:r>
                        <a:rPr sz="1200" b="0">
                          <a:solidFill>
                            <a:srgbClr val="1F2A24"/>
                          </a:solidFill>
                        </a:rPr>
                        <a:t>small dense graph: fast, exact</a:t>
                      </a:r>
                    </a:p>
                  </a:txBody>
                  <a:tcPr marL="54864" marR="54864" marT="27432" marB="27432">
                    <a:solidFill>
                      <a:srgbClr val="FFFFFF"/>
                    </a:solidFill>
                  </a:tcPr>
                </a:tc>
              </a:tr>
              <a:tr h="329184">
                <a:tc>
                  <a:txBody>
                    <a:bodyPr/>
                    <a:lstStyle/>
                    <a:p>
                      <a:r>
                        <a:rPr sz="1200" b="0">
                          <a:solidFill>
                            <a:srgbClr val="1F2A24"/>
                          </a:solidFill>
                        </a:rPr>
                        <a:t>Baselines</a:t>
                      </a:r>
                    </a:p>
                  </a:txBody>
                  <a:tcPr marL="54864" marR="54864" marT="27432" marB="27432">
                    <a:solidFill>
                      <a:srgbClr val="F4F7F5"/>
                    </a:solidFill>
                  </a:tcPr>
                </a:tc>
                <a:tc>
                  <a:txBody>
                    <a:bodyPr/>
                    <a:lstStyle/>
                    <a:p>
                      <a:r>
                        <a:rPr sz="1200" b="0">
                          <a:solidFill>
                            <a:srgbClr val="1F2A24"/>
                          </a:solidFill>
                        </a:rPr>
                        <a:t>statsmodels SARIMAX, historical average, LSTM/GRU</a:t>
                      </a:r>
                    </a:p>
                  </a:txBody>
                  <a:tcPr marL="54864" marR="54864" marT="27432" marB="27432">
                    <a:solidFill>
                      <a:srgbClr val="F4F7F5"/>
                    </a:solidFill>
                  </a:tcPr>
                </a:tc>
                <a:tc>
                  <a:txBody>
                    <a:bodyPr/>
                    <a:lstStyle/>
                    <a:p>
                      <a:r>
                        <a:rPr sz="1200" b="0">
                          <a:solidFill>
                            <a:srgbClr val="1F2A24"/>
                          </a:solidFill>
                        </a:rPr>
                        <a:t>mandatory comparison</a:t>
                      </a:r>
                    </a:p>
                  </a:txBody>
                  <a:tcPr marL="54864" marR="54864" marT="27432" marB="27432">
                    <a:solidFill>
                      <a:srgbClr val="F4F7F5"/>
                    </a:solidFill>
                  </a:tcPr>
                </a:tc>
              </a:tr>
              <a:tr h="329184">
                <a:tc>
                  <a:txBody>
                    <a:bodyPr/>
                    <a:lstStyle/>
                    <a:p>
                      <a:r>
                        <a:rPr sz="1200" b="0">
                          <a:solidFill>
                            <a:srgbClr val="1F2A24"/>
                          </a:solidFill>
                        </a:rPr>
                        <a:t>Pretraining</a:t>
                      </a:r>
                    </a:p>
                  </a:txBody>
                  <a:tcPr marL="54864" marR="54864" marT="27432" marB="27432">
                    <a:solidFill>
                      <a:srgbClr val="FFFFFF"/>
                    </a:solidFill>
                  </a:tcPr>
                </a:tc>
                <a:tc>
                  <a:txBody>
                    <a:bodyPr/>
                    <a:lstStyle/>
                    <a:p>
                      <a:r>
                        <a:rPr sz="1200" b="0">
                          <a:solidFill>
                            <a:srgbClr val="1F2A24"/>
                          </a:solidFill>
                        </a:rPr>
                        <a:t>METR-LA, PEMS-BAY (h5py), same GCN+GRU core</a:t>
                      </a:r>
                    </a:p>
                  </a:txBody>
                  <a:tcPr marL="54864" marR="54864" marT="27432" marB="27432">
                    <a:solidFill>
                      <a:srgbClr val="FFFFFF"/>
                    </a:solidFill>
                  </a:tcPr>
                </a:tc>
                <a:tc>
                  <a:txBody>
                    <a:bodyPr/>
                    <a:lstStyle/>
                    <a:p>
                      <a:r>
                        <a:rPr sz="1200" b="0">
                          <a:solidFill>
                            <a:srgbClr val="1F2A24"/>
                          </a:solidFill>
                        </a:rPr>
                        <a:t>proposal objective O3</a:t>
                      </a:r>
                    </a:p>
                  </a:txBody>
                  <a:tcPr marL="54864" marR="54864" marT="27432" marB="27432">
                    <a:solidFill>
                      <a:srgbClr val="FFFFFF"/>
                    </a:solidFill>
                  </a:tcPr>
                </a:tc>
              </a:tr>
              <a:tr h="329184">
                <a:tc>
                  <a:txBody>
                    <a:bodyPr/>
                    <a:lstStyle/>
                    <a:p>
                      <a:r>
                        <a:rPr sz="1200" b="0">
                          <a:solidFill>
                            <a:srgbClr val="1F2A24"/>
                          </a:solidFill>
                        </a:rPr>
                        <a:t>On-device</a:t>
                      </a:r>
                    </a:p>
                  </a:txBody>
                  <a:tcPr marL="54864" marR="54864" marT="27432" marB="27432">
                    <a:solidFill>
                      <a:srgbClr val="F4F7F5"/>
                    </a:solidFill>
                  </a:tcPr>
                </a:tc>
                <a:tc>
                  <a:txBody>
                    <a:bodyPr/>
                    <a:lstStyle/>
                    <a:p>
                      <a:r>
                        <a:rPr sz="1200" b="0">
                          <a:solidFill>
                            <a:srgbClr val="1F2A24"/>
                          </a:solidFill>
                        </a:rPr>
                        <a:t>ONNX Runtime (export, int8 test), pure-Dart forward pass</a:t>
                      </a:r>
                    </a:p>
                  </a:txBody>
                  <a:tcPr marL="54864" marR="54864" marT="27432" marB="27432">
                    <a:solidFill>
                      <a:srgbClr val="F4F7F5"/>
                    </a:solidFill>
                  </a:tcPr>
                </a:tc>
                <a:tc>
                  <a:txBody>
                    <a:bodyPr/>
                    <a:lstStyle/>
                    <a:p>
                      <a:r>
                        <a:rPr sz="1200" b="0">
                          <a:solidFill>
                            <a:srgbClr val="1F2A24"/>
                          </a:solidFill>
                        </a:rPr>
                        <a:t>offline, any phone</a:t>
                      </a:r>
                    </a:p>
                  </a:txBody>
                  <a:tcPr marL="54864" marR="54864" marT="27432" marB="27432">
                    <a:solidFill>
                      <a:srgbClr val="F4F7F5"/>
                    </a:solidFill>
                  </a:tcPr>
                </a:tc>
              </a:tr>
              <a:tr h="329184">
                <a:tc>
                  <a:txBody>
                    <a:bodyPr/>
                    <a:lstStyle/>
                    <a:p>
                      <a:r>
                        <a:rPr sz="1200" b="0">
                          <a:solidFill>
                            <a:srgbClr val="1F2A24"/>
                          </a:solidFill>
                        </a:rPr>
                        <a:t>Planning (90 d)</a:t>
                      </a:r>
                    </a:p>
                  </a:txBody>
                  <a:tcPr marL="54864" marR="54864" marT="27432" marB="27432">
                    <a:solidFill>
                      <a:srgbClr val="FFFFFF"/>
                    </a:solidFill>
                  </a:tcPr>
                </a:tc>
                <a:tc>
                  <a:txBody>
                    <a:bodyPr/>
                    <a:lstStyle/>
                    <a:p>
                      <a:r>
                        <a:rPr sz="1200" b="0">
                          <a:solidFill>
                            <a:srgbClr val="1F2A24"/>
                          </a:solidFill>
                        </a:rPr>
                        <a:t>scikit-learn gradient boosting, conformal P10–P90</a:t>
                      </a:r>
                    </a:p>
                  </a:txBody>
                  <a:tcPr marL="54864" marR="54864" marT="27432" marB="27432">
                    <a:solidFill>
                      <a:srgbClr val="FFFFFF"/>
                    </a:solidFill>
                  </a:tcPr>
                </a:tc>
                <a:tc>
                  <a:txBody>
                    <a:bodyPr/>
                    <a:lstStyle/>
                    <a:p>
                      <a:r>
                        <a:rPr sz="1200" b="0">
                          <a:solidFill>
                            <a:srgbClr val="1F2A24"/>
                          </a:solidFill>
                        </a:rPr>
                        <a:t>inputs exist weeks ahead</a:t>
                      </a:r>
                    </a:p>
                  </a:txBody>
                  <a:tcPr marL="54864" marR="54864" marT="27432" marB="27432">
                    <a:solidFill>
                      <a:srgbClr val="FFFFFF"/>
                    </a:solidFill>
                  </a:tcPr>
                </a:tc>
              </a:tr>
              <a:tr h="329184">
                <a:tc>
                  <a:txBody>
                    <a:bodyPr/>
                    <a:lstStyle/>
                    <a:p>
                      <a:r>
                        <a:rPr sz="1200" b="0">
                          <a:solidFill>
                            <a:srgbClr val="1F2A24"/>
                          </a:solidFill>
                        </a:rPr>
                        <a:t>Optimisation</a:t>
                      </a:r>
                    </a:p>
                  </a:txBody>
                  <a:tcPr marL="54864" marR="54864" marT="27432" marB="27432">
                    <a:solidFill>
                      <a:srgbClr val="F4F7F5"/>
                    </a:solidFill>
                  </a:tcPr>
                </a:tc>
                <a:tc>
                  <a:txBody>
                    <a:bodyPr/>
                    <a:lstStyle/>
                    <a:p>
                      <a:r>
                        <a:rPr sz="1200" b="0">
                          <a:solidFill>
                            <a:srgbClr val="1F2A24"/>
                          </a:solidFill>
                        </a:rPr>
                        <a:t>SciPy linprog (HiGHS)</a:t>
                      </a:r>
                    </a:p>
                  </a:txBody>
                  <a:tcPr marL="54864" marR="54864" marT="27432" marB="27432">
                    <a:solidFill>
                      <a:srgbClr val="F4F7F5"/>
                    </a:solidFill>
                  </a:tcPr>
                </a:tc>
                <a:tc>
                  <a:txBody>
                    <a:bodyPr/>
                    <a:lstStyle/>
                    <a:p>
                      <a:r>
                        <a:rPr sz="1200" b="0">
                          <a:solidFill>
                            <a:srgbClr val="1F2A24"/>
                          </a:solidFill>
                        </a:rPr>
                        <a:t>tickets per slot under capacity</a:t>
                      </a:r>
                    </a:p>
                  </a:txBody>
                  <a:tcPr marL="54864" marR="54864" marT="27432" marB="27432">
                    <a:solidFill>
                      <a:srgbClr val="F4F7F5"/>
                    </a:solidFill>
                  </a:tcPr>
                </a:tc>
              </a:tr>
              <a:tr h="329184">
                <a:tc>
                  <a:txBody>
                    <a:bodyPr/>
                    <a:lstStyle/>
                    <a:p>
                      <a:r>
                        <a:rPr sz="1200" b="0">
                          <a:solidFill>
                            <a:srgbClr val="1F2A24"/>
                          </a:solidFill>
                        </a:rPr>
                        <a:t>Geo / terrain</a:t>
                      </a:r>
                    </a:p>
                  </a:txBody>
                  <a:tcPr marL="54864" marR="54864" marT="27432" marB="27432">
                    <a:solidFill>
                      <a:srgbClr val="FFFFFF"/>
                    </a:solidFill>
                  </a:tcPr>
                </a:tc>
                <a:tc>
                  <a:txBody>
                    <a:bodyPr/>
                    <a:lstStyle/>
                    <a:p>
                      <a:r>
                        <a:rPr sz="1200" b="0">
                          <a:solidFill>
                            <a:srgbClr val="1F2A24"/>
                          </a:solidFill>
                        </a:rPr>
                        <a:t>OSMnx, GeoPandas, Rasterio</a:t>
                      </a:r>
                    </a:p>
                  </a:txBody>
                  <a:tcPr marL="54864" marR="54864" marT="27432" marB="27432">
                    <a:solidFill>
                      <a:srgbClr val="FFFFFF"/>
                    </a:solidFill>
                  </a:tcPr>
                </a:tc>
                <a:tc>
                  <a:txBody>
                    <a:bodyPr/>
                    <a:lstStyle/>
                    <a:p>
                      <a:r>
                        <a:rPr sz="1200" b="0">
                          <a:solidFill>
                            <a:srgbClr val="1F2A24"/>
                          </a:solidFill>
                        </a:rPr>
                        <a:t>graph + DEM features</a:t>
                      </a:r>
                    </a:p>
                  </a:txBody>
                  <a:tcPr marL="54864" marR="54864" marT="27432" marB="27432">
                    <a:solidFill>
                      <a:srgbClr val="FFFFFF"/>
                    </a:solidFill>
                  </a:tcPr>
                </a:tc>
              </a:tr>
              <a:tr h="329184">
                <a:tc>
                  <a:txBody>
                    <a:bodyPr/>
                    <a:lstStyle/>
                    <a:p>
                      <a:r>
                        <a:rPr sz="1200" b="0">
                          <a:solidFill>
                            <a:srgbClr val="1F2A24"/>
                          </a:solidFill>
                        </a:rPr>
                        <a:t>Service / app</a:t>
                      </a:r>
                    </a:p>
                  </a:txBody>
                  <a:tcPr marL="54864" marR="54864" marT="27432" marB="27432">
                    <a:solidFill>
                      <a:srgbClr val="F4F7F5"/>
                    </a:solidFill>
                  </a:tcPr>
                </a:tc>
                <a:tc>
                  <a:txBody>
                    <a:bodyPr/>
                    <a:lstStyle/>
                    <a:p>
                      <a:r>
                        <a:rPr sz="1200" b="0">
                          <a:solidFill>
                            <a:srgbClr val="1F2A24"/>
                          </a:solidFill>
                        </a:rPr>
                        <a:t>FastAPI, SQLite, Flutter (Android / web)</a:t>
                      </a:r>
                    </a:p>
                  </a:txBody>
                  <a:tcPr marL="54864" marR="54864" marT="27432" marB="27432">
                    <a:solidFill>
                      <a:srgbClr val="F4F7F5"/>
                    </a:solidFill>
                  </a:tcPr>
                </a:tc>
                <a:tc>
                  <a:txBody>
                    <a:bodyPr/>
                    <a:lstStyle/>
                    <a:p>
                      <a:r>
                        <a:rPr sz="1200" b="0">
                          <a:solidFill>
                            <a:srgbClr val="1F2A24"/>
                          </a:solidFill>
                        </a:rPr>
                        <a:t>offline-capable visitor app</a:t>
                      </a:r>
                    </a:p>
                  </a:txBody>
                  <a:tcPr marL="54864" marR="54864" marT="27432" marB="27432">
                    <a:solidFill>
                      <a:srgbClr val="F4F7F5"/>
                    </a:solidFill>
                  </a:tcPr>
                </a:tc>
              </a:tr>
            </a:tbl>
          </a:graphicData>
        </a:graphic>
      </p:graphicFrame>
      <p:sp>
        <p:nvSpPr>
          <p:cNvPr id="18" name="TextBox 17"/>
          <p:cNvSpPr txBox="1"/>
          <p:nvPr/>
        </p:nvSpPr>
        <p:spPr>
          <a:xfrm>
            <a:off x="8366760" y="2926080"/>
            <a:ext cx="3566160" cy="3200400"/>
          </a:xfrm>
          <a:prstGeom prst="rect">
            <a:avLst/>
          </a:prstGeom>
          <a:noFill/>
        </p:spPr>
        <p:txBody>
          <a:bodyPr wrap="square">
            <a:spAutoFit/>
          </a:bodyPr>
          <a:lstStyle/>
          <a:p>
            <a:pPr>
              <a:spcAft>
                <a:spcPts val="1000"/>
              </a:spcAft>
            </a:pPr>
            <a:r>
              <a:rPr sz="1300" b="1">
                <a:solidFill>
                  <a:srgbClr val="1F2A24"/>
                </a:solidFill>
              </a:rPr>
              <a:t>•  Missing counts:</a:t>
            </a:r>
            <a:r>
              <a:rPr sz="1300">
                <a:solidFill>
                  <a:srgbClr val="1F2A24"/>
                </a:solidFill>
              </a:rPr>
              <a:t>  unsensed segments send no messages in the first GCN layer</a:t>
            </a:r>
          </a:p>
          <a:p>
            <a:pPr>
              <a:spcAft>
                <a:spcPts val="1000"/>
              </a:spcAft>
            </a:pPr>
            <a:r>
              <a:rPr sz="1300" b="1">
                <a:solidFill>
                  <a:srgbClr val="1F2A24"/>
                </a:solidFill>
              </a:rPr>
              <a:t>•  Transferable inputs:</a:t>
            </a:r>
            <a:r>
              <a:rPr sz="1300">
                <a:solidFill>
                  <a:srgbClr val="1F2A24"/>
                </a:solidFill>
              </a:rPr>
              <a:t>  segments described, not named (13 features)</a:t>
            </a:r>
          </a:p>
          <a:p>
            <a:pPr>
              <a:spcAft>
                <a:spcPts val="1000"/>
              </a:spcAft>
            </a:pPr>
            <a:r>
              <a:rPr sz="1300" b="1">
                <a:solidFill>
                  <a:srgbClr val="1F2A24"/>
                </a:solidFill>
              </a:rPr>
              <a:t>•  Loss:</a:t>
            </a:r>
            <a:r>
              <a:rPr sz="1300">
                <a:solidFill>
                  <a:srgbClr val="1F2A24"/>
                </a:solidFill>
              </a:rPr>
              <a:t>  masked L1, early stopping on the 2024 year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STANDARDS / BEST PRACTICES</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Evaluation protocol and best practices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7</a:t>
            </a:r>
          </a:p>
        </p:txBody>
      </p:sp>
      <p:sp>
        <p:nvSpPr>
          <p:cNvPr id="6" name="TextBox 5"/>
          <p:cNvSpPr txBox="1"/>
          <p:nvPr/>
        </p:nvSpPr>
        <p:spPr>
          <a:xfrm>
            <a:off x="548640" y="1463040"/>
            <a:ext cx="11155680" cy="4846320"/>
          </a:xfrm>
          <a:prstGeom prst="rect">
            <a:avLst/>
          </a:prstGeom>
          <a:noFill/>
        </p:spPr>
        <p:txBody>
          <a:bodyPr wrap="square">
            <a:spAutoFit/>
          </a:bodyPr>
          <a:lstStyle/>
          <a:p>
            <a:pPr>
              <a:spcAft>
                <a:spcPts val="900"/>
              </a:spcAft>
            </a:pPr>
            <a:r>
              <a:rPr sz="1600" b="1">
                <a:solidFill>
                  <a:srgbClr val="1F2A24"/>
                </a:solidFill>
              </a:rPr>
              <a:t>•  No leakage:</a:t>
            </a:r>
            <a:r>
              <a:rPr sz="1600">
                <a:solidFill>
                  <a:srgbClr val="1F2A24"/>
                </a:solidFill>
              </a:rPr>
              <a:t>  train 2022–23 · validate 2024 · test 2025; scalers fitted on training data only</a:t>
            </a:r>
          </a:p>
          <a:p>
            <a:pPr>
              <a:spcAft>
                <a:spcPts val="900"/>
              </a:spcAft>
            </a:pPr>
            <a:r>
              <a:rPr sz="1600" b="1">
                <a:solidFill>
                  <a:srgbClr val="1F2A24"/>
                </a:solidFill>
              </a:rPr>
              <a:t>•  Spatial block CV:</a:t>
            </a:r>
            <a:r>
              <a:rPr sz="1600">
                <a:solidFill>
                  <a:srgbClr val="1F2A24"/>
                </a:solidFill>
              </a:rPr>
              <a:t>  4 contiguous blocks of segments held out – no history and no training loss there</a:t>
            </a:r>
          </a:p>
          <a:p>
            <a:pPr>
              <a:spcAft>
                <a:spcPts val="900"/>
              </a:spcAft>
            </a:pPr>
            <a:r>
              <a:rPr sz="1600" b="1">
                <a:solidFill>
                  <a:srgbClr val="1F2A24"/>
                </a:solidFill>
              </a:rPr>
              <a:t>•  Fair statistics:</a:t>
            </a:r>
            <a:r>
              <a:rPr sz="1600">
                <a:solidFill>
                  <a:srgbClr val="1F2A24"/>
                </a:solidFill>
              </a:rPr>
              <a:t>  paired t-test + Wilcoxon over forecast days (not hours), Holm-corrected, effect size d_z</a:t>
            </a:r>
          </a:p>
          <a:p>
            <a:pPr>
              <a:spcAft>
                <a:spcPts val="900"/>
              </a:spcAft>
            </a:pPr>
            <a:r>
              <a:rPr sz="1600" b="1">
                <a:solidFill>
                  <a:srgbClr val="1F2A24"/>
                </a:solidFill>
              </a:rPr>
              <a:t>•  Clean ablation:</a:t>
            </a:r>
            <a:r>
              <a:rPr sz="1600">
                <a:solidFill>
                  <a:srgbClr val="1F2A24"/>
                </a:solidFill>
              </a:rPr>
              <a:t>  the same network with the graph removed (GRU-no-graph) isolates what the graph adds</a:t>
            </a:r>
          </a:p>
          <a:p>
            <a:pPr>
              <a:spcAft>
                <a:spcPts val="900"/>
              </a:spcAft>
            </a:pPr>
            <a:r>
              <a:rPr sz="1600" b="1">
                <a:solidFill>
                  <a:srgbClr val="1F2A24"/>
                </a:solidFill>
              </a:rPr>
              <a:t>•  Decision-focused:</a:t>
            </a:r>
            <a:r>
              <a:rPr sz="1600">
                <a:solidFill>
                  <a:srgbClr val="1F2A24"/>
                </a:solidFill>
              </a:rPr>
              <a:t>  forecasts also judged by the waiting / overcrowding they prevent (RQ3)</a:t>
            </a:r>
          </a:p>
          <a:p>
            <a:pPr>
              <a:spcAft>
                <a:spcPts val="900"/>
              </a:spcAft>
            </a:pPr>
            <a:r>
              <a:rPr sz="1600" b="1">
                <a:solidFill>
                  <a:srgbClr val="1F2A24"/>
                </a:solidFill>
              </a:rPr>
              <a:t>•  Pre-registered:</a:t>
            </a:r>
            <a:r>
              <a:rPr sz="1600">
                <a:solidFill>
                  <a:srgbClr val="1F2A24"/>
                </a:solidFill>
              </a:rPr>
              <a:t>  field agreement criteria (A1–A3) fixed on 20 Oct, before any counts are taken</a:t>
            </a:r>
          </a:p>
          <a:p>
            <a:pPr>
              <a:spcAft>
                <a:spcPts val="900"/>
              </a:spcAft>
            </a:pPr>
            <a:r>
              <a:rPr sz="1600" b="1">
                <a:solidFill>
                  <a:srgbClr val="1F2A24"/>
                </a:solidFill>
              </a:rPr>
              <a:t>•  Reproducible:</a:t>
            </a:r>
            <a:r>
              <a:rPr sz="1600">
                <a:solidFill>
                  <a:srgbClr val="1F2A24"/>
                </a:solidFill>
              </a:rPr>
              <a:t>  seeds logged; every run = results/&lt;time&gt;_&lt;tag&gt;/ with config + git hash; 65 Python + 24 Flutter tests</a:t>
            </a:r>
          </a:p>
          <a:p>
            <a:pPr>
              <a:spcAft>
                <a:spcPts val="900"/>
              </a:spcAft>
            </a:pPr>
            <a:r>
              <a:rPr sz="1600" b="1">
                <a:solidFill>
                  <a:srgbClr val="1F2A24"/>
                </a:solidFill>
              </a:rPr>
              <a:t>•  Secure &amp; ethical:</a:t>
            </a:r>
            <a:r>
              <a:rPr sz="1600">
                <a:solidFill>
                  <a:srgbClr val="1F2A24"/>
                </a:solidFill>
              </a:rPr>
              <a:t>  roles checked on the server, hashed passwords, lockout, audit log; no personal visitor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RQ1 – Does the graph help?  On ordinary trail without counts, yes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8</a:t>
            </a:r>
          </a:p>
        </p:txBody>
      </p:sp>
      <p:pic>
        <p:nvPicPr>
          <p:cNvPr id="6" name="Picture 5" descr="rq1.png"/>
          <p:cNvPicPr>
            <a:picLocks noChangeAspect="1"/>
          </p:cNvPicPr>
          <p:nvPr/>
        </p:nvPicPr>
        <p:blipFill>
          <a:blip r:embed="rId3"/>
          <a:stretch>
            <a:fillRect/>
          </a:stretch>
        </p:blipFill>
        <p:spPr>
          <a:xfrm>
            <a:off x="411480" y="1325880"/>
            <a:ext cx="11338560" cy="3887506"/>
          </a:xfrm>
          <a:prstGeom prst="rect">
            <a:avLst/>
          </a:prstGeom>
        </p:spPr>
      </p:pic>
      <p:sp>
        <p:nvSpPr>
          <p:cNvPr id="7" name="TextBox 6"/>
          <p:cNvSpPr txBox="1"/>
          <p:nvPr/>
        </p:nvSpPr>
        <p:spPr>
          <a:xfrm>
            <a:off x="548640" y="5120640"/>
            <a:ext cx="11155680" cy="1280160"/>
          </a:xfrm>
          <a:prstGeom prst="rect">
            <a:avLst/>
          </a:prstGeom>
          <a:noFill/>
        </p:spPr>
        <p:txBody>
          <a:bodyPr wrap="square">
            <a:spAutoFit/>
          </a:bodyPr>
          <a:lstStyle/>
          <a:p>
            <a:pPr>
              <a:spcAft>
                <a:spcPts val="300"/>
              </a:spcAft>
            </a:pPr>
            <a:r>
              <a:rPr sz="1300" b="1">
                <a:solidFill>
                  <a:srgbClr val="1F2A24"/>
                </a:solidFill>
              </a:rPr>
              <a:t>•  Horton, unseen segments:</a:t>
            </a:r>
            <a:r>
              <a:rPr sz="1300">
                <a:solidFill>
                  <a:srgbClr val="1F2A24"/>
                </a:solidFill>
              </a:rPr>
              <a:t>  ST-GNN 2.48 · LSTM 2.59 · GRU without graph 2.69 · historical average 4.20  (vs LSTM p &lt; 0.001)</a:t>
            </a:r>
          </a:p>
          <a:p>
            <a:pPr>
              <a:spcAft>
                <a:spcPts val="300"/>
              </a:spcAft>
            </a:pPr>
            <a:r>
              <a:rPr sz="1300" b="1">
                <a:solidFill>
                  <a:srgbClr val="1F2A24"/>
                </a:solidFill>
              </a:rPr>
              <a:t>•  Adam's Peak, unseen segments (3 seeds):</a:t>
            </a:r>
            <a:r>
              <a:rPr sz="1300">
                <a:solidFill>
                  <a:srgbClr val="1F2A24"/>
                </a:solidFill>
              </a:rPr>
              <a:t>  ST-GNN 9.63 · LSTM 8.23 · GRU without graph 8.77  (vs LSTM p &lt; 0.001) – best on ordinary trail, worse at the summit queue</a:t>
            </a:r>
          </a:p>
          <a:p>
            <a:pPr>
              <a:spcAft>
                <a:spcPts val="300"/>
              </a:spcAft>
            </a:pPr>
            <a:r>
              <a:rPr sz="1300" b="1">
                <a:solidFill>
                  <a:srgbClr val="1F2A24"/>
                </a:solidFill>
              </a:rPr>
              <a:t>•  Every segment counted (3 seeds):</a:t>
            </a:r>
            <a:r>
              <a:rPr sz="1300">
                <a:solidFill>
                  <a:srgbClr val="1F2A24"/>
                </a:solidFill>
              </a:rPr>
              <a:t>  tie with the LSTM – Horton 1.42 vs 1.42 (p = 0.12), Adam's Peak 3.80 vs 3.83 (p = 0.09)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What a day-ahead forecast looks like</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9</a:t>
            </a:r>
          </a:p>
        </p:txBody>
      </p:sp>
      <p:pic>
        <p:nvPicPr>
          <p:cNvPr id="6" name="Picture 5" descr="example_day.png"/>
          <p:cNvPicPr>
            <a:picLocks noChangeAspect="1"/>
          </p:cNvPicPr>
          <p:nvPr/>
        </p:nvPicPr>
        <p:blipFill>
          <a:blip r:embed="rId3"/>
          <a:stretch>
            <a:fillRect/>
          </a:stretch>
        </p:blipFill>
        <p:spPr>
          <a:xfrm>
            <a:off x="411480" y="1371600"/>
            <a:ext cx="7589520" cy="3281955"/>
          </a:xfrm>
          <a:prstGeom prst="rect">
            <a:avLst/>
          </a:prstGeom>
        </p:spPr>
      </p:pic>
      <p:sp>
        <p:nvSpPr>
          <p:cNvPr id="7" name="TextBox 6"/>
          <p:cNvSpPr txBox="1"/>
          <p:nvPr/>
        </p:nvSpPr>
        <p:spPr>
          <a:xfrm>
            <a:off x="8229600" y="1463040"/>
            <a:ext cx="3749039" cy="4754880"/>
          </a:xfrm>
          <a:prstGeom prst="rect">
            <a:avLst/>
          </a:prstGeom>
          <a:noFill/>
        </p:spPr>
        <p:txBody>
          <a:bodyPr wrap="square">
            <a:spAutoFit/>
          </a:bodyPr>
          <a:lstStyle/>
          <a:p>
            <a:pPr>
              <a:spcAft>
                <a:spcPts val="1000"/>
              </a:spcAft>
            </a:pPr>
            <a:r>
              <a:rPr sz="1400" b="1">
                <a:solidFill>
                  <a:srgbClr val="1F2A24"/>
                </a:solidFill>
              </a:rPr>
              <a:t>•  Typical busy day:</a:t>
            </a:r>
            <a:r>
              <a:rPr sz="1400">
                <a:solidFill>
                  <a:srgbClr val="1F2A24"/>
                </a:solidFill>
              </a:rPr>
              <a:t>  ST-GNN off by 5.7 people/h at World's End, historical average by 6.3</a:t>
            </a:r>
          </a:p>
          <a:p>
            <a:pPr>
              <a:spcAft>
                <a:spcPts val="1000"/>
              </a:spcAft>
            </a:pPr>
            <a:r>
              <a:rPr sz="1400" b="1">
                <a:solidFill>
                  <a:srgbClr val="1F2A24"/>
                </a:solidFill>
              </a:rPr>
              <a:t>•  Busiest day:</a:t>
            </a:r>
            <a:r>
              <a:rPr sz="1400">
                <a:solidFill>
                  <a:srgbClr val="1F2A24"/>
                </a:solidFill>
              </a:rPr>
              <a:t>  peak 608 people, forecast 191 – extremes are underpredicted</a:t>
            </a:r>
          </a:p>
          <a:p>
            <a:pPr>
              <a:spcAft>
                <a:spcPts val="1000"/>
              </a:spcAft>
            </a:pPr>
            <a:r>
              <a:rPr sz="1400" b="1">
                <a:solidFill>
                  <a:srgbClr val="1F2A24"/>
                </a:solidFill>
              </a:rPr>
              <a:t>•  Consequence:</a:t>
            </a:r>
            <a:r>
              <a:rPr sz="1400">
                <a:solidFill>
                  <a:srgbClr val="1F2A24"/>
                </a:solidFill>
              </a:rPr>
              <a:t>  decisions use the forecast's busy case (P90), not its middle (RQ3)</a:t>
            </a:r>
          </a:p>
          <a:p>
            <a:pPr>
              <a:spcAft>
                <a:spcPts val="1000"/>
              </a:spcAft>
            </a:pPr>
            <a:r>
              <a:rPr sz="1400" b="1">
                <a:solidFill>
                  <a:srgbClr val="1F2A24"/>
                </a:solidFill>
              </a:rPr>
              <a:t>•  Input:</a:t>
            </a:r>
            <a:r>
              <a:rPr sz="1400">
                <a:solidFill>
                  <a:srgbClr val="1F2A24"/>
                </a:solidFill>
              </a:rPr>
              <a:t>  yesterday's counts, tomorrow's weather forecast and the calendar – no sensors on the trail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From forecast to control – Horton Plains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10</a:t>
            </a:r>
          </a:p>
        </p:txBody>
      </p:sp>
      <p:pic>
        <p:nvPicPr>
          <p:cNvPr id="6" name="Picture 5" descr="control_horton.png"/>
          <p:cNvPicPr>
            <a:picLocks noChangeAspect="1"/>
          </p:cNvPicPr>
          <p:nvPr/>
        </p:nvPicPr>
        <p:blipFill>
          <a:blip r:embed="rId3"/>
          <a:stretch>
            <a:fillRect/>
          </a:stretch>
        </p:blipFill>
        <p:spPr>
          <a:xfrm>
            <a:off x="411480" y="1371600"/>
            <a:ext cx="7863840" cy="2785110"/>
          </a:xfrm>
          <a:prstGeom prst="rect">
            <a:avLst/>
          </a:prstGeom>
        </p:spPr>
      </p:pic>
      <p:sp>
        <p:nvSpPr>
          <p:cNvPr id="7" name="TextBox 6"/>
          <p:cNvSpPr txBox="1"/>
          <p:nvPr/>
        </p:nvSpPr>
        <p:spPr>
          <a:xfrm>
            <a:off x="8458200" y="1463040"/>
            <a:ext cx="3566160" cy="4754880"/>
          </a:xfrm>
          <a:prstGeom prst="rect">
            <a:avLst/>
          </a:prstGeom>
          <a:noFill/>
        </p:spPr>
        <p:txBody>
          <a:bodyPr wrap="square">
            <a:spAutoFit/>
          </a:bodyPr>
          <a:lstStyle/>
          <a:p>
            <a:pPr>
              <a:spcAft>
                <a:spcPts val="1000"/>
              </a:spcAft>
            </a:pPr>
            <a:r>
              <a:rPr sz="1400" b="1">
                <a:solidFill>
                  <a:srgbClr val="1F2A24"/>
                </a:solidFill>
              </a:rPr>
              <a:t>•  Capacity:</a:t>
            </a:r>
            <a:r>
              <a:rPr sz="1400">
                <a:solidFill>
                  <a:srgbClr val="1F2A24"/>
                </a:solidFill>
              </a:rPr>
              <a:t>  Cifuentes PCC → RCC → ECC; the forecast adds a crowding factor next to rain</a:t>
            </a:r>
          </a:p>
          <a:p>
            <a:pPr>
              <a:spcAft>
                <a:spcPts val="1000"/>
              </a:spcAft>
            </a:pPr>
            <a:r>
              <a:rPr sz="1400" b="1">
                <a:solidFill>
                  <a:srgbClr val="1F2A24"/>
                </a:solidFill>
              </a:rPr>
              <a:t>•  Tickets:</a:t>
            </a:r>
            <a:r>
              <a:rPr sz="1400">
                <a:solidFill>
                  <a:srgbClr val="1F2A24"/>
                </a:solidFill>
              </a:rPr>
              <a:t>  per trail and 30-min slot from a linear programme (SciPy HiGHS)</a:t>
            </a:r>
          </a:p>
          <a:p>
            <a:pPr>
              <a:spcAft>
                <a:spcPts val="1000"/>
              </a:spcAft>
            </a:pPr>
            <a:r>
              <a:rPr sz="1400" b="1">
                <a:solidFill>
                  <a:srgbClr val="1F2A24"/>
                </a:solidFill>
              </a:rPr>
              <a:t>•  Full slot:</a:t>
            </a:r>
            <a:r>
              <a:rPr sz="1400">
                <a:solidFill>
                  <a:srgbClr val="1F2A24"/>
                </a:solidFill>
              </a:rPr>
              <a:t>  later slot, another trail, or another day – booked up to 90 days ahead</a:t>
            </a:r>
          </a:p>
          <a:p>
            <a:pPr>
              <a:spcAft>
                <a:spcPts val="1000"/>
              </a:spcAft>
            </a:pPr>
            <a:r>
              <a:rPr sz="1400" b="1">
                <a:solidFill>
                  <a:srgbClr val="1F2A24"/>
                </a:solidFill>
              </a:rPr>
              <a:t>•  Result:</a:t>
            </a:r>
            <a:r>
              <a:rPr sz="1400">
                <a:solidFill>
                  <a:srgbClr val="1F2A24"/>
                </a:solidFill>
              </a:rPr>
              <a:t>  over-capacity time −73 % (quota) vs −99.6 % (slot tickets)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CREATIVE SOLUTION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Adam's Peak – no tickets, so advise and hold</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11</a:t>
            </a:r>
          </a:p>
        </p:txBody>
      </p:sp>
      <p:pic>
        <p:nvPicPr>
          <p:cNvPr id="6" name="Picture 5" descr="control_ap.png"/>
          <p:cNvPicPr>
            <a:picLocks noChangeAspect="1"/>
          </p:cNvPicPr>
          <p:nvPr/>
        </p:nvPicPr>
        <p:blipFill>
          <a:blip r:embed="rId3"/>
          <a:stretch>
            <a:fillRect/>
          </a:stretch>
        </p:blipFill>
        <p:spPr>
          <a:xfrm>
            <a:off x="411480" y="1371600"/>
            <a:ext cx="6035040" cy="3664131"/>
          </a:xfrm>
          <a:prstGeom prst="rect">
            <a:avLst/>
          </a:prstGeom>
        </p:spPr>
      </p:pic>
      <p:sp>
        <p:nvSpPr>
          <p:cNvPr id="7" name="TextBox 6"/>
          <p:cNvSpPr txBox="1"/>
          <p:nvPr/>
        </p:nvSpPr>
        <p:spPr>
          <a:xfrm>
            <a:off x="6675120" y="1463040"/>
            <a:ext cx="5303520" cy="4754880"/>
          </a:xfrm>
          <a:prstGeom prst="rect">
            <a:avLst/>
          </a:prstGeom>
          <a:noFill/>
        </p:spPr>
        <p:txBody>
          <a:bodyPr wrap="square">
            <a:spAutoFit/>
          </a:bodyPr>
          <a:lstStyle/>
          <a:p>
            <a:pPr>
              <a:spcAft>
                <a:spcPts val="1000"/>
              </a:spcAft>
            </a:pPr>
            <a:r>
              <a:rPr sz="1500" b="1">
                <a:solidFill>
                  <a:srgbClr val="1F2A24"/>
                </a:solidFill>
              </a:rPr>
              <a:t>•  Recommended start times:</a:t>
            </a:r>
            <a:r>
              <a:rPr sz="1500">
                <a:solidFill>
                  <a:srgbClr val="1F2A24"/>
                </a:solidFill>
              </a:rPr>
              <a:t>  per route, wait ≤ 20 min and summit before sunrise</a:t>
            </a:r>
          </a:p>
          <a:p>
            <a:pPr>
              <a:spcAft>
                <a:spcPts val="1000"/>
              </a:spcAft>
            </a:pPr>
            <a:r>
              <a:rPr sz="1500" b="1">
                <a:solidFill>
                  <a:srgbClr val="1F2A24"/>
                </a:solidFill>
              </a:rPr>
              <a:t>•  Herding-aware:</a:t>
            </a:r>
            <a:r>
              <a:rPr sz="1500">
                <a:solidFill>
                  <a:srgbClr val="1F2A24"/>
                </a:solidFill>
              </a:rPr>
              <a:t>  movers spread batch by batch – naive advice made the queue 22 % worse</a:t>
            </a:r>
          </a:p>
          <a:p>
            <a:pPr>
              <a:spcAft>
                <a:spcPts val="1000"/>
              </a:spcAft>
            </a:pPr>
            <a:r>
              <a:rPr sz="1500" b="1">
                <a:solidFill>
                  <a:srgbClr val="1F2A24"/>
                </a:solidFill>
              </a:rPr>
              <a:t>•  Halfway checks:</a:t>
            </a:r>
            <a:r>
              <a:rPr sz="1500">
                <a:solidFill>
                  <a:srgbClr val="1F2A24"/>
                </a:solidFill>
              </a:rPr>
              <a:t>  rangers enter counts; the app says HOLD and how many to release per 10 min</a:t>
            </a:r>
          </a:p>
          <a:p>
            <a:pPr>
              <a:spcAft>
                <a:spcPts val="1000"/>
              </a:spcAft>
            </a:pPr>
            <a:r>
              <a:rPr sz="1500" b="1">
                <a:solidFill>
                  <a:srgbClr val="1F2A24"/>
                </a:solidFill>
              </a:rPr>
              <a:t>•  Result (2025 season):</a:t>
            </a:r>
            <a:r>
              <a:rPr sz="1500">
                <a:solidFill>
                  <a:srgbClr val="1F2A24"/>
                </a:solidFill>
              </a:rPr>
              <a:t>  start times −22 % waiting; both together move all waiting off the final steps and cut it by 28 %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KEY FINDING</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RQ3 – Better forecasts help only with the right decision rule</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12</a:t>
            </a:r>
          </a:p>
        </p:txBody>
      </p:sp>
      <p:pic>
        <p:nvPicPr>
          <p:cNvPr id="6" name="Picture 5" descr="rq3.png"/>
          <p:cNvPicPr>
            <a:picLocks noChangeAspect="1"/>
          </p:cNvPicPr>
          <p:nvPr/>
        </p:nvPicPr>
        <p:blipFill>
          <a:blip r:embed="rId3"/>
          <a:stretch>
            <a:fillRect/>
          </a:stretch>
        </p:blipFill>
        <p:spPr>
          <a:xfrm>
            <a:off x="411480" y="1371600"/>
            <a:ext cx="6949440" cy="3474720"/>
          </a:xfrm>
          <a:prstGeom prst="rect">
            <a:avLst/>
          </a:prstGeom>
        </p:spPr>
      </p:pic>
      <p:sp>
        <p:nvSpPr>
          <p:cNvPr id="7" name="Rounded Rectangle 6"/>
          <p:cNvSpPr/>
          <p:nvPr/>
        </p:nvSpPr>
        <p:spPr>
          <a:xfrm>
            <a:off x="7772400" y="1554480"/>
            <a:ext cx="4023360" cy="2468880"/>
          </a:xfrm>
          <a:prstGeom prst="roundRect">
            <a:avLst>
              <a:gd name="adj" fmla="val 12000"/>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Median forecast →</a:t>
            </a:r>
          </a:p>
          <a:p>
            <a:pPr algn="ctr"/>
            <a:r>
              <a:rPr sz="1400" b="0">
                <a:solidFill>
                  <a:srgbClr val="FFFFFF"/>
                </a:solidFill>
              </a:rPr>
              <a:t>18 % of the possible benefit</a:t>
            </a:r>
          </a:p>
          <a:p>
            <a:pPr algn="ctr"/>
            <a:r>
              <a:rPr sz="1400" b="0">
                <a:solidFill>
                  <a:srgbClr val="FFFFFF"/>
                </a:solidFill>
              </a:rPr>
              <a:t/>
            </a:r>
          </a:p>
          <a:p>
            <a:pPr algn="ctr"/>
            <a:r>
              <a:rPr sz="1400" b="0">
                <a:solidFill>
                  <a:srgbClr val="FFFFFF"/>
                </a:solidFill>
              </a:rPr>
              <a:t>Busy-case (P90) forecast →</a:t>
            </a:r>
          </a:p>
          <a:p>
            <a:pPr algn="ctr"/>
            <a:r>
              <a:rPr sz="1400" b="0">
                <a:solidFill>
                  <a:srgbClr val="FFFFFF"/>
                </a:solidFill>
              </a:rPr>
              <a:t>117 % of it,</a:t>
            </a:r>
          </a:p>
          <a:p>
            <a:pPr algn="ctr"/>
            <a:r>
              <a:rPr sz="1400" b="0">
                <a:solidFill>
                  <a:srgbClr val="FFFFFF"/>
                </a:solidFill>
              </a:rPr>
              <a:t>moving 6.4 % of pilgrims</a:t>
            </a:r>
          </a:p>
        </p:txBody>
      </p:sp>
      <p:sp>
        <p:nvSpPr>
          <p:cNvPr id="8" name="TextBox 7"/>
          <p:cNvSpPr txBox="1"/>
          <p:nvPr/>
        </p:nvSpPr>
        <p:spPr>
          <a:xfrm>
            <a:off x="7772400" y="4297680"/>
            <a:ext cx="4023360" cy="1097280"/>
          </a:xfrm>
          <a:prstGeom prst="rect">
            <a:avLst/>
          </a:prstGeom>
          <a:noFill/>
        </p:spPr>
        <p:txBody>
          <a:bodyPr wrap="square" anchor="t">
            <a:spAutoFit/>
          </a:bodyPr>
          <a:lstStyle/>
          <a:p>
            <a:pPr algn="l"/>
            <a:r>
              <a:rPr sz="1500" b="1">
                <a:solidFill>
                  <a:srgbClr val="1F2A24"/>
                </a:solidFill>
              </a:rPr>
              <a:t>Forecasts should be evaluated by the decisions they drive, not only by their error.</a:t>
            </a:r>
          </a:p>
        </p:txBody>
      </p:sp>
      <p:sp>
        <p:nvSpPr>
          <p:cNvPr id="9" name="TextBox 8"/>
          <p:cNvSpPr txBox="1"/>
          <p:nvPr/>
        </p:nvSpPr>
        <p:spPr>
          <a:xfrm>
            <a:off x="548640" y="5212080"/>
            <a:ext cx="10972800" cy="731520"/>
          </a:xfrm>
          <a:prstGeom prst="rect">
            <a:avLst/>
          </a:prstGeom>
          <a:noFill/>
        </p:spPr>
        <p:txBody>
          <a:bodyPr wrap="square" anchor="t">
            <a:spAutoFit/>
          </a:bodyPr>
          <a:lstStyle/>
          <a:p>
            <a:pPr algn="l"/>
            <a:r>
              <a:rPr sz="1100" b="0">
                <a:solidFill>
                  <a:srgbClr val="6B7280"/>
                </a:solidFill>
              </a:rPr>
              <a:t>Over 100 % is possible: 'perfect knowledge' means the true number of climbers, not the exact time each group starts; the cautious P90 advice also covers that uncertainty.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 – LIMITS</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RQ2 transfer · RQ4 robustness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13</a:t>
            </a:r>
          </a:p>
        </p:txBody>
      </p:sp>
      <p:pic>
        <p:nvPicPr>
          <p:cNvPr id="6" name="Picture 5" descr="rq2.png"/>
          <p:cNvPicPr>
            <a:picLocks noChangeAspect="1"/>
          </p:cNvPicPr>
          <p:nvPr/>
        </p:nvPicPr>
        <p:blipFill>
          <a:blip r:embed="rId3"/>
          <a:stretch>
            <a:fillRect/>
          </a:stretch>
        </p:blipFill>
        <p:spPr>
          <a:xfrm>
            <a:off x="365760" y="1371600"/>
            <a:ext cx="6492240" cy="3070654"/>
          </a:xfrm>
          <a:prstGeom prst="rect">
            <a:avLst/>
          </a:prstGeom>
        </p:spPr>
      </p:pic>
      <p:pic>
        <p:nvPicPr>
          <p:cNvPr id="7" name="Picture 6" descr="rq4.png"/>
          <p:cNvPicPr>
            <a:picLocks noChangeAspect="1"/>
          </p:cNvPicPr>
          <p:nvPr/>
        </p:nvPicPr>
        <p:blipFill>
          <a:blip r:embed="rId4"/>
          <a:stretch>
            <a:fillRect/>
          </a:stretch>
        </p:blipFill>
        <p:spPr>
          <a:xfrm>
            <a:off x="6949440" y="1371600"/>
            <a:ext cx="5029200" cy="3073400"/>
          </a:xfrm>
          <a:prstGeom prst="rect">
            <a:avLst/>
          </a:prstGeom>
        </p:spPr>
      </p:pic>
      <p:sp>
        <p:nvSpPr>
          <p:cNvPr id="8" name="TextBox 7"/>
          <p:cNvSpPr txBox="1"/>
          <p:nvPr/>
        </p:nvSpPr>
        <p:spPr>
          <a:xfrm>
            <a:off x="548640" y="4526280"/>
            <a:ext cx="11247120" cy="1737360"/>
          </a:xfrm>
          <a:prstGeom prst="rect">
            <a:avLst/>
          </a:prstGeom>
          <a:noFill/>
        </p:spPr>
        <p:txBody>
          <a:bodyPr wrap="square">
            <a:spAutoFit/>
          </a:bodyPr>
          <a:lstStyle/>
          <a:p>
            <a:pPr>
              <a:spcAft>
                <a:spcPts val="600"/>
              </a:spcAft>
            </a:pPr>
            <a:r>
              <a:rPr sz="1400" b="1">
                <a:solidFill>
                  <a:srgbClr val="1F2A24"/>
                </a:solidFill>
              </a:rPr>
              <a:t>•  Transfer:</a:t>
            </a:r>
            <a:r>
              <a:rPr sz="1400">
                <a:solidFill>
                  <a:srgbClr val="1F2A24"/>
                </a:solidFill>
              </a:rPr>
              <a:t>  unchanged → worse than the average; pre-trained + a few days beats scratch (7/8, p &lt; 0.05)</a:t>
            </a:r>
          </a:p>
          <a:p>
            <a:pPr>
              <a:spcAft>
                <a:spcPts val="600"/>
              </a:spcAft>
            </a:pPr>
            <a:r>
              <a:rPr sz="1400" b="1">
                <a:solidFill>
                  <a:srgbClr val="1F2A24"/>
                </a:solidFill>
              </a:rPr>
              <a:t>•  Robustness:</a:t>
            </a:r>
            <a:r>
              <a:rPr sz="1400">
                <a:solidFill>
                  <a:srgbClr val="1F2A24"/>
                </a:solidFill>
              </a:rPr>
              <a:t>  halfway checks clear the final steps at every flow (15–35/min); start times help at ≤ 25/min</a:t>
            </a:r>
          </a:p>
          <a:p>
            <a:pPr>
              <a:spcAft>
                <a:spcPts val="600"/>
              </a:spcAft>
            </a:pPr>
            <a:r>
              <a:rPr sz="1400" b="1">
                <a:solidFill>
                  <a:srgbClr val="1F2A24"/>
                </a:solidFill>
              </a:rPr>
              <a:t>•  Most important unknown:</a:t>
            </a:r>
            <a:r>
              <a:rPr sz="1400">
                <a:solidFill>
                  <a:srgbClr val="1F2A24"/>
                </a:solidFill>
              </a:rPr>
              <a:t>  final-steps flow – waiting changes 26-fold between 15 and 35 people/min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THE PROPOSAL'S RESEARCH GAP</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RQ5 – Does pretraining on city traffic help a tiny trail graph?</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14</a:t>
            </a:r>
          </a:p>
        </p:txBody>
      </p:sp>
      <p:pic>
        <p:nvPicPr>
          <p:cNvPr id="6" name="Picture 5" descr="rq5.png"/>
          <p:cNvPicPr>
            <a:picLocks noChangeAspect="1"/>
          </p:cNvPicPr>
          <p:nvPr/>
        </p:nvPicPr>
        <p:blipFill>
          <a:blip r:embed="rId3"/>
          <a:stretch>
            <a:fillRect/>
          </a:stretch>
        </p:blipFill>
        <p:spPr>
          <a:xfrm>
            <a:off x="411480" y="1325880"/>
            <a:ext cx="7680960" cy="2800350"/>
          </a:xfrm>
          <a:prstGeom prst="rect">
            <a:avLst/>
          </a:prstGeom>
        </p:spPr>
      </p:pic>
      <p:sp>
        <p:nvSpPr>
          <p:cNvPr id="7" name="TextBox 6"/>
          <p:cNvSpPr txBox="1"/>
          <p:nvPr/>
        </p:nvSpPr>
        <p:spPr>
          <a:xfrm>
            <a:off x="8229600" y="1417320"/>
            <a:ext cx="3749039" cy="4846320"/>
          </a:xfrm>
          <a:prstGeom prst="rect">
            <a:avLst/>
          </a:prstGeom>
          <a:noFill/>
        </p:spPr>
        <p:txBody>
          <a:bodyPr wrap="square">
            <a:spAutoFit/>
          </a:bodyPr>
          <a:lstStyle/>
          <a:p>
            <a:pPr>
              <a:spcAft>
                <a:spcPts val="900"/>
              </a:spcAft>
            </a:pPr>
            <a:r>
              <a:rPr sz="1300" b="1">
                <a:solidFill>
                  <a:srgbClr val="1F2A24"/>
                </a:solidFill>
              </a:rPr>
              <a:t>•  Horton Plains:</a:t>
            </a:r>
            <a:r>
              <a:rPr sz="1300">
                <a:solidFill>
                  <a:srgbClr val="1F2A24"/>
                </a:solidFill>
              </a:rPr>
              <a:t>  pretraining helps with 30 days (−5 %) and 90 days (−12 %), p &lt; 0.001</a:t>
            </a:r>
          </a:p>
          <a:p>
            <a:pPr>
              <a:spcAft>
                <a:spcPts val="900"/>
              </a:spcAft>
            </a:pPr>
            <a:r>
              <a:rPr sz="1300" b="1">
                <a:solidFill>
                  <a:srgbClr val="1F2A24"/>
                </a:solidFill>
              </a:rPr>
              <a:t>•  Adam's Peak:</a:t>
            </a:r>
            <a:r>
              <a:rPr sz="1300">
                <a:solidFill>
                  <a:srgbClr val="1F2A24"/>
                </a:solidFill>
              </a:rPr>
              <a:t>  no help at any amount of data (+6 % at 30 days)</a:t>
            </a:r>
          </a:p>
          <a:p>
            <a:pPr>
              <a:spcAft>
                <a:spcPts val="900"/>
              </a:spcAft>
            </a:pPr>
            <a:r>
              <a:rPr sz="1300" b="1">
                <a:solidFill>
                  <a:srgbClr val="1F2A24"/>
                </a:solidFill>
              </a:rPr>
              <a:t>•  Zero-shot:</a:t>
            </a:r>
            <a:r>
              <a:rPr sz="1300">
                <a:solidFill>
                  <a:srgbClr val="1F2A24"/>
                </a:solidFill>
              </a:rPr>
              <a:t>  traffic weights unchanged are 4–5× worse than the historical average</a:t>
            </a:r>
          </a:p>
          <a:p>
            <a:pPr>
              <a:spcAft>
                <a:spcPts val="900"/>
              </a:spcAft>
            </a:pPr>
            <a:r>
              <a:rPr sz="1300" b="1">
                <a:solidFill>
                  <a:srgbClr val="1F2A24"/>
                </a:solidFill>
              </a:rPr>
              <a:t>•  But:</a:t>
            </a:r>
            <a:r>
              <a:rPr sz="1300">
                <a:solidFill>
                  <a:srgbClr val="1F2A24"/>
                </a:solidFill>
              </a:rPr>
              <a:t>  ≤ 90 days of counts → a historical average still wins at both parks</a:t>
            </a:r>
          </a:p>
          <a:p>
            <a:pPr>
              <a:spcAft>
                <a:spcPts val="900"/>
              </a:spcAft>
            </a:pPr>
            <a:r>
              <a:rPr sz="1300" b="1">
                <a:solidFill>
                  <a:srgbClr val="1F2A24"/>
                </a:solidFill>
              </a:rPr>
              <a:t>•  So:</a:t>
            </a:r>
            <a:r>
              <a:rPr sz="1300">
                <a:solidFill>
                  <a:srgbClr val="1F2A24"/>
                </a:solidFill>
              </a:rPr>
              <a:t>  start a new park on the average; pretraining shortens the wait only where crowds behave like traffic peaks</a:t>
            </a:r>
          </a:p>
        </p:txBody>
      </p:sp>
      <p:sp>
        <p:nvSpPr>
          <p:cNvPr id="8" name="TextBox 7"/>
          <p:cNvSpPr txBox="1"/>
          <p:nvPr/>
        </p:nvSpPr>
        <p:spPr>
          <a:xfrm>
            <a:off x="548640" y="4434840"/>
            <a:ext cx="7498079" cy="365760"/>
          </a:xfrm>
          <a:prstGeom prst="rect">
            <a:avLst/>
          </a:prstGeom>
          <a:noFill/>
        </p:spPr>
        <p:txBody>
          <a:bodyPr wrap="square" anchor="t">
            <a:spAutoFit/>
          </a:bodyPr>
          <a:lstStyle/>
          <a:p>
            <a:pPr algn="l"/>
            <a:r>
              <a:rPr sz="1100" b="0">
                <a:solidFill>
                  <a:srgbClr val="6B7280"/>
                </a:solidFill>
              </a:rPr>
              <a:t>METR-LA → PEMS-BAY pretraining · 3 seeds · paired t-tests over 365 test days, Holm-corrected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EDGE-NATIVE (OBJECTIVE O6, NFR1)</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RQ6 – The ST-GNN runs on the phone, offline</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15</a:t>
            </a:r>
          </a:p>
        </p:txBody>
      </p:sp>
      <p:pic>
        <p:nvPicPr>
          <p:cNvPr id="6" name="Picture 5" descr="10_on_device.png"/>
          <p:cNvPicPr>
            <a:picLocks noChangeAspect="1"/>
          </p:cNvPicPr>
          <p:nvPr/>
        </p:nvPicPr>
        <p:blipFill>
          <a:blip r:embed="rId3"/>
          <a:stretch>
            <a:fillRect/>
          </a:stretch>
        </p:blipFill>
        <p:spPr>
          <a:xfrm>
            <a:off x="502920" y="1325880"/>
            <a:ext cx="2277629" cy="4937760"/>
          </a:xfrm>
          <a:prstGeom prst="rect">
            <a:avLst/>
          </a:prstGeom>
          <a:ln>
            <a:solidFill>
              <a:srgbClr val="C9D3CD"/>
            </a:solidFill>
          </a:ln>
        </p:spPr>
      </p:pic>
      <p:sp>
        <p:nvSpPr>
          <p:cNvPr id="7" name="Rounded Rectangle 6"/>
          <p:cNvSpPr/>
          <p:nvPr/>
        </p:nvSpPr>
        <p:spPr>
          <a:xfrm>
            <a:off x="3063240" y="1417320"/>
            <a:ext cx="2697480" cy="105156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Server, every evening</a:t>
            </a:r>
          </a:p>
          <a:p>
            <a:pPr algn="ctr"/>
            <a:r>
              <a:rPr sz="1000" b="0">
                <a:solidFill>
                  <a:srgbClr val="1F2A24"/>
                </a:solidFill>
              </a:rPr>
              <a:t>train · publish 175 KB</a:t>
            </a:r>
          </a:p>
          <a:p>
            <a:pPr algn="ctr"/>
            <a:r>
              <a:rPr sz="1000" b="0">
                <a:solidFill>
                  <a:srgbClr val="1F2A24"/>
                </a:solidFill>
              </a:rPr>
              <a:t>edge pack (weights + inputs)</a:t>
            </a:r>
          </a:p>
        </p:txBody>
      </p:sp>
      <p:sp>
        <p:nvSpPr>
          <p:cNvPr id="8" name="Rounded Rectangle 7"/>
          <p:cNvSpPr/>
          <p:nvPr/>
        </p:nvSpPr>
        <p:spPr>
          <a:xfrm>
            <a:off x="6035040" y="1417320"/>
            <a:ext cx="2697480" cy="1051560"/>
          </a:xfrm>
          <a:prstGeom prst="roundRect">
            <a:avLst>
              <a:gd name="adj" fmla="val 12000"/>
            </a:avLst>
          </a:prstGeom>
          <a:solidFill>
            <a:srgbClr val="E3EAF5"/>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Phone</a:t>
            </a:r>
          </a:p>
          <a:p>
            <a:pPr algn="ctr"/>
            <a:r>
              <a:rPr sz="1000" b="0">
                <a:solidFill>
                  <a:srgbClr val="1F2A24"/>
                </a:solidFill>
              </a:rPr>
              <a:t>downloads once a day,</a:t>
            </a:r>
          </a:p>
          <a:p>
            <a:pPr algn="ctr"/>
            <a:r>
              <a:rPr sz="1000" b="0">
                <a:solidFill>
                  <a:srgbClr val="1F2A24"/>
                </a:solidFill>
              </a:rPr>
              <a:t>keeps the last pack</a:t>
            </a:r>
          </a:p>
        </p:txBody>
      </p:sp>
      <p:cxnSp>
        <p:nvCxnSpPr>
          <p:cNvPr id="9" name="Connector 8"/>
          <p:cNvCxnSpPr/>
          <p:nvPr/>
        </p:nvCxnSpPr>
        <p:spPr>
          <a:xfrm>
            <a:off x="5760720" y="1938528"/>
            <a:ext cx="274320"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9006840" y="1417320"/>
            <a:ext cx="2697480" cy="105156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Phone, no signal</a:t>
            </a:r>
          </a:p>
          <a:p>
            <a:pPr algn="ctr"/>
            <a:r>
              <a:rPr sz="1000" b="0">
                <a:solidFill>
                  <a:srgbClr val="1F2A24"/>
                </a:solidFill>
              </a:rPr>
              <a:t>ST-GNN in Dart →</a:t>
            </a:r>
          </a:p>
          <a:p>
            <a:pPr algn="ctr"/>
            <a:r>
              <a:rPr sz="1000" b="0">
                <a:solidFill>
                  <a:srgbClr val="1F2A24"/>
                </a:solidFill>
              </a:rPr>
              <a:t>busiest sections tomorrow</a:t>
            </a:r>
          </a:p>
        </p:txBody>
      </p:sp>
      <p:cxnSp>
        <p:nvCxnSpPr>
          <p:cNvPr id="11" name="Connector 10"/>
          <p:cNvCxnSpPr/>
          <p:nvPr/>
        </p:nvCxnSpPr>
        <p:spPr>
          <a:xfrm>
            <a:off x="8732520" y="1938528"/>
            <a:ext cx="274320"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2" name="Table 11"/>
          <p:cNvGraphicFramePr>
            <a:graphicFrameLocks noGrp="1"/>
          </p:cNvGraphicFramePr>
          <p:nvPr/>
        </p:nvGraphicFramePr>
        <p:xfrm>
          <a:off x="3063240" y="2788920"/>
          <a:ext cx="8869679" cy="2304288"/>
        </p:xfrm>
        <a:graphic>
          <a:graphicData uri="http://schemas.openxmlformats.org/drawingml/2006/table">
            <a:tbl>
              <a:tblPr firstRow="1" bandRow="1">
                <a:tableStyleId>{5C22544A-7EE6-4342-B048-85BDC9FD1C3A}</a:tableStyleId>
              </a:tblPr>
              <a:tblGrid>
                <a:gridCol w="3749039"/>
                <a:gridCol w="2560320"/>
                <a:gridCol w="2560320"/>
              </a:tblGrid>
              <a:tr h="384048">
                <a:tc>
                  <a:txBody>
                    <a:bodyPr/>
                    <a:lstStyle/>
                    <a:p>
                      <a:r>
                        <a:rPr sz="1300" b="1">
                          <a:solidFill>
                            <a:srgbClr val="FFFFFF"/>
                          </a:solidFill>
                        </a:rPr>
                        <a:t>Measure</a:t>
                      </a:r>
                    </a:p>
                  </a:txBody>
                  <a:tcPr marL="54864" marR="54864" marT="27432" marB="27432">
                    <a:solidFill>
                      <a:srgbClr val="2F6B4F"/>
                    </a:solidFill>
                  </a:tcPr>
                </a:tc>
                <a:tc>
                  <a:txBody>
                    <a:bodyPr/>
                    <a:lstStyle/>
                    <a:p>
                      <a:r>
                        <a:rPr sz="1300" b="1">
                          <a:solidFill>
                            <a:srgbClr val="FFFFFF"/>
                          </a:solidFill>
                        </a:rPr>
                        <a:t>Horton Plains</a:t>
                      </a:r>
                    </a:p>
                  </a:txBody>
                  <a:tcPr marL="54864" marR="54864" marT="27432" marB="27432">
                    <a:solidFill>
                      <a:srgbClr val="2F6B4F"/>
                    </a:solidFill>
                  </a:tcPr>
                </a:tc>
                <a:tc>
                  <a:txBody>
                    <a:bodyPr/>
                    <a:lstStyle/>
                    <a:p>
                      <a:r>
                        <a:rPr sz="1300" b="1">
                          <a:solidFill>
                            <a:srgbClr val="FFFFFF"/>
                          </a:solidFill>
                        </a:rPr>
                        <a:t>Adam's Peak</a:t>
                      </a:r>
                    </a:p>
                  </a:txBody>
                  <a:tcPr marL="54864" marR="54864" marT="27432" marB="27432">
                    <a:solidFill>
                      <a:srgbClr val="2F6B4F"/>
                    </a:solidFill>
                  </a:tcPr>
                </a:tc>
              </a:tr>
              <a:tr h="384048">
                <a:tc>
                  <a:txBody>
                    <a:bodyPr/>
                    <a:lstStyle/>
                    <a:p>
                      <a:r>
                        <a:rPr sz="1300" b="0">
                          <a:solidFill>
                            <a:srgbClr val="1F2A24"/>
                          </a:solidFill>
                        </a:rPr>
                        <a:t>Latency, ONNX (1 laptop core)</a:t>
                      </a:r>
                    </a:p>
                  </a:txBody>
                  <a:tcPr marL="54864" marR="54864" marT="27432" marB="27432">
                    <a:solidFill>
                      <a:srgbClr val="FFFFFF"/>
                    </a:solidFill>
                  </a:tcPr>
                </a:tc>
                <a:tc>
                  <a:txBody>
                    <a:bodyPr/>
                    <a:lstStyle/>
                    <a:p>
                      <a:r>
                        <a:rPr sz="1300" b="0">
                          <a:solidFill>
                            <a:srgbClr val="1F2A24"/>
                          </a:solidFill>
                        </a:rPr>
                        <a:t>1.9 ms</a:t>
                      </a:r>
                    </a:p>
                  </a:txBody>
                  <a:tcPr marL="54864" marR="54864" marT="27432" marB="27432">
                    <a:solidFill>
                      <a:srgbClr val="FFFFFF"/>
                    </a:solidFill>
                  </a:tcPr>
                </a:tc>
                <a:tc>
                  <a:txBody>
                    <a:bodyPr/>
                    <a:lstStyle/>
                    <a:p>
                      <a:r>
                        <a:rPr sz="1300" b="0">
                          <a:solidFill>
                            <a:srgbClr val="1F2A24"/>
                          </a:solidFill>
                        </a:rPr>
                        <a:t>2.22 ms</a:t>
                      </a:r>
                    </a:p>
                  </a:txBody>
                  <a:tcPr marL="54864" marR="54864" marT="27432" marB="27432">
                    <a:solidFill>
                      <a:srgbClr val="FFFFFF"/>
                    </a:solidFill>
                  </a:tcPr>
                </a:tc>
              </a:tr>
              <a:tr h="384048">
                <a:tc>
                  <a:txBody>
                    <a:bodyPr/>
                    <a:lstStyle/>
                    <a:p>
                      <a:r>
                        <a:rPr sz="1300" b="0">
                          <a:solidFill>
                            <a:srgbClr val="1F2A24"/>
                          </a:solidFill>
                        </a:rPr>
                        <a:t>Model file / extra memory</a:t>
                      </a:r>
                    </a:p>
                  </a:txBody>
                  <a:tcPr marL="54864" marR="54864" marT="27432" marB="27432">
                    <a:solidFill>
                      <a:srgbClr val="F4F7F5"/>
                    </a:solidFill>
                  </a:tcPr>
                </a:tc>
                <a:tc>
                  <a:txBody>
                    <a:bodyPr/>
                    <a:lstStyle/>
                    <a:p>
                      <a:r>
                        <a:rPr sz="1300" b="0">
                          <a:solidFill>
                            <a:srgbClr val="1F2A24"/>
                          </a:solidFill>
                        </a:rPr>
                        <a:t>103 KB / 1.7 MB</a:t>
                      </a:r>
                    </a:p>
                  </a:txBody>
                  <a:tcPr marL="54864" marR="54864" marT="27432" marB="27432">
                    <a:solidFill>
                      <a:srgbClr val="F4F7F5"/>
                    </a:solidFill>
                  </a:tcPr>
                </a:tc>
                <a:tc>
                  <a:txBody>
                    <a:bodyPr/>
                    <a:lstStyle/>
                    <a:p>
                      <a:r>
                        <a:rPr sz="1300" b="0">
                          <a:solidFill>
                            <a:srgbClr val="1F2A24"/>
                          </a:solidFill>
                        </a:rPr>
                        <a:t>110 KB / 2.2 MB</a:t>
                      </a:r>
                    </a:p>
                  </a:txBody>
                  <a:tcPr marL="54864" marR="54864" marT="27432" marB="27432">
                    <a:solidFill>
                      <a:srgbClr val="F4F7F5"/>
                    </a:solidFill>
                  </a:tcPr>
                </a:tc>
              </a:tr>
              <a:tr h="384048">
                <a:tc>
                  <a:txBody>
                    <a:bodyPr/>
                    <a:lstStyle/>
                    <a:p>
                      <a:r>
                        <a:rPr sz="1300" b="0">
                          <a:solidFill>
                            <a:srgbClr val="1F2A24"/>
                          </a:solidFill>
                        </a:rPr>
                        <a:t>int8 quantisation: error change</a:t>
                      </a:r>
                    </a:p>
                  </a:txBody>
                  <a:tcPr marL="54864" marR="54864" marT="27432" marB="27432">
                    <a:solidFill>
                      <a:srgbClr val="FFFFFF"/>
                    </a:solidFill>
                  </a:tcPr>
                </a:tc>
                <a:tc>
                  <a:txBody>
                    <a:bodyPr/>
                    <a:lstStyle/>
                    <a:p>
                      <a:r>
                        <a:rPr sz="1300" b="0">
                          <a:solidFill>
                            <a:srgbClr val="1F2A24"/>
                          </a:solidFill>
                        </a:rPr>
                        <a:t>-0.3 %</a:t>
                      </a:r>
                    </a:p>
                  </a:txBody>
                  <a:tcPr marL="54864" marR="54864" marT="27432" marB="27432">
                    <a:solidFill>
                      <a:srgbClr val="FFFFFF"/>
                    </a:solidFill>
                  </a:tcPr>
                </a:tc>
                <a:tc>
                  <a:txBody>
                    <a:bodyPr/>
                    <a:lstStyle/>
                    <a:p>
                      <a:r>
                        <a:rPr sz="1300" b="0">
                          <a:solidFill>
                            <a:srgbClr val="1F2A24"/>
                          </a:solidFill>
                        </a:rPr>
                        <a:t>+24.6 % → not used</a:t>
                      </a:r>
                    </a:p>
                  </a:txBody>
                  <a:tcPr marL="54864" marR="54864" marT="27432" marB="27432">
                    <a:solidFill>
                      <a:srgbClr val="FFFFFF"/>
                    </a:solidFill>
                  </a:tcPr>
                </a:tc>
              </a:tr>
              <a:tr h="384048">
                <a:tc>
                  <a:txBody>
                    <a:bodyPr/>
                    <a:lstStyle/>
                    <a:p>
                      <a:r>
                        <a:rPr sz="1300" b="0">
                          <a:solidFill>
                            <a:srgbClr val="1F2A24"/>
                          </a:solidFill>
                        </a:rPr>
                        <a:t>Dart on the phone vs PyTorch</a:t>
                      </a:r>
                    </a:p>
                  </a:txBody>
                  <a:tcPr marL="54864" marR="54864" marT="27432" marB="27432">
                    <a:solidFill>
                      <a:srgbClr val="F4F7F5"/>
                    </a:solidFill>
                  </a:tcPr>
                </a:tc>
                <a:tc>
                  <a:txBody>
                    <a:bodyPr/>
                    <a:lstStyle/>
                    <a:p>
                      <a:r>
                        <a:rPr sz="1300" b="0">
                          <a:solidFill>
                            <a:srgbClr val="1F2A24"/>
                          </a:solidFill>
                        </a:rPr>
                        <a:t>≤ 0.0001 people</a:t>
                      </a:r>
                    </a:p>
                  </a:txBody>
                  <a:tcPr marL="54864" marR="54864" marT="27432" marB="27432">
                    <a:solidFill>
                      <a:srgbClr val="F4F7F5"/>
                    </a:solidFill>
                  </a:tcPr>
                </a:tc>
                <a:tc>
                  <a:txBody>
                    <a:bodyPr/>
                    <a:lstStyle/>
                    <a:p>
                      <a:r>
                        <a:rPr sz="1300" b="0">
                          <a:solidFill>
                            <a:srgbClr val="1F2A24"/>
                          </a:solidFill>
                        </a:rPr>
                        <a:t>same engine</a:t>
                      </a:r>
                    </a:p>
                  </a:txBody>
                  <a:tcPr marL="54864" marR="54864" marT="27432" marB="27432">
                    <a:solidFill>
                      <a:srgbClr val="F4F7F5"/>
                    </a:solidFill>
                  </a:tcPr>
                </a:tc>
              </a:tr>
              <a:tr h="384048">
                <a:tc>
                  <a:txBody>
                    <a:bodyPr/>
                    <a:lstStyle/>
                    <a:p>
                      <a:r>
                        <a:rPr sz="1300" b="0">
                          <a:solidFill>
                            <a:srgbClr val="1F2A24"/>
                          </a:solidFill>
                        </a:rPr>
                        <a:t>NFR1 target</a:t>
                      </a:r>
                    </a:p>
                  </a:txBody>
                  <a:tcPr marL="54864" marR="54864" marT="27432" marB="27432">
                    <a:solidFill>
                      <a:srgbClr val="FFFFFF"/>
                    </a:solidFill>
                  </a:tcPr>
                </a:tc>
                <a:tc>
                  <a:txBody>
                    <a:bodyPr/>
                    <a:lstStyle/>
                    <a:p>
                      <a:r>
                        <a:rPr sz="1300" b="0">
                          <a:solidFill>
                            <a:srgbClr val="1F2A24"/>
                          </a:solidFill>
                        </a:rPr>
                        <a:t>&lt; 2 s  ✓</a:t>
                      </a:r>
                    </a:p>
                  </a:txBody>
                  <a:tcPr marL="54864" marR="54864" marT="27432" marB="27432">
                    <a:solidFill>
                      <a:srgbClr val="FFFFFF"/>
                    </a:solidFill>
                  </a:tcPr>
                </a:tc>
                <a:tc>
                  <a:txBody>
                    <a:bodyPr/>
                    <a:lstStyle/>
                    <a:p>
                      <a:r>
                        <a:rPr sz="1300" b="0">
                          <a:solidFill>
                            <a:srgbClr val="1F2A24"/>
                          </a:solidFill>
                        </a:rPr>
                        <a:t>&lt; 2 s  ✓</a:t>
                      </a:r>
                    </a:p>
                  </a:txBody>
                  <a:tcPr marL="54864" marR="54864" marT="27432" marB="27432">
                    <a:solidFill>
                      <a:srgbClr val="FFFFFF"/>
                    </a:solidFill>
                  </a:tcPr>
                </a:tc>
              </a:tr>
            </a:tbl>
          </a:graphicData>
        </a:graphic>
      </p:graphicFrame>
      <p:sp>
        <p:nvSpPr>
          <p:cNvPr id="13" name="TextBox 12"/>
          <p:cNvSpPr txBox="1"/>
          <p:nvPr/>
        </p:nvSpPr>
        <p:spPr>
          <a:xfrm>
            <a:off x="3063240" y="5257800"/>
            <a:ext cx="8869680" cy="457200"/>
          </a:xfrm>
          <a:prstGeom prst="rect">
            <a:avLst/>
          </a:prstGeom>
          <a:noFill/>
        </p:spPr>
        <p:txBody>
          <a:bodyPr wrap="square" anchor="t">
            <a:spAutoFit/>
          </a:bodyPr>
          <a:lstStyle/>
          <a:p>
            <a:pPr algn="l"/>
            <a:r>
              <a:rPr sz="1200" b="0">
                <a:solidFill>
                  <a:srgbClr val="6B7280"/>
                </a:solidFill>
              </a:rPr>
              <a:t>Dart forward pass ≈ 140–210 ms in the test runner (unoptimised); real-phone timing is the next step.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 – NEXT STEP</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RQ7 – Field validation, criteria fixed before the counts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16</a:t>
            </a:r>
          </a:p>
        </p:txBody>
      </p:sp>
      <p:graphicFrame>
        <p:nvGraphicFramePr>
          <p:cNvPr id="6" name="Table 5"/>
          <p:cNvGraphicFramePr>
            <a:graphicFrameLocks noGrp="1"/>
          </p:cNvGraphicFramePr>
          <p:nvPr/>
        </p:nvGraphicFramePr>
        <p:xfrm>
          <a:off x="548640" y="1463040"/>
          <a:ext cx="6949440" cy="1828800"/>
        </p:xfrm>
        <a:graphic>
          <a:graphicData uri="http://schemas.openxmlformats.org/drawingml/2006/table">
            <a:tbl>
              <a:tblPr firstRow="1" bandRow="1">
                <a:tableStyleId>{5C22544A-7EE6-4342-B048-85BDC9FD1C3A}</a:tableStyleId>
              </a:tblPr>
              <a:tblGrid>
                <a:gridCol w="548640"/>
                <a:gridCol w="4937760"/>
                <a:gridCol w="1463040"/>
              </a:tblGrid>
              <a:tr h="457200">
                <a:tc>
                  <a:txBody>
                    <a:bodyPr/>
                    <a:lstStyle/>
                    <a:p>
                      <a:r>
                        <a:rPr sz="1300" b="1">
                          <a:solidFill>
                            <a:srgbClr val="FFFFFF"/>
                          </a:solidFill>
                        </a:rPr>
                        <a:t>#</a:t>
                      </a:r>
                    </a:p>
                  </a:txBody>
                  <a:tcPr marL="54864" marR="54864" marT="27432" marB="27432">
                    <a:solidFill>
                      <a:srgbClr val="2F6B4F"/>
                    </a:solidFill>
                  </a:tcPr>
                </a:tc>
                <a:tc>
                  <a:txBody>
                    <a:bodyPr/>
                    <a:lstStyle/>
                    <a:p>
                      <a:r>
                        <a:rPr sz="1300" b="1">
                          <a:solidFill>
                            <a:srgbClr val="FFFFFF"/>
                          </a:solidFill>
                        </a:rPr>
                        <a:t>Criterion (pre-registered 20 Oct 2026)</a:t>
                      </a:r>
                    </a:p>
                  </a:txBody>
                  <a:tcPr marL="54864" marR="54864" marT="27432" marB="27432">
                    <a:solidFill>
                      <a:srgbClr val="2F6B4F"/>
                    </a:solidFill>
                  </a:tcPr>
                </a:tc>
                <a:tc>
                  <a:txBody>
                    <a:bodyPr/>
                    <a:lstStyle/>
                    <a:p>
                      <a:r>
                        <a:rPr sz="1300" b="1">
                          <a:solidFill>
                            <a:srgbClr val="FFFFFF"/>
                          </a:solidFill>
                        </a:rPr>
                        <a:t>Pass if</a:t>
                      </a:r>
                    </a:p>
                  </a:txBody>
                  <a:tcPr marL="54864" marR="54864" marT="27432" marB="27432">
                    <a:solidFill>
                      <a:srgbClr val="2F6B4F"/>
                    </a:solidFill>
                  </a:tcPr>
                </a:tc>
              </a:tr>
              <a:tr h="457200">
                <a:tc>
                  <a:txBody>
                    <a:bodyPr/>
                    <a:lstStyle/>
                    <a:p>
                      <a:r>
                        <a:rPr sz="1300" b="0">
                          <a:solidFill>
                            <a:srgbClr val="1F2A24"/>
                          </a:solidFill>
                        </a:rPr>
                        <a:t>A1</a:t>
                      </a:r>
                    </a:p>
                  </a:txBody>
                  <a:tcPr marL="54864" marR="54864" marT="27432" marB="27432">
                    <a:solidFill>
                      <a:srgbClr val="FFFFFF"/>
                    </a:solidFill>
                  </a:tcPr>
                </a:tc>
                <a:tc>
                  <a:txBody>
                    <a:bodyPr/>
                    <a:lstStyle/>
                    <a:p>
                      <a:r>
                        <a:rPr sz="1300" b="0">
                          <a:solidFill>
                            <a:srgbClr val="1F2A24"/>
                          </a:solidFill>
                        </a:rPr>
                        <a:t>MAE ÷ mean observed daily peak (typical error vs a busy moment)</a:t>
                      </a:r>
                    </a:p>
                  </a:txBody>
                  <a:tcPr marL="54864" marR="54864" marT="27432" marB="27432">
                    <a:solidFill>
                      <a:srgbClr val="FFFFFF"/>
                    </a:solidFill>
                  </a:tcPr>
                </a:tc>
                <a:tc>
                  <a:txBody>
                    <a:bodyPr/>
                    <a:lstStyle/>
                    <a:p>
                      <a:r>
                        <a:rPr sz="1300" b="0">
                          <a:solidFill>
                            <a:srgbClr val="1F2A24"/>
                          </a:solidFill>
                        </a:rPr>
                        <a:t>≤ 0.25</a:t>
                      </a:r>
                    </a:p>
                  </a:txBody>
                  <a:tcPr marL="54864" marR="54864" marT="27432" marB="27432">
                    <a:solidFill>
                      <a:srgbClr val="FFFFFF"/>
                    </a:solidFill>
                  </a:tcPr>
                </a:tc>
              </a:tr>
              <a:tr h="457200">
                <a:tc>
                  <a:txBody>
                    <a:bodyPr/>
                    <a:lstStyle/>
                    <a:p>
                      <a:r>
                        <a:rPr sz="1300" b="0">
                          <a:solidFill>
                            <a:srgbClr val="1F2A24"/>
                          </a:solidFill>
                        </a:rPr>
                        <a:t>A2</a:t>
                      </a:r>
                    </a:p>
                  </a:txBody>
                  <a:tcPr marL="54864" marR="54864" marT="27432" marB="27432">
                    <a:solidFill>
                      <a:srgbClr val="F4F7F5"/>
                    </a:solidFill>
                  </a:tcPr>
                </a:tc>
                <a:tc>
                  <a:txBody>
                    <a:bodyPr/>
                    <a:lstStyle/>
                    <a:p>
                      <a:r>
                        <a:rPr sz="1300" b="0">
                          <a:solidFill>
                            <a:srgbClr val="1F2A24"/>
                          </a:solidFill>
                        </a:rPr>
                        <a:t>Spearman rank correlation of counts and predictions</a:t>
                      </a:r>
                    </a:p>
                  </a:txBody>
                  <a:tcPr marL="54864" marR="54864" marT="27432" marB="27432">
                    <a:solidFill>
                      <a:srgbClr val="F4F7F5"/>
                    </a:solidFill>
                  </a:tcPr>
                </a:tc>
                <a:tc>
                  <a:txBody>
                    <a:bodyPr/>
                    <a:lstStyle/>
                    <a:p>
                      <a:r>
                        <a:rPr sz="1300" b="0">
                          <a:solidFill>
                            <a:srgbClr val="1F2A24"/>
                          </a:solidFill>
                        </a:rPr>
                        <a:t>≥ 0.6</a:t>
                      </a:r>
                    </a:p>
                  </a:txBody>
                  <a:tcPr marL="54864" marR="54864" marT="27432" marB="27432">
                    <a:solidFill>
                      <a:srgbClr val="F4F7F5"/>
                    </a:solidFill>
                  </a:tcPr>
                </a:tc>
              </a:tr>
              <a:tr h="457200">
                <a:tc>
                  <a:txBody>
                    <a:bodyPr/>
                    <a:lstStyle/>
                    <a:p>
                      <a:r>
                        <a:rPr sz="1300" b="0">
                          <a:solidFill>
                            <a:srgbClr val="1F2A24"/>
                          </a:solidFill>
                        </a:rPr>
                        <a:t>A3</a:t>
                      </a:r>
                    </a:p>
                  </a:txBody>
                  <a:tcPr marL="54864" marR="54864" marT="27432" marB="27432">
                    <a:solidFill>
                      <a:srgbClr val="FFFFFF"/>
                    </a:solidFill>
                  </a:tcPr>
                </a:tc>
                <a:tc>
                  <a:txBody>
                    <a:bodyPr/>
                    <a:lstStyle/>
                    <a:p>
                      <a:r>
                        <a:rPr sz="1300" b="0">
                          <a:solidFill>
                            <a:srgbClr val="1F2A24"/>
                          </a:solidFill>
                        </a:rPr>
                        <a:t>Hour of the highest count vs highest prediction, per place and day</a:t>
                      </a:r>
                    </a:p>
                  </a:txBody>
                  <a:tcPr marL="54864" marR="54864" marT="27432" marB="27432">
                    <a:solidFill>
                      <a:srgbClr val="FFFFFF"/>
                    </a:solidFill>
                  </a:tcPr>
                </a:tc>
                <a:tc>
                  <a:txBody>
                    <a:bodyPr/>
                    <a:lstStyle/>
                    <a:p>
                      <a:r>
                        <a:rPr sz="1300" b="0">
                          <a:solidFill>
                            <a:srgbClr val="1F2A24"/>
                          </a:solidFill>
                        </a:rPr>
                        <a:t>±1 h on ≥ half</a:t>
                      </a:r>
                    </a:p>
                  </a:txBody>
                  <a:tcPr marL="54864" marR="54864" marT="27432" marB="27432">
                    <a:solidFill>
                      <a:srgbClr val="FFFFFF"/>
                    </a:solidFill>
                  </a:tcPr>
                </a:tc>
              </a:tr>
            </a:tbl>
          </a:graphicData>
        </a:graphic>
      </p:graphicFrame>
      <p:sp>
        <p:nvSpPr>
          <p:cNvPr id="7" name="TextBox 6"/>
          <p:cNvSpPr txBox="1"/>
          <p:nvPr/>
        </p:nvSpPr>
        <p:spPr>
          <a:xfrm>
            <a:off x="548640" y="3566160"/>
            <a:ext cx="6949440" cy="2743200"/>
          </a:xfrm>
          <a:prstGeom prst="rect">
            <a:avLst/>
          </a:prstGeom>
          <a:noFill/>
        </p:spPr>
        <p:txBody>
          <a:bodyPr wrap="square">
            <a:spAutoFit/>
          </a:bodyPr>
          <a:lstStyle/>
          <a:p>
            <a:pPr>
              <a:spcAft>
                <a:spcPts val="700"/>
              </a:spcAft>
            </a:pPr>
            <a:r>
              <a:rPr sz="1300" b="1">
                <a:solidFill>
                  <a:srgbClr val="1F2A24"/>
                </a:solidFill>
              </a:rPr>
              <a:t>•  Horton Plains (Dec):</a:t>
            </a:r>
            <a:r>
              <a:rPr sz="1300">
                <a:solidFill>
                  <a:srgbClr val="1F2A24"/>
                </a:solidFill>
              </a:rPr>
              <a:t>  2–3 days, weekday + weekend; entrance, Mini World's End, World's End, Baker's Falls every 30 min, 06:00–13:00</a:t>
            </a:r>
          </a:p>
          <a:p>
            <a:pPr>
              <a:spcAft>
                <a:spcPts val="700"/>
              </a:spcAft>
            </a:pPr>
            <a:r>
              <a:rPr sz="1300" b="1">
                <a:solidFill>
                  <a:srgbClr val="1F2A24"/>
                </a:solidFill>
              </a:rPr>
              <a:t>•  Adam's Peak (23 Dec, Unduvap Poya):</a:t>
            </a:r>
            <a:r>
              <a:rPr sz="1300">
                <a:solidFill>
                  <a:srgbClr val="1F2A24"/>
                </a:solidFill>
              </a:rPr>
              <a:t>  final-steps flow every 15 min (the most important unknown, RQ4), halfway counts, summit headcount, climb times</a:t>
            </a:r>
          </a:p>
          <a:p>
            <a:pPr>
              <a:spcAft>
                <a:spcPts val="700"/>
              </a:spcAft>
            </a:pPr>
            <a:r>
              <a:rPr sz="1300" b="1">
                <a:solidFill>
                  <a:srgbClr val="1F2A24"/>
                </a:solidFill>
              </a:rPr>
              <a:t>•  Then:</a:t>
            </a:r>
            <a:r>
              <a:rPr sz="1300">
                <a:solidFill>
                  <a:srgbClr val="1F2A24"/>
                </a:solidFill>
              </a:rPr>
              <a:t>  recalibrate the simulator on all but one day, re-run RQ1–RQ5</a:t>
            </a:r>
          </a:p>
          <a:p>
            <a:pPr>
              <a:spcAft>
                <a:spcPts val="700"/>
              </a:spcAft>
            </a:pPr>
            <a:r>
              <a:rPr sz="1300" b="1">
                <a:solidFill>
                  <a:srgbClr val="1F2A24"/>
                </a:solidFill>
              </a:rPr>
              <a:t>•  Tool ready:</a:t>
            </a:r>
            <a:r>
              <a:rPr sz="1300">
                <a:solidFill>
                  <a:srgbClr val="1F2A24"/>
                </a:solidFill>
              </a:rPr>
              <a:t>  python -m src.eval.field_validation &lt;counting sheets&gt; → report with A1–A3</a:t>
            </a:r>
          </a:p>
          <a:p>
            <a:pPr>
              <a:spcAft>
                <a:spcPts val="700"/>
              </a:spcAft>
            </a:pPr>
            <a:r>
              <a:rPr sz="1300" b="1">
                <a:solidFill>
                  <a:srgbClr val="1F2A24"/>
                </a:solidFill>
              </a:rPr>
              <a:t>•  Ethics:</a:t>
            </a:r>
            <a:r>
              <a:rPr sz="1300">
                <a:solidFill>
                  <a:srgbClr val="1F2A24"/>
                </a:solidFill>
              </a:rPr>
              <a:t>  counts only, no names or faces; permission from the warden and Sri Pada trust</a:t>
            </a:r>
          </a:p>
        </p:txBody>
      </p:sp>
      <p:sp>
        <p:nvSpPr>
          <p:cNvPr id="8" name="Rounded Rectangle 7"/>
          <p:cNvSpPr/>
          <p:nvPr/>
        </p:nvSpPr>
        <p:spPr>
          <a:xfrm>
            <a:off x="7863840" y="1554480"/>
            <a:ext cx="3931920" cy="3108960"/>
          </a:xfrm>
          <a:prstGeom prst="roundRect">
            <a:avLst>
              <a:gd name="adj" fmla="val 12000"/>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rPr>
              <a:t>Main objective:</a:t>
            </a:r>
          </a:p>
          <a:p>
            <a:pPr algn="ctr"/>
            <a:r>
              <a:rPr sz="1300" b="0">
                <a:solidFill>
                  <a:srgbClr val="FFFFFF"/>
                </a:solidFill>
              </a:rPr>
              <a:t>“significant improvement … on at least one field-validated pilot trail”</a:t>
            </a:r>
          </a:p>
          <a:p>
            <a:pPr algn="ctr"/>
            <a:r>
              <a:rPr sz="1300" b="0">
                <a:solidFill>
                  <a:srgbClr val="FFFFFF"/>
                </a:solidFill>
              </a:rPr>
              <a:t/>
            </a:r>
          </a:p>
          <a:p>
            <a:pPr algn="ctr"/>
            <a:r>
              <a:rPr sz="1300" b="0">
                <a:solidFill>
                  <a:srgbClr val="FFFFFF"/>
                </a:solidFill>
              </a:rPr>
              <a:t>→ the December counts turn the simulated results into that claim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 – FR2, FR3, NFR4</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The proposal's output: bottlenecks and safe numbers per section</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17</a:t>
            </a:r>
          </a:p>
        </p:txBody>
      </p:sp>
      <p:pic>
        <p:nvPicPr>
          <p:cNvPr id="6" name="Picture 5" descr="11_bottleneck_map.png"/>
          <p:cNvPicPr>
            <a:picLocks noChangeAspect="1"/>
          </p:cNvPicPr>
          <p:nvPr/>
        </p:nvPicPr>
        <p:blipFill>
          <a:blip r:embed="rId3"/>
          <a:stretch>
            <a:fillRect/>
          </a:stretch>
        </p:blipFill>
        <p:spPr>
          <a:xfrm>
            <a:off x="502920" y="1325880"/>
            <a:ext cx="1919113" cy="4160520"/>
          </a:xfrm>
          <a:prstGeom prst="rect">
            <a:avLst/>
          </a:prstGeom>
          <a:ln w="12700">
            <a:solidFill>
              <a:srgbClr val="C9D3CD"/>
            </a:solidFill>
          </a:ln>
        </p:spPr>
      </p:pic>
      <p:sp>
        <p:nvSpPr>
          <p:cNvPr id="7" name="TextBox 6"/>
          <p:cNvSpPr txBox="1"/>
          <p:nvPr/>
        </p:nvSpPr>
        <p:spPr>
          <a:xfrm>
            <a:off x="457200" y="5532120"/>
            <a:ext cx="2057400" cy="822960"/>
          </a:xfrm>
          <a:prstGeom prst="rect">
            <a:avLst/>
          </a:prstGeom>
          <a:noFill/>
        </p:spPr>
        <p:txBody>
          <a:bodyPr wrap="square" anchor="t">
            <a:spAutoFit/>
          </a:bodyPr>
          <a:lstStyle/>
          <a:p>
            <a:pPr algn="ctr"/>
            <a:r>
              <a:rPr sz="1100" b="0">
                <a:solidFill>
                  <a:srgbClr val="1F2A24"/>
                </a:solidFill>
              </a:rPr>
              <a:t>Tomorrow, hour by hour:</a:t>
            </a:r>
          </a:p>
          <a:p>
            <a:pPr algn="ctr"/>
            <a:r>
              <a:rPr sz="1100" b="0">
                <a:solidFill>
                  <a:srgbClr val="1F2A24"/>
                </a:solidFill>
              </a:rPr>
              <a:t>every section coloured</a:t>
            </a:r>
          </a:p>
        </p:txBody>
      </p:sp>
      <p:pic>
        <p:nvPicPr>
          <p:cNvPr id="8" name="Picture 7" descr="12_safe_numbers.png"/>
          <p:cNvPicPr>
            <a:picLocks noChangeAspect="1"/>
          </p:cNvPicPr>
          <p:nvPr/>
        </p:nvPicPr>
        <p:blipFill>
          <a:blip r:embed="rId4"/>
          <a:stretch>
            <a:fillRect/>
          </a:stretch>
        </p:blipFill>
        <p:spPr>
          <a:xfrm>
            <a:off x="2606040" y="1325880"/>
            <a:ext cx="1919113" cy="4160520"/>
          </a:xfrm>
          <a:prstGeom prst="rect">
            <a:avLst/>
          </a:prstGeom>
          <a:ln w="12700">
            <a:solidFill>
              <a:srgbClr val="C9D3CD"/>
            </a:solidFill>
          </a:ln>
        </p:spPr>
      </p:pic>
      <p:sp>
        <p:nvSpPr>
          <p:cNvPr id="9" name="TextBox 8"/>
          <p:cNvSpPr txBox="1"/>
          <p:nvPr/>
        </p:nvSpPr>
        <p:spPr>
          <a:xfrm>
            <a:off x="2560320" y="5532120"/>
            <a:ext cx="2057400" cy="822960"/>
          </a:xfrm>
          <a:prstGeom prst="rect">
            <a:avLst/>
          </a:prstGeom>
          <a:noFill/>
        </p:spPr>
        <p:txBody>
          <a:bodyPr wrap="square" anchor="t">
            <a:spAutoFit/>
          </a:bodyPr>
          <a:lstStyle/>
          <a:p>
            <a:pPr algn="ctr"/>
            <a:r>
              <a:rPr sz="1100" b="0">
                <a:solidFill>
                  <a:srgbClr val="1F2A24"/>
                </a:solidFill>
              </a:rPr>
              <a:t>Safe number per trail,</a:t>
            </a:r>
          </a:p>
          <a:p>
            <a:pPr algn="ctr"/>
            <a:r>
              <a:rPr sz="1100" b="0">
                <a:solidFill>
                  <a:srgbClr val="1F2A24"/>
                </a:solidFill>
              </a:rPr>
              <a:t>set by its limiting section</a:t>
            </a:r>
          </a:p>
        </p:txBody>
      </p:sp>
      <p:sp>
        <p:nvSpPr>
          <p:cNvPr id="10" name="TextBox 9"/>
          <p:cNvSpPr txBox="1"/>
          <p:nvPr/>
        </p:nvSpPr>
        <p:spPr>
          <a:xfrm>
            <a:off x="4846320" y="1463040"/>
            <a:ext cx="7132320" cy="4754880"/>
          </a:xfrm>
          <a:prstGeom prst="rect">
            <a:avLst/>
          </a:prstGeom>
          <a:noFill/>
        </p:spPr>
        <p:txBody>
          <a:bodyPr wrap="square">
            <a:spAutoFit/>
          </a:bodyPr>
          <a:lstStyle/>
          <a:p>
            <a:pPr>
              <a:spcAft>
                <a:spcPts val="1200"/>
              </a:spcAft>
            </a:pPr>
            <a:r>
              <a:rPr sz="1500" b="1">
                <a:solidFill>
                  <a:srgbClr val="1F2A24"/>
                </a:solidFill>
              </a:rPr>
              <a:t>•  Per section:</a:t>
            </a:r>
            <a:r>
              <a:rPr sz="1500">
                <a:solidFill>
                  <a:srgbClr val="1F2A24"/>
                </a:solidFill>
              </a:rPr>
              <a:t>  ST-GNN forecast ÷ people it holds at once (groups of 10, 50 m apart)</a:t>
            </a:r>
          </a:p>
          <a:p>
            <a:pPr>
              <a:spcAft>
                <a:spcPts val="1200"/>
              </a:spcAft>
            </a:pPr>
            <a:r>
              <a:rPr sz="1500" b="1">
                <a:solidFill>
                  <a:srgbClr val="1F2A24"/>
                </a:solidFill>
              </a:rPr>
              <a:t>•  Per trail:</a:t>
            </a:r>
            <a:r>
              <a:rPr sz="1500">
                <a:solidFill>
                  <a:srgbClr val="1F2A24"/>
                </a:solidFill>
              </a:rPr>
              <a:t>  Cifuentes PCC → RCC → ECC; the most limiting section sets the safe number</a:t>
            </a:r>
          </a:p>
          <a:p>
            <a:pPr>
              <a:spcAft>
                <a:spcPts val="1200"/>
              </a:spcAft>
            </a:pPr>
            <a:r>
              <a:rPr sz="1500" b="1">
                <a:solidFill>
                  <a:srgbClr val="1F2A24"/>
                </a:solidFill>
              </a:rPr>
              <a:t>•  Instead of a fixed quota:</a:t>
            </a:r>
            <a:r>
              <a:rPr sz="1500">
                <a:solidFill>
                  <a:srgbClr val="1F2A24"/>
                </a:solidFill>
              </a:rPr>
              <a:t>  690 tomorrow (weather, wet ground, crowding) vs 719 fixed</a:t>
            </a:r>
          </a:p>
          <a:p>
            <a:pPr>
              <a:spcAft>
                <a:spcPts val="1200"/>
              </a:spcAft>
            </a:pPr>
            <a:r>
              <a:rPr sz="1500" b="1">
                <a:solidFill>
                  <a:srgbClr val="1F2A24"/>
                </a:solidFill>
              </a:rPr>
              <a:t>•  Offline:</a:t>
            </a:r>
            <a:r>
              <a:rPr sz="1500">
                <a:solidFill>
                  <a:srgbClr val="1F2A24"/>
                </a:solidFill>
              </a:rPr>
              <a:t>  drawn from the forecast the phone computes itself (RQ6)</a:t>
            </a:r>
          </a:p>
          <a:p>
            <a:pPr>
              <a:spcAft>
                <a:spcPts val="1200"/>
              </a:spcAft>
            </a:pPr>
            <a:r>
              <a:rPr sz="1500" b="1">
                <a:solidFill>
                  <a:srgbClr val="1F2A24"/>
                </a:solidFill>
              </a:rPr>
              <a:t>•  Users:</a:t>
            </a:r>
            <a:r>
              <a:rPr sz="1500">
                <a:solidFill>
                  <a:srgbClr val="1F2A24"/>
                </a:solidFill>
              </a:rPr>
              <a:t>  officers (first tab), rangers, visitors (map → “Tomorrow's crowding”)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COMPLETION OF PROTOTYPE</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Working prototype – visitors plan a trip</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18</a:t>
            </a:r>
          </a:p>
        </p:txBody>
      </p:sp>
      <p:pic>
        <p:nvPicPr>
          <p:cNvPr id="6" name="Picture 5" descr="01_destinations.png"/>
          <p:cNvPicPr>
            <a:picLocks noChangeAspect="1"/>
          </p:cNvPicPr>
          <p:nvPr/>
        </p:nvPicPr>
        <p:blipFill>
          <a:blip r:embed="rId3"/>
          <a:stretch>
            <a:fillRect/>
          </a:stretch>
        </p:blipFill>
        <p:spPr>
          <a:xfrm>
            <a:off x="502920" y="1325880"/>
            <a:ext cx="1919113" cy="4160520"/>
          </a:xfrm>
          <a:prstGeom prst="rect">
            <a:avLst/>
          </a:prstGeom>
          <a:ln w="12700">
            <a:solidFill>
              <a:srgbClr val="C9D3CD"/>
            </a:solidFill>
          </a:ln>
        </p:spPr>
      </p:pic>
      <p:sp>
        <p:nvSpPr>
          <p:cNvPr id="7" name="TextBox 6"/>
          <p:cNvSpPr txBox="1"/>
          <p:nvPr/>
        </p:nvSpPr>
        <p:spPr>
          <a:xfrm>
            <a:off x="457200" y="5532120"/>
            <a:ext cx="2057400" cy="822960"/>
          </a:xfrm>
          <a:prstGeom prst="rect">
            <a:avLst/>
          </a:prstGeom>
          <a:noFill/>
        </p:spPr>
        <p:txBody>
          <a:bodyPr wrap="square" anchor="t">
            <a:spAutoFit/>
          </a:bodyPr>
          <a:lstStyle/>
          <a:p>
            <a:pPr algn="ctr"/>
            <a:r>
              <a:rPr sz="1100" b="0">
                <a:solidFill>
                  <a:srgbClr val="1F2A24"/>
                </a:solidFill>
              </a:rPr>
              <a:t>Where to? – every destination,</a:t>
            </a:r>
          </a:p>
          <a:p>
            <a:pPr algn="ctr"/>
            <a:r>
              <a:rPr sz="1100" b="0">
                <a:solidFill>
                  <a:srgbClr val="1F2A24"/>
                </a:solidFill>
              </a:rPr>
              <a:t>its next 7 days</a:t>
            </a:r>
          </a:p>
        </p:txBody>
      </p:sp>
      <p:pic>
        <p:nvPicPr>
          <p:cNvPr id="8" name="Picture 7" descr="02_overview_adams_peak.png"/>
          <p:cNvPicPr>
            <a:picLocks noChangeAspect="1"/>
          </p:cNvPicPr>
          <p:nvPr/>
        </p:nvPicPr>
        <p:blipFill>
          <a:blip r:embed="rId4"/>
          <a:stretch>
            <a:fillRect/>
          </a:stretch>
        </p:blipFill>
        <p:spPr>
          <a:xfrm>
            <a:off x="2606040" y="1325880"/>
            <a:ext cx="1919113" cy="4160520"/>
          </a:xfrm>
          <a:prstGeom prst="rect">
            <a:avLst/>
          </a:prstGeom>
          <a:ln w="12700">
            <a:solidFill>
              <a:srgbClr val="C9D3CD"/>
            </a:solidFill>
          </a:ln>
        </p:spPr>
      </p:pic>
      <p:sp>
        <p:nvSpPr>
          <p:cNvPr id="9" name="TextBox 8"/>
          <p:cNvSpPr txBox="1"/>
          <p:nvPr/>
        </p:nvSpPr>
        <p:spPr>
          <a:xfrm>
            <a:off x="2560320" y="5532120"/>
            <a:ext cx="2057400" cy="822960"/>
          </a:xfrm>
          <a:prstGeom prst="rect">
            <a:avLst/>
          </a:prstGeom>
          <a:noFill/>
        </p:spPr>
        <p:txBody>
          <a:bodyPr wrap="square" anchor="t">
            <a:spAutoFit/>
          </a:bodyPr>
          <a:lstStyle/>
          <a:p>
            <a:pPr algn="ctr"/>
            <a:r>
              <a:rPr sz="1100" b="0">
                <a:solidFill>
                  <a:srgbClr val="1F2A24"/>
                </a:solidFill>
              </a:rPr>
              <a:t>Destination overview,</a:t>
            </a:r>
          </a:p>
          <a:p>
            <a:pPr algn="ctr"/>
            <a:r>
              <a:rPr sz="1100" b="0">
                <a:solidFill>
                  <a:srgbClr val="1F2A24"/>
                </a:solidFill>
              </a:rPr>
              <a:t>quietest days, how to get there</a:t>
            </a:r>
          </a:p>
        </p:txBody>
      </p:sp>
      <p:pic>
        <p:nvPicPr>
          <p:cNvPr id="10" name="Picture 9" descr="03_calendar_horton.png"/>
          <p:cNvPicPr>
            <a:picLocks noChangeAspect="1"/>
          </p:cNvPicPr>
          <p:nvPr/>
        </p:nvPicPr>
        <p:blipFill>
          <a:blip r:embed="rId5"/>
          <a:stretch>
            <a:fillRect/>
          </a:stretch>
        </p:blipFill>
        <p:spPr>
          <a:xfrm>
            <a:off x="4709160" y="1325880"/>
            <a:ext cx="1919113" cy="4160520"/>
          </a:xfrm>
          <a:prstGeom prst="rect">
            <a:avLst/>
          </a:prstGeom>
          <a:ln w="12700">
            <a:solidFill>
              <a:srgbClr val="C9D3CD"/>
            </a:solidFill>
          </a:ln>
        </p:spPr>
      </p:pic>
      <p:sp>
        <p:nvSpPr>
          <p:cNvPr id="11" name="TextBox 10"/>
          <p:cNvSpPr txBox="1"/>
          <p:nvPr/>
        </p:nvSpPr>
        <p:spPr>
          <a:xfrm>
            <a:off x="4663440" y="5532120"/>
            <a:ext cx="2057400" cy="822960"/>
          </a:xfrm>
          <a:prstGeom prst="rect">
            <a:avLst/>
          </a:prstGeom>
          <a:noFill/>
        </p:spPr>
        <p:txBody>
          <a:bodyPr wrap="square" anchor="t">
            <a:spAutoFit/>
          </a:bodyPr>
          <a:lstStyle/>
          <a:p>
            <a:pPr algn="ctr"/>
            <a:r>
              <a:rPr sz="1100" b="0">
                <a:solidFill>
                  <a:srgbClr val="1F2A24"/>
                </a:solidFill>
              </a:rPr>
              <a:t>90-day crowd calendar</a:t>
            </a:r>
          </a:p>
        </p:txBody>
      </p:sp>
      <p:pic>
        <p:nvPicPr>
          <p:cNvPr id="12" name="Picture 11" descr="04_day_horton.png"/>
          <p:cNvPicPr>
            <a:picLocks noChangeAspect="1"/>
          </p:cNvPicPr>
          <p:nvPr/>
        </p:nvPicPr>
        <p:blipFill>
          <a:blip r:embed="rId6"/>
          <a:stretch>
            <a:fillRect/>
          </a:stretch>
        </p:blipFill>
        <p:spPr>
          <a:xfrm>
            <a:off x="6812280" y="1325880"/>
            <a:ext cx="1919113" cy="4160520"/>
          </a:xfrm>
          <a:prstGeom prst="rect">
            <a:avLst/>
          </a:prstGeom>
          <a:ln w="12700">
            <a:solidFill>
              <a:srgbClr val="C9D3CD"/>
            </a:solidFill>
          </a:ln>
        </p:spPr>
      </p:pic>
      <p:sp>
        <p:nvSpPr>
          <p:cNvPr id="13" name="TextBox 12"/>
          <p:cNvSpPr txBox="1"/>
          <p:nvPr/>
        </p:nvSpPr>
        <p:spPr>
          <a:xfrm>
            <a:off x="6766560" y="5532120"/>
            <a:ext cx="2057400" cy="822960"/>
          </a:xfrm>
          <a:prstGeom prst="rect">
            <a:avLst/>
          </a:prstGeom>
          <a:noFill/>
        </p:spPr>
        <p:txBody>
          <a:bodyPr wrap="square" anchor="t">
            <a:spAutoFit/>
          </a:bodyPr>
          <a:lstStyle/>
          <a:p>
            <a:pPr algn="ctr"/>
            <a:r>
              <a:rPr sz="1100" b="0">
                <a:solidFill>
                  <a:srgbClr val="1F2A24"/>
                </a:solidFill>
              </a:rPr>
              <a:t>One day: expected crowd</a:t>
            </a:r>
          </a:p>
          <a:p>
            <a:pPr algn="ctr"/>
            <a:r>
              <a:rPr sz="1100" b="0">
                <a:solidFill>
                  <a:srgbClr val="1F2A24"/>
                </a:solidFill>
              </a:rPr>
              <a:t>+ how to avoid it</a:t>
            </a:r>
          </a:p>
        </p:txBody>
      </p:sp>
      <p:sp>
        <p:nvSpPr>
          <p:cNvPr id="14" name="TextBox 13"/>
          <p:cNvSpPr txBox="1"/>
          <p:nvPr/>
        </p:nvSpPr>
        <p:spPr>
          <a:xfrm>
            <a:off x="8961120" y="1463040"/>
            <a:ext cx="3017520" cy="4572000"/>
          </a:xfrm>
          <a:prstGeom prst="rect">
            <a:avLst/>
          </a:prstGeom>
          <a:noFill/>
        </p:spPr>
        <p:txBody>
          <a:bodyPr wrap="square">
            <a:spAutoFit/>
          </a:bodyPr>
          <a:lstStyle/>
          <a:p>
            <a:pPr>
              <a:spcAft>
                <a:spcPts val="1000"/>
              </a:spcAft>
            </a:pPr>
            <a:r>
              <a:rPr sz="1300" b="1">
                <a:solidFill>
                  <a:srgbClr val="1F2A24"/>
                </a:solidFill>
              </a:rPr>
              <a:t>•  Offline:</a:t>
            </a:r>
            <a:r>
              <a:rPr sz="1300">
                <a:solidFill>
                  <a:srgbClr val="1F2A24"/>
                </a:solidFill>
              </a:rPr>
              <a:t>  outlook and tickets cached; tomorrow's forecast computed on the phone</a:t>
            </a:r>
          </a:p>
          <a:p>
            <a:pPr>
              <a:spcAft>
                <a:spcPts val="1000"/>
              </a:spcAft>
            </a:pPr>
            <a:r>
              <a:rPr sz="1300" b="1">
                <a:solidFill>
                  <a:srgbClr val="1F2A24"/>
                </a:solidFill>
              </a:rPr>
              <a:t>•  Safe limit:</a:t>
            </a:r>
            <a:r>
              <a:rPr sz="1300">
                <a:solidFill>
                  <a:srgbClr val="1F2A24"/>
                </a:solidFill>
              </a:rPr>
              <a:t>  expected / safe number per trail for the day, with “Why this limit?”</a:t>
            </a:r>
          </a:p>
          <a:p>
            <a:pPr>
              <a:spcAft>
                <a:spcPts val="1000"/>
              </a:spcAft>
            </a:pPr>
            <a:r>
              <a:rPr sz="1300" b="1">
                <a:solidFill>
                  <a:srgbClr val="1F2A24"/>
                </a:solidFill>
              </a:rPr>
              <a:t>•  Booking:</a:t>
            </a:r>
            <a:r>
              <a:rPr sz="1300">
                <a:solidFill>
                  <a:srgbClr val="1F2A24"/>
                </a:solidFill>
              </a:rPr>
              <a:t>  slot ticket with QR code; full slot → later slot, other trail, other day</a:t>
            </a:r>
          </a:p>
          <a:p>
            <a:pPr>
              <a:spcAft>
                <a:spcPts val="1000"/>
              </a:spcAft>
            </a:pPr>
            <a:r>
              <a:rPr sz="1300" b="1">
                <a:solidFill>
                  <a:srgbClr val="1F2A24"/>
                </a:solidFill>
              </a:rPr>
              <a:t>•  Languages:</a:t>
            </a:r>
            <a:r>
              <a:rPr sz="1300">
                <a:solidFill>
                  <a:srgbClr val="1F2A24"/>
                </a:solidFill>
              </a:rPr>
              <a:t>  English · සිංහල · தமிழ் (drafts under native review)</a:t>
            </a:r>
          </a:p>
          <a:p>
            <a:pPr>
              <a:spcAft>
                <a:spcPts val="1000"/>
              </a:spcAft>
            </a:pPr>
            <a:r>
              <a:rPr sz="1300" b="1">
                <a:solidFill>
                  <a:srgbClr val="1F2A24"/>
                </a:solidFill>
              </a:rPr>
              <a:t>•  Map:</a:t>
            </a:r>
            <a:r>
              <a:rPr sz="1300">
                <a:solidFill>
                  <a:srgbClr val="1F2A24"/>
                </a:solidFill>
              </a:rPr>
              <a:t>  OpenStreetMap trails, starts, checkpoints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COMPLETION OF PROTOTYPE</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Working prototype – pilgrims and staff at Adam's Peak</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19</a:t>
            </a:r>
          </a:p>
        </p:txBody>
      </p:sp>
      <p:pic>
        <p:nvPicPr>
          <p:cNvPr id="6" name="Picture 5" descr="05_start_times.png"/>
          <p:cNvPicPr>
            <a:picLocks noChangeAspect="1"/>
          </p:cNvPicPr>
          <p:nvPr/>
        </p:nvPicPr>
        <p:blipFill>
          <a:blip r:embed="rId3"/>
          <a:stretch>
            <a:fillRect/>
          </a:stretch>
        </p:blipFill>
        <p:spPr>
          <a:xfrm>
            <a:off x="502920" y="1325880"/>
            <a:ext cx="1919113" cy="4160520"/>
          </a:xfrm>
          <a:prstGeom prst="rect">
            <a:avLst/>
          </a:prstGeom>
          <a:ln w="12700">
            <a:solidFill>
              <a:srgbClr val="C9D3CD"/>
            </a:solidFill>
          </a:ln>
        </p:spPr>
      </p:pic>
      <p:sp>
        <p:nvSpPr>
          <p:cNvPr id="7" name="TextBox 6"/>
          <p:cNvSpPr txBox="1"/>
          <p:nvPr/>
        </p:nvSpPr>
        <p:spPr>
          <a:xfrm>
            <a:off x="457200" y="5532120"/>
            <a:ext cx="2057400" cy="822960"/>
          </a:xfrm>
          <a:prstGeom prst="rect">
            <a:avLst/>
          </a:prstGeom>
          <a:noFill/>
        </p:spPr>
        <p:txBody>
          <a:bodyPr wrap="square" anchor="t">
            <a:spAutoFit/>
          </a:bodyPr>
          <a:lstStyle/>
          <a:p>
            <a:pPr algn="ctr"/>
            <a:r>
              <a:rPr sz="1100" b="0">
                <a:solidFill>
                  <a:srgbClr val="1F2A24"/>
                </a:solidFill>
              </a:rPr>
              <a:t>Pilgrim: best start times</a:t>
            </a:r>
          </a:p>
          <a:p>
            <a:pPr algn="ctr"/>
            <a:r>
              <a:rPr sz="1100" b="0">
                <a:solidFill>
                  <a:srgbClr val="1F2A24"/>
                </a:solidFill>
              </a:rPr>
              <a:t>and wait near the top</a:t>
            </a:r>
          </a:p>
        </p:txBody>
      </p:sp>
      <p:pic>
        <p:nvPicPr>
          <p:cNvPr id="8" name="Picture 7" descr="06_halfway_hold.png"/>
          <p:cNvPicPr>
            <a:picLocks noChangeAspect="1"/>
          </p:cNvPicPr>
          <p:nvPr/>
        </p:nvPicPr>
        <p:blipFill>
          <a:blip r:embed="rId4"/>
          <a:stretch>
            <a:fillRect/>
          </a:stretch>
        </p:blipFill>
        <p:spPr>
          <a:xfrm>
            <a:off x="2606040" y="1325880"/>
            <a:ext cx="1919113" cy="4160520"/>
          </a:xfrm>
          <a:prstGeom prst="rect">
            <a:avLst/>
          </a:prstGeom>
          <a:ln w="12700">
            <a:solidFill>
              <a:srgbClr val="C9D3CD"/>
            </a:solidFill>
          </a:ln>
        </p:spPr>
      </p:pic>
      <p:sp>
        <p:nvSpPr>
          <p:cNvPr id="9" name="TextBox 8"/>
          <p:cNvSpPr txBox="1"/>
          <p:nvPr/>
        </p:nvSpPr>
        <p:spPr>
          <a:xfrm>
            <a:off x="2560320" y="5532120"/>
            <a:ext cx="2057400" cy="822960"/>
          </a:xfrm>
          <a:prstGeom prst="rect">
            <a:avLst/>
          </a:prstGeom>
          <a:noFill/>
        </p:spPr>
        <p:txBody>
          <a:bodyPr wrap="square" anchor="t">
            <a:spAutoFit/>
          </a:bodyPr>
          <a:lstStyle/>
          <a:p>
            <a:pPr algn="ctr"/>
            <a:r>
              <a:rPr sz="1100" b="0">
                <a:solidFill>
                  <a:srgbClr val="1F2A24"/>
                </a:solidFill>
              </a:rPr>
              <a:t>Ranger: halfway count →</a:t>
            </a:r>
          </a:p>
          <a:p>
            <a:pPr algn="ctr"/>
            <a:r>
              <a:rPr sz="1100" b="0">
                <a:solidFill>
                  <a:srgbClr val="1F2A24"/>
                </a:solidFill>
              </a:rPr>
              <a:t>HOLD + release rate</a:t>
            </a:r>
          </a:p>
        </p:txBody>
      </p:sp>
      <p:pic>
        <p:nvPicPr>
          <p:cNvPr id="10" name="Picture 9" descr="08_officer_season.png"/>
          <p:cNvPicPr>
            <a:picLocks noChangeAspect="1"/>
          </p:cNvPicPr>
          <p:nvPr/>
        </p:nvPicPr>
        <p:blipFill>
          <a:blip r:embed="rId5"/>
          <a:stretch>
            <a:fillRect/>
          </a:stretch>
        </p:blipFill>
        <p:spPr>
          <a:xfrm>
            <a:off x="4709160" y="1325880"/>
            <a:ext cx="1919113" cy="4160520"/>
          </a:xfrm>
          <a:prstGeom prst="rect">
            <a:avLst/>
          </a:prstGeom>
          <a:ln w="12700">
            <a:solidFill>
              <a:srgbClr val="C9D3CD"/>
            </a:solidFill>
          </a:ln>
        </p:spPr>
      </p:pic>
      <p:sp>
        <p:nvSpPr>
          <p:cNvPr id="11" name="TextBox 10"/>
          <p:cNvSpPr txBox="1"/>
          <p:nvPr/>
        </p:nvSpPr>
        <p:spPr>
          <a:xfrm>
            <a:off x="4663440" y="5532120"/>
            <a:ext cx="2057400" cy="822960"/>
          </a:xfrm>
          <a:prstGeom prst="rect">
            <a:avLst/>
          </a:prstGeom>
          <a:noFill/>
        </p:spPr>
        <p:txBody>
          <a:bodyPr wrap="square" anchor="t">
            <a:spAutoFit/>
          </a:bodyPr>
          <a:lstStyle/>
          <a:p>
            <a:pPr algn="ctr"/>
            <a:r>
              <a:rPr sz="1100" b="0">
                <a:solidFill>
                  <a:srgbClr val="1F2A24"/>
                </a:solidFill>
              </a:rPr>
              <a:t>Officer: nights that may</a:t>
            </a:r>
          </a:p>
          <a:p>
            <a:pPr algn="ctr"/>
            <a:r>
              <a:rPr sz="1100" b="0">
                <a:solidFill>
                  <a:srgbClr val="1F2A24"/>
                </a:solidFill>
              </a:rPr>
              <a:t>need halfway checks</a:t>
            </a:r>
          </a:p>
        </p:txBody>
      </p:sp>
      <p:pic>
        <p:nvPicPr>
          <p:cNvPr id="12" name="Picture 11" descr="09_night_plan.png"/>
          <p:cNvPicPr>
            <a:picLocks noChangeAspect="1"/>
          </p:cNvPicPr>
          <p:nvPr/>
        </p:nvPicPr>
        <p:blipFill>
          <a:blip r:embed="rId6"/>
          <a:stretch>
            <a:fillRect/>
          </a:stretch>
        </p:blipFill>
        <p:spPr>
          <a:xfrm>
            <a:off x="6812280" y="1325880"/>
            <a:ext cx="1919113" cy="4160520"/>
          </a:xfrm>
          <a:prstGeom prst="rect">
            <a:avLst/>
          </a:prstGeom>
          <a:ln w="12700">
            <a:solidFill>
              <a:srgbClr val="C9D3CD"/>
            </a:solidFill>
          </a:ln>
        </p:spPr>
      </p:pic>
      <p:sp>
        <p:nvSpPr>
          <p:cNvPr id="13" name="TextBox 12"/>
          <p:cNvSpPr txBox="1"/>
          <p:nvPr/>
        </p:nvSpPr>
        <p:spPr>
          <a:xfrm>
            <a:off x="6766560" y="5532120"/>
            <a:ext cx="2057400" cy="822960"/>
          </a:xfrm>
          <a:prstGeom prst="rect">
            <a:avLst/>
          </a:prstGeom>
          <a:noFill/>
        </p:spPr>
        <p:txBody>
          <a:bodyPr wrap="square" anchor="t">
            <a:spAutoFit/>
          </a:bodyPr>
          <a:lstStyle/>
          <a:p>
            <a:pPr algn="ctr"/>
            <a:r>
              <a:rPr sz="1100" b="0">
                <a:solidFill>
                  <a:srgbClr val="1F2A24"/>
                </a:solidFill>
              </a:rPr>
              <a:t>Officer: night plan,</a:t>
            </a:r>
          </a:p>
          <a:p>
            <a:pPr algn="ctr"/>
            <a:r>
              <a:rPr sz="1100" b="0">
                <a:solidFill>
                  <a:srgbClr val="1F2A24"/>
                </a:solidFill>
              </a:rPr>
              <a:t>hold windows per checkpoint</a:t>
            </a:r>
          </a:p>
        </p:txBody>
      </p:sp>
      <p:sp>
        <p:nvSpPr>
          <p:cNvPr id="14" name="TextBox 13"/>
          <p:cNvSpPr txBox="1"/>
          <p:nvPr/>
        </p:nvSpPr>
        <p:spPr>
          <a:xfrm>
            <a:off x="8961120" y="1463040"/>
            <a:ext cx="3017520" cy="4572000"/>
          </a:xfrm>
          <a:prstGeom prst="rect">
            <a:avLst/>
          </a:prstGeom>
          <a:noFill/>
        </p:spPr>
        <p:txBody>
          <a:bodyPr wrap="square">
            <a:spAutoFit/>
          </a:bodyPr>
          <a:lstStyle/>
          <a:p>
            <a:pPr>
              <a:spcAft>
                <a:spcPts val="1000"/>
              </a:spcAft>
            </a:pPr>
            <a:r>
              <a:rPr sz="1300" b="1">
                <a:solidFill>
                  <a:srgbClr val="1F2A24"/>
                </a:solidFill>
              </a:rPr>
              <a:t>•  Backend:</a:t>
            </a:r>
            <a:r>
              <a:rPr sz="1300">
                <a:solidFill>
                  <a:srgbClr val="1F2A24"/>
                </a:solidFill>
              </a:rPr>
              <a:t>  FastAPI per park + gateway, 25+ endpoints</a:t>
            </a:r>
          </a:p>
          <a:p>
            <a:pPr>
              <a:spcAft>
                <a:spcPts val="1000"/>
              </a:spcAft>
            </a:pPr>
            <a:r>
              <a:rPr sz="1300" b="1">
                <a:solidFill>
                  <a:srgbClr val="1F2A24"/>
                </a:solidFill>
              </a:rPr>
              <a:t>•  Security:</a:t>
            </a:r>
            <a:r>
              <a:rPr sz="1300">
                <a:solidFill>
                  <a:srgbClr val="1F2A24"/>
                </a:solidFill>
              </a:rPr>
              <a:t>  roles ranger &lt; officer &lt; admin checked on the server; hashed passwords, lockout, audit log</a:t>
            </a:r>
          </a:p>
          <a:p>
            <a:pPr>
              <a:spcAft>
                <a:spcPts val="1000"/>
              </a:spcAft>
            </a:pPr>
            <a:r>
              <a:rPr sz="1300" b="1">
                <a:solidFill>
                  <a:srgbClr val="1F2A24"/>
                </a:solidFill>
              </a:rPr>
              <a:t>•  Quality:</a:t>
            </a:r>
            <a:r>
              <a:rPr sz="1300">
                <a:solidFill>
                  <a:srgbClr val="1F2A24"/>
                </a:solidFill>
              </a:rPr>
              <a:t>  65 Python tests · 24 Flutter tests · analyzer clean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USER &amp; FUNCTIONAL REQUIREMENTS</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Requirements and their status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20</a:t>
            </a:r>
          </a:p>
        </p:txBody>
      </p:sp>
      <p:graphicFrame>
        <p:nvGraphicFramePr>
          <p:cNvPr id="6" name="Table 5"/>
          <p:cNvGraphicFramePr>
            <a:graphicFrameLocks noGrp="1"/>
          </p:cNvGraphicFramePr>
          <p:nvPr/>
        </p:nvGraphicFramePr>
        <p:xfrm>
          <a:off x="548640" y="1371600"/>
          <a:ext cx="11064240" cy="4754880"/>
        </p:xfrm>
        <a:graphic>
          <a:graphicData uri="http://schemas.openxmlformats.org/drawingml/2006/table">
            <a:tbl>
              <a:tblPr firstRow="1" bandRow="1">
                <a:tableStyleId>{5C22544A-7EE6-4342-B048-85BDC9FD1C3A}</a:tableStyleId>
              </a:tblPr>
              <a:tblGrid>
                <a:gridCol w="731520"/>
                <a:gridCol w="4937760"/>
                <a:gridCol w="1463040"/>
                <a:gridCol w="3931920"/>
              </a:tblGrid>
              <a:tr h="365760">
                <a:tc>
                  <a:txBody>
                    <a:bodyPr/>
                    <a:lstStyle/>
                    <a:p>
                      <a:r>
                        <a:rPr sz="1200" b="1">
                          <a:solidFill>
                            <a:srgbClr val="FFFFFF"/>
                          </a:solidFill>
                        </a:rPr>
                        <a:t>ID</a:t>
                      </a:r>
                    </a:p>
                  </a:txBody>
                  <a:tcPr marL="54864" marR="54864" marT="27432" marB="27432">
                    <a:solidFill>
                      <a:srgbClr val="2F6B4F"/>
                    </a:solidFill>
                  </a:tcPr>
                </a:tc>
                <a:tc>
                  <a:txBody>
                    <a:bodyPr/>
                    <a:lstStyle/>
                    <a:p>
                      <a:r>
                        <a:rPr sz="1200" b="1">
                          <a:solidFill>
                            <a:srgbClr val="FFFFFF"/>
                          </a:solidFill>
                        </a:rPr>
                        <a:t>Requirement (proposal, section 5)</a:t>
                      </a:r>
                    </a:p>
                  </a:txBody>
                  <a:tcPr marL="54864" marR="54864" marT="27432" marB="27432">
                    <a:solidFill>
                      <a:srgbClr val="2F6B4F"/>
                    </a:solidFill>
                  </a:tcPr>
                </a:tc>
                <a:tc>
                  <a:txBody>
                    <a:bodyPr/>
                    <a:lstStyle/>
                    <a:p>
                      <a:r>
                        <a:rPr sz="1200" b="1">
                          <a:solidFill>
                            <a:srgbClr val="FFFFFF"/>
                          </a:solidFill>
                        </a:rPr>
                        <a:t>Status</a:t>
                      </a:r>
                    </a:p>
                  </a:txBody>
                  <a:tcPr marL="54864" marR="54864" marT="27432" marB="27432">
                    <a:solidFill>
                      <a:srgbClr val="2F6B4F"/>
                    </a:solidFill>
                  </a:tcPr>
                </a:tc>
                <a:tc>
                  <a:txBody>
                    <a:bodyPr/>
                    <a:lstStyle/>
                    <a:p>
                      <a:r>
                        <a:rPr sz="1200" b="1">
                          <a:solidFill>
                            <a:srgbClr val="FFFFFF"/>
                          </a:solidFill>
                        </a:rPr>
                        <a:t>Evidence</a:t>
                      </a:r>
                    </a:p>
                  </a:txBody>
                  <a:tcPr marL="54864" marR="54864" marT="27432" marB="27432">
                    <a:solidFill>
                      <a:srgbClr val="2F6B4F"/>
                    </a:solidFill>
                  </a:tcPr>
                </a:tc>
              </a:tr>
              <a:tr h="365760">
                <a:tc>
                  <a:txBody>
                    <a:bodyPr/>
                    <a:lstStyle/>
                    <a:p>
                      <a:r>
                        <a:rPr sz="1200" b="0">
                          <a:solidFill>
                            <a:srgbClr val="1F2A24"/>
                          </a:solidFill>
                        </a:rPr>
                        <a:t>FR1</a:t>
                      </a:r>
                    </a:p>
                  </a:txBody>
                  <a:tcPr marL="54864" marR="54864" marT="27432" marB="27432">
                    <a:solidFill>
                      <a:srgbClr val="FFFFFF"/>
                    </a:solidFill>
                  </a:tcPr>
                </a:tc>
                <a:tc>
                  <a:txBody>
                    <a:bodyPr/>
                    <a:lstStyle/>
                    <a:p>
                      <a:r>
                        <a:rPr sz="1200" b="0">
                          <a:solidFill>
                            <a:srgbClr val="1F2A24"/>
                          </a:solidFill>
                        </a:rPr>
                        <a:t>Trail graph from OSM with terrain + weather per node</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2 parks, 48 / 57 segments</a:t>
                      </a:r>
                    </a:p>
                  </a:txBody>
                  <a:tcPr marL="54864" marR="54864" marT="27432" marB="27432">
                    <a:solidFill>
                      <a:srgbClr val="FFFFFF"/>
                    </a:solidFill>
                  </a:tcPr>
                </a:tc>
              </a:tr>
              <a:tr h="365760">
                <a:tc>
                  <a:txBody>
                    <a:bodyPr/>
                    <a:lstStyle/>
                    <a:p>
                      <a:r>
                        <a:rPr sz="1200" b="0">
                          <a:solidFill>
                            <a:srgbClr val="1F2A24"/>
                          </a:solidFill>
                        </a:rPr>
                        <a:t>FR2</a:t>
                      </a:r>
                    </a:p>
                  </a:txBody>
                  <a:tcPr marL="54864" marR="54864" marT="27432" marB="27432">
                    <a:solidFill>
                      <a:srgbClr val="F4F7F5"/>
                    </a:solidFill>
                  </a:tcPr>
                </a:tc>
                <a:tc>
                  <a:txBody>
                    <a:bodyPr/>
                    <a:lstStyle/>
                    <a:p>
                      <a:r>
                        <a:rPr sz="1200" b="0">
                          <a:solidFill>
                            <a:srgbClr val="1F2A24"/>
                          </a:solidFill>
                        </a:rPr>
                        <a:t>Forecast occupancy per segment, next 24 h, with the ST-GNN</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server + on the phone (RQ1, RQ6)</a:t>
                      </a:r>
                    </a:p>
                  </a:txBody>
                  <a:tcPr marL="54864" marR="54864" marT="27432" marB="27432">
                    <a:solidFill>
                      <a:srgbClr val="F4F7F5"/>
                    </a:solidFill>
                  </a:tcPr>
                </a:tc>
              </a:tr>
              <a:tr h="365760">
                <a:tc>
                  <a:txBody>
                    <a:bodyPr/>
                    <a:lstStyle/>
                    <a:p>
                      <a:r>
                        <a:rPr sz="1200" b="0">
                          <a:solidFill>
                            <a:srgbClr val="1F2A24"/>
                          </a:solidFill>
                        </a:rPr>
                        <a:t>FR3</a:t>
                      </a:r>
                    </a:p>
                  </a:txBody>
                  <a:tcPr marL="54864" marR="54864" marT="27432" marB="27432">
                    <a:solidFill>
                      <a:srgbClr val="FFFFFF"/>
                    </a:solidFill>
                  </a:tcPr>
                </a:tc>
                <a:tc>
                  <a:txBody>
                    <a:bodyPr/>
                    <a:lstStyle/>
                    <a:p>
                      <a:r>
                        <a:rPr sz="1200" b="0">
                          <a:solidFill>
                            <a:srgbClr val="1F2A24"/>
                          </a:solidFill>
                        </a:rPr>
                        <a:t>Dynamic capacity per segment with Cifuentes PCC-RCC-ECC</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daily safe limit per trail</a:t>
                      </a:r>
                    </a:p>
                  </a:txBody>
                  <a:tcPr marL="54864" marR="54864" marT="27432" marB="27432">
                    <a:solidFill>
                      <a:srgbClr val="FFFFFF"/>
                    </a:solidFill>
                  </a:tcPr>
                </a:tc>
              </a:tr>
              <a:tr h="365760">
                <a:tc>
                  <a:txBody>
                    <a:bodyPr/>
                    <a:lstStyle/>
                    <a:p>
                      <a:r>
                        <a:rPr sz="1200" b="0">
                          <a:solidFill>
                            <a:srgbClr val="1F2A24"/>
                          </a:solidFill>
                        </a:rPr>
                        <a:t>FR4</a:t>
                      </a:r>
                    </a:p>
                  </a:txBody>
                  <a:tcPr marL="54864" marR="54864" marT="27432" marB="27432">
                    <a:solidFill>
                      <a:srgbClr val="F4F7F5"/>
                    </a:solidFill>
                  </a:tcPr>
                </a:tc>
                <a:tc>
                  <a:txBody>
                    <a:bodyPr/>
                    <a:lstStyle/>
                    <a:p>
                      <a:r>
                        <a:rPr sz="1200" b="0">
                          <a:solidFill>
                            <a:srgbClr val="1F2A24"/>
                          </a:solidFill>
                        </a:rPr>
                        <a:t>Output usable by the dashboard and Module 3</a:t>
                      </a:r>
                    </a:p>
                  </a:txBody>
                  <a:tcPr marL="54864" marR="54864" marT="27432" marB="27432">
                    <a:solidFill>
                      <a:srgbClr val="F4F7F5"/>
                    </a:solidFill>
                  </a:tcPr>
                </a:tc>
                <a:tc>
                  <a:txBody>
                    <a:bodyPr/>
                    <a:lstStyle/>
                    <a:p>
                      <a:r>
                        <a:rPr sz="1200" b="0">
                          <a:solidFill>
                            <a:srgbClr val="1F2A24"/>
                          </a:solidFill>
                        </a:rPr>
                        <a:t>Partly</a:t>
                      </a:r>
                    </a:p>
                  </a:txBody>
                  <a:tcPr marL="54864" marR="54864" marT="27432" marB="27432">
                    <a:solidFill>
                      <a:srgbClr val="F4F7F5"/>
                    </a:solidFill>
                  </a:tcPr>
                </a:tc>
                <a:tc>
                  <a:txBody>
                    <a:bodyPr/>
                    <a:lstStyle/>
                    <a:p>
                      <a:r>
                        <a:rPr sz="1200" b="0">
                          <a:solidFill>
                            <a:srgbClr val="1F2A24"/>
                          </a:solidFill>
                        </a:rPr>
                        <a:t>versioned JSON + REST; schema with M3 next</a:t>
                      </a:r>
                    </a:p>
                  </a:txBody>
                  <a:tcPr marL="54864" marR="54864" marT="27432" marB="27432">
                    <a:solidFill>
                      <a:srgbClr val="F4F7F5"/>
                    </a:solidFill>
                  </a:tcPr>
                </a:tc>
              </a:tr>
              <a:tr h="365760">
                <a:tc>
                  <a:txBody>
                    <a:bodyPr/>
                    <a:lstStyle/>
                    <a:p>
                      <a:r>
                        <a:rPr sz="1200" b="0">
                          <a:solidFill>
                            <a:srgbClr val="1F2A24"/>
                          </a:solidFill>
                        </a:rPr>
                        <a:t>FR5</a:t>
                      </a:r>
                    </a:p>
                  </a:txBody>
                  <a:tcPr marL="54864" marR="54864" marT="27432" marB="27432">
                    <a:solidFill>
                      <a:srgbClr val="FFFFFF"/>
                    </a:solidFill>
                  </a:tcPr>
                </a:tc>
                <a:tc>
                  <a:txBody>
                    <a:bodyPr/>
                    <a:lstStyle/>
                    <a:p>
                      <a:r>
                        <a:rPr sz="1200" b="0">
                          <a:solidFill>
                            <a:srgbClr val="1F2A24"/>
                          </a:solidFill>
                        </a:rPr>
                        <a:t>Synthetic-target limitation logged with every output</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disclaimer in every forecast</a:t>
                      </a:r>
                    </a:p>
                  </a:txBody>
                  <a:tcPr marL="54864" marR="54864" marT="27432" marB="27432">
                    <a:solidFill>
                      <a:srgbClr val="FFFFFF"/>
                    </a:solidFill>
                  </a:tcPr>
                </a:tc>
              </a:tr>
              <a:tr h="365760">
                <a:tc>
                  <a:txBody>
                    <a:bodyPr/>
                    <a:lstStyle/>
                    <a:p>
                      <a:r>
                        <a:rPr sz="1200" b="0">
                          <a:solidFill>
                            <a:srgbClr val="1F2A24"/>
                          </a:solidFill>
                        </a:rPr>
                        <a:t>NFR1</a:t>
                      </a:r>
                    </a:p>
                  </a:txBody>
                  <a:tcPr marL="54864" marR="54864" marT="27432" marB="27432">
                    <a:solidFill>
                      <a:srgbClr val="F4F7F5"/>
                    </a:solidFill>
                  </a:tcPr>
                </a:tc>
                <a:tc>
                  <a:txBody>
                    <a:bodyPr/>
                    <a:lstStyle/>
                    <a:p>
                      <a:r>
                        <a:rPr sz="1200" b="0">
                          <a:solidFill>
                            <a:srgbClr val="1F2A24"/>
                          </a:solidFill>
                        </a:rPr>
                        <a:t>On-device inference &lt; 2 s</a:t>
                      </a:r>
                    </a:p>
                  </a:txBody>
                  <a:tcPr marL="54864" marR="54864" marT="27432" marB="27432">
                    <a:solidFill>
                      <a:srgbClr val="F4F7F5"/>
                    </a:solidFill>
                  </a:tcPr>
                </a:tc>
                <a:tc>
                  <a:txBody>
                    <a:bodyPr/>
                    <a:lstStyle/>
                    <a:p>
                      <a:r>
                        <a:rPr sz="1200" b="0">
                          <a:solidFill>
                            <a:srgbClr val="1F2A24"/>
                          </a:solidFill>
                        </a:rPr>
                        <a:t>Done (laptop)</a:t>
                      </a:r>
                    </a:p>
                  </a:txBody>
                  <a:tcPr marL="54864" marR="54864" marT="27432" marB="27432">
                    <a:solidFill>
                      <a:srgbClr val="F4F7F5"/>
                    </a:solidFill>
                  </a:tcPr>
                </a:tc>
                <a:tc>
                  <a:txBody>
                    <a:bodyPr/>
                    <a:lstStyle/>
                    <a:p>
                      <a:r>
                        <a:rPr sz="1200" b="0">
                          <a:solidFill>
                            <a:srgbClr val="1F2A24"/>
                          </a:solidFill>
                        </a:rPr>
                        <a:t>2 ms ONNX; Dart on phone; real phone next</a:t>
                      </a:r>
                    </a:p>
                  </a:txBody>
                  <a:tcPr marL="54864" marR="54864" marT="27432" marB="27432">
                    <a:solidFill>
                      <a:srgbClr val="F4F7F5"/>
                    </a:solidFill>
                  </a:tcPr>
                </a:tc>
              </a:tr>
              <a:tr h="365760">
                <a:tc>
                  <a:txBody>
                    <a:bodyPr/>
                    <a:lstStyle/>
                    <a:p>
                      <a:r>
                        <a:rPr sz="1200" b="0">
                          <a:solidFill>
                            <a:srgbClr val="1F2A24"/>
                          </a:solidFill>
                        </a:rPr>
                        <a:t>NFR2</a:t>
                      </a:r>
                    </a:p>
                  </a:txBody>
                  <a:tcPr marL="54864" marR="54864" marT="27432" marB="27432">
                    <a:solidFill>
                      <a:srgbClr val="FFFFFF"/>
                    </a:solidFill>
                  </a:tcPr>
                </a:tc>
                <a:tc>
                  <a:txBody>
                    <a:bodyPr/>
                    <a:lstStyle/>
                    <a:p>
                      <a:r>
                        <a:rPr sz="1200" b="0">
                          <a:solidFill>
                            <a:srgbClr val="1F2A24"/>
                          </a:solidFill>
                        </a:rPr>
                        <a:t>Graceful fallback without a weather forecast</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historical average + typical weather</a:t>
                      </a:r>
                    </a:p>
                  </a:txBody>
                  <a:tcPr marL="54864" marR="54864" marT="27432" marB="27432">
                    <a:solidFill>
                      <a:srgbClr val="FFFFFF"/>
                    </a:solidFill>
                  </a:tcPr>
                </a:tc>
              </a:tr>
              <a:tr h="365760">
                <a:tc>
                  <a:txBody>
                    <a:bodyPr/>
                    <a:lstStyle/>
                    <a:p>
                      <a:r>
                        <a:rPr sz="1200" b="0">
                          <a:solidFill>
                            <a:srgbClr val="1F2A24"/>
                          </a:solidFill>
                        </a:rPr>
                        <a:t>NFR3</a:t>
                      </a:r>
                    </a:p>
                  </a:txBody>
                  <a:tcPr marL="54864" marR="54864" marT="27432" marB="27432">
                    <a:solidFill>
                      <a:srgbClr val="F4F7F5"/>
                    </a:solidFill>
                  </a:tcPr>
                </a:tc>
                <a:tc>
                  <a:txBody>
                    <a:bodyPr/>
                    <a:lstStyle/>
                    <a:p>
                      <a:r>
                        <a:rPr sz="1200" b="0">
                          <a:solidFill>
                            <a:srgbClr val="1F2A24"/>
                          </a:solidFill>
                        </a:rPr>
                        <a:t>Other OSM parks without architectural change</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Adam's Peak = 1 config file</a:t>
                      </a:r>
                    </a:p>
                  </a:txBody>
                  <a:tcPr marL="54864" marR="54864" marT="27432" marB="27432">
                    <a:solidFill>
                      <a:srgbClr val="F4F7F5"/>
                    </a:solidFill>
                  </a:tcPr>
                </a:tc>
              </a:tr>
              <a:tr h="365760">
                <a:tc>
                  <a:txBody>
                    <a:bodyPr/>
                    <a:lstStyle/>
                    <a:p>
                      <a:r>
                        <a:rPr sz="1200" b="0">
                          <a:solidFill>
                            <a:srgbClr val="1F2A24"/>
                          </a:solidFill>
                        </a:rPr>
                        <a:t>NFR4</a:t>
                      </a:r>
                    </a:p>
                  </a:txBody>
                  <a:tcPr marL="54864" marR="54864" marT="27432" marB="27432">
                    <a:solidFill>
                      <a:srgbClr val="FFFFFF"/>
                    </a:solidFill>
                  </a:tcPr>
                </a:tc>
                <a:tc>
                  <a:txBody>
                    <a:bodyPr/>
                    <a:lstStyle/>
                    <a:p>
                      <a:r>
                        <a:rPr sz="1200" b="0">
                          <a:solidFill>
                            <a:srgbClr val="1F2A24"/>
                          </a:solidFill>
                        </a:rPr>
                        <a:t>Actionable for a non-technical official</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safe limit + 'why', night plan, HOLD</a:t>
                      </a:r>
                    </a:p>
                  </a:txBody>
                  <a:tcPr marL="54864" marR="54864" marT="27432" marB="27432">
                    <a:solidFill>
                      <a:srgbClr val="FFFFFF"/>
                    </a:solidFill>
                  </a:tcPr>
                </a:tc>
              </a:tr>
              <a:tr h="365760">
                <a:tc>
                  <a:txBody>
                    <a:bodyPr/>
                    <a:lstStyle/>
                    <a:p>
                      <a:r>
                        <a:rPr sz="1200" b="0">
                          <a:solidFill>
                            <a:srgbClr val="1F2A24"/>
                          </a:solidFill>
                        </a:rPr>
                        <a:t>NFR5</a:t>
                      </a:r>
                    </a:p>
                  </a:txBody>
                  <a:tcPr marL="54864" marR="54864" marT="27432" marB="27432">
                    <a:solidFill>
                      <a:srgbClr val="F4F7F5"/>
                    </a:solidFill>
                  </a:tcPr>
                </a:tc>
                <a:tc>
                  <a:txBody>
                    <a:bodyPr/>
                    <a:lstStyle/>
                    <a:p>
                      <a:r>
                        <a:rPr sz="1200" b="0">
                          <a:solidFill>
                            <a:srgbClr val="1F2A24"/>
                          </a:solidFill>
                        </a:rPr>
                        <a:t>No personally identifiable data</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booking code only, no names</a:t>
                      </a:r>
                    </a:p>
                  </a:txBody>
                  <a:tcPr marL="54864" marR="54864" marT="27432" marB="27432">
                    <a:solidFill>
                      <a:srgbClr val="F4F7F5"/>
                    </a:solidFill>
                  </a:tcPr>
                </a:tc>
              </a:tr>
              <a:tr h="365760">
                <a:tc>
                  <a:txBody>
                    <a:bodyPr/>
                    <a:lstStyle/>
                    <a:p>
                      <a:r>
                        <a:rPr sz="1200" b="0">
                          <a:solidFill>
                            <a:srgbClr val="1F2A24"/>
                          </a:solidFill>
                        </a:rPr>
                        <a:t>Ext.</a:t>
                      </a:r>
                    </a:p>
                  </a:txBody>
                  <a:tcPr marL="54864" marR="54864" marT="27432" marB="27432">
                    <a:solidFill>
                      <a:srgbClr val="FFFFFF"/>
                    </a:solidFill>
                  </a:tcPr>
                </a:tc>
                <a:tc>
                  <a:txBody>
                    <a:bodyPr/>
                    <a:lstStyle/>
                    <a:p>
                      <a:r>
                        <a:rPr sz="1200" b="0">
                          <a:solidFill>
                            <a:srgbClr val="1F2A24"/>
                          </a:solidFill>
                        </a:rPr>
                        <a:t>Slot tickets (Horton) · start times + halfway holds (Adam's Peak)</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−99.6 % overcrowding; final steps cleared</a:t>
                      </a:r>
                    </a:p>
                  </a:txBody>
                  <a:tcPr marL="54864" marR="54864" marT="27432" marB="27432">
                    <a:solidFill>
                      <a:srgbClr val="FFFFFF"/>
                    </a:solidFill>
                  </a:tcPr>
                </a:tc>
              </a:tr>
              <a:tr h="365760">
                <a:tc>
                  <a:txBody>
                    <a:bodyPr/>
                    <a:lstStyle/>
                    <a:p>
                      <a:r>
                        <a:rPr sz="1200" b="0">
                          <a:solidFill>
                            <a:srgbClr val="1F2A24"/>
                          </a:solidFill>
                        </a:rPr>
                        <a:t>Ext.</a:t>
                      </a:r>
                    </a:p>
                  </a:txBody>
                  <a:tcPr marL="54864" marR="54864" marT="27432" marB="27432">
                    <a:solidFill>
                      <a:srgbClr val="F4F7F5"/>
                    </a:solidFill>
                  </a:tcPr>
                </a:tc>
                <a:tc>
                  <a:txBody>
                    <a:bodyPr/>
                    <a:lstStyle/>
                    <a:p>
                      <a:r>
                        <a:rPr sz="1200" b="0">
                          <a:solidFill>
                            <a:srgbClr val="1F2A24"/>
                          </a:solidFill>
                        </a:rPr>
                        <a:t>90-day planning outlook, staff roles, Sinhala / Tamil</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P10–P90; ranger / officer / admin</a:t>
                      </a:r>
                    </a:p>
                  </a:txBody>
                  <a:tcPr marL="54864" marR="54864" marT="27432" marB="27432">
                    <a:solidFill>
                      <a:srgbClr val="F4F7F5"/>
                    </a:solidFill>
                  </a:tcPr>
                </a:tc>
              </a:tr>
            </a:tbl>
          </a:graphicData>
        </a:graphic>
      </p:graphicFrame>
      <p:sp>
        <p:nvSpPr>
          <p:cNvPr id="7" name="TextBox 6"/>
          <p:cNvSpPr txBox="1"/>
          <p:nvPr/>
        </p:nvSpPr>
        <p:spPr>
          <a:xfrm>
            <a:off x="548640" y="6172200"/>
            <a:ext cx="8229600" cy="274320"/>
          </a:xfrm>
          <a:prstGeom prst="rect">
            <a:avLst/>
          </a:prstGeom>
          <a:noFill/>
        </p:spPr>
        <p:txBody>
          <a:bodyPr wrap="square" anchor="t">
            <a:spAutoFit/>
          </a:bodyPr>
          <a:lstStyle/>
          <a:p>
            <a:pPr algn="l"/>
            <a:r>
              <a:rPr sz="1100" b="0">
                <a:solidFill>
                  <a:srgbClr val="6B7280"/>
                </a:solidFill>
              </a:rPr>
              <a:t>Requirements are provisional until the stakeholder surveys return (DWC, rangers, operators, hikers).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RISK MITIGATION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Risks and mitigation</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21</a:t>
            </a:r>
          </a:p>
        </p:txBody>
      </p:sp>
      <p:graphicFrame>
        <p:nvGraphicFramePr>
          <p:cNvPr id="6" name="Table 5"/>
          <p:cNvGraphicFramePr>
            <a:graphicFrameLocks noGrp="1"/>
          </p:cNvGraphicFramePr>
          <p:nvPr/>
        </p:nvGraphicFramePr>
        <p:xfrm>
          <a:off x="548640" y="1371600"/>
          <a:ext cx="11064240" cy="4297679"/>
        </p:xfrm>
        <a:graphic>
          <a:graphicData uri="http://schemas.openxmlformats.org/drawingml/2006/table">
            <a:tbl>
              <a:tblPr firstRow="1" bandRow="1">
                <a:tableStyleId>{5C22544A-7EE6-4342-B048-85BDC9FD1C3A}</a:tableStyleId>
              </a:tblPr>
              <a:tblGrid>
                <a:gridCol w="457200"/>
                <a:gridCol w="3657600"/>
                <a:gridCol w="914400"/>
                <a:gridCol w="6035040"/>
              </a:tblGrid>
              <a:tr h="429767">
                <a:tc>
                  <a:txBody>
                    <a:bodyPr/>
                    <a:lstStyle/>
                    <a:p>
                      <a:r>
                        <a:rPr sz="1100" b="1">
                          <a:solidFill>
                            <a:srgbClr val="FFFFFF"/>
                          </a:solidFill>
                        </a:rPr>
                        <a:t>#</a:t>
                      </a:r>
                    </a:p>
                  </a:txBody>
                  <a:tcPr marL="54864" marR="54864" marT="27432" marB="27432">
                    <a:solidFill>
                      <a:srgbClr val="2F6B4F"/>
                    </a:solidFill>
                  </a:tcPr>
                </a:tc>
                <a:tc>
                  <a:txBody>
                    <a:bodyPr/>
                    <a:lstStyle/>
                    <a:p>
                      <a:r>
                        <a:rPr sz="1100" b="1">
                          <a:solidFill>
                            <a:srgbClr val="FFFFFF"/>
                          </a:solidFill>
                        </a:rPr>
                        <a:t>Risk</a:t>
                      </a:r>
                    </a:p>
                  </a:txBody>
                  <a:tcPr marL="54864" marR="54864" marT="27432" marB="27432">
                    <a:solidFill>
                      <a:srgbClr val="2F6B4F"/>
                    </a:solidFill>
                  </a:tcPr>
                </a:tc>
                <a:tc>
                  <a:txBody>
                    <a:bodyPr/>
                    <a:lstStyle/>
                    <a:p>
                      <a:r>
                        <a:rPr sz="1100" b="1">
                          <a:solidFill>
                            <a:srgbClr val="FFFFFF"/>
                          </a:solidFill>
                        </a:rPr>
                        <a:t>Impact</a:t>
                      </a:r>
                    </a:p>
                  </a:txBody>
                  <a:tcPr marL="54864" marR="54864" marT="27432" marB="27432">
                    <a:solidFill>
                      <a:srgbClr val="2F6B4F"/>
                    </a:solidFill>
                  </a:tcPr>
                </a:tc>
                <a:tc>
                  <a:txBody>
                    <a:bodyPr/>
                    <a:lstStyle/>
                    <a:p>
                      <a:r>
                        <a:rPr sz="1100" b="1">
                          <a:solidFill>
                            <a:srgbClr val="FFFFFF"/>
                          </a:solidFill>
                        </a:rPr>
                        <a:t>Mitigation (status)</a:t>
                      </a:r>
                    </a:p>
                  </a:txBody>
                  <a:tcPr marL="54864" marR="54864" marT="27432" marB="27432">
                    <a:solidFill>
                      <a:srgbClr val="2F6B4F"/>
                    </a:solidFill>
                  </a:tcPr>
                </a:tc>
              </a:tr>
              <a:tr h="429767">
                <a:tc>
                  <a:txBody>
                    <a:bodyPr/>
                    <a:lstStyle/>
                    <a:p>
                      <a:r>
                        <a:rPr sz="1100" b="0">
                          <a:solidFill>
                            <a:srgbClr val="1F2A24"/>
                          </a:solidFill>
                        </a:rPr>
                        <a:t>R1</a:t>
                      </a:r>
                    </a:p>
                  </a:txBody>
                  <a:tcPr marL="54864" marR="54864" marT="27432" marB="27432">
                    <a:solidFill>
                      <a:srgbClr val="FFFFFF"/>
                    </a:solidFill>
                  </a:tcPr>
                </a:tc>
                <a:tc>
                  <a:txBody>
                    <a:bodyPr/>
                    <a:lstStyle/>
                    <a:p>
                      <a:r>
                        <a:rPr sz="1100" b="0">
                          <a:solidFill>
                            <a:srgbClr val="1F2A24"/>
                          </a:solidFill>
                        </a:rPr>
                        <a:t>No real segment-level counts: the target is synthetic</a:t>
                      </a:r>
                    </a:p>
                  </a:txBody>
                  <a:tcPr marL="54864" marR="54864" marT="27432" marB="27432">
                    <a:solidFill>
                      <a:srgbClr val="FFFFFF"/>
                    </a:solidFill>
                  </a:tcPr>
                </a:tc>
                <a:tc>
                  <a:txBody>
                    <a:bodyPr/>
                    <a:lstStyle/>
                    <a:p>
                      <a:r>
                        <a:rPr sz="1100" b="0">
                          <a:solidFill>
                            <a:srgbClr val="1F2A24"/>
                          </a:solidFill>
                        </a:rPr>
                        <a:t>High</a:t>
                      </a:r>
                    </a:p>
                  </a:txBody>
                  <a:tcPr marL="54864" marR="54864" marT="27432" marB="27432">
                    <a:solidFill>
                      <a:srgbClr val="FFFFFF"/>
                    </a:solidFill>
                  </a:tcPr>
                </a:tc>
                <a:tc>
                  <a:txBody>
                    <a:bodyPr/>
                    <a:lstStyle/>
                    <a:p>
                      <a:r>
                        <a:rPr sz="1100" b="0">
                          <a:solidFill>
                            <a:srgbClr val="1F2A24"/>
                          </a:solidFill>
                        </a:rPr>
                        <a:t>Assumptions listed; RQ4 sensitivity; agreement criteria fixed and tool built; counts Dec (Horton) + 23 Dec (Adam's Peak)</a:t>
                      </a:r>
                    </a:p>
                  </a:txBody>
                  <a:tcPr marL="54864" marR="54864" marT="27432" marB="27432">
                    <a:solidFill>
                      <a:srgbClr val="FFFFFF"/>
                    </a:solidFill>
                  </a:tcPr>
                </a:tc>
              </a:tr>
              <a:tr h="429767">
                <a:tc>
                  <a:txBody>
                    <a:bodyPr/>
                    <a:lstStyle/>
                    <a:p>
                      <a:r>
                        <a:rPr sz="1100" b="0">
                          <a:solidFill>
                            <a:srgbClr val="1F2A24"/>
                          </a:solidFill>
                        </a:rPr>
                        <a:t>R2</a:t>
                      </a:r>
                    </a:p>
                  </a:txBody>
                  <a:tcPr marL="54864" marR="54864" marT="27432" marB="27432">
                    <a:solidFill>
                      <a:srgbClr val="F4F7F5"/>
                    </a:solidFill>
                  </a:tcPr>
                </a:tc>
                <a:tc>
                  <a:txBody>
                    <a:bodyPr/>
                    <a:lstStyle/>
                    <a:p>
                      <a:r>
                        <a:rPr sz="1100" b="0">
                          <a:solidFill>
                            <a:srgbClr val="1F2A24"/>
                          </a:solidFill>
                        </a:rPr>
                        <a:t>ST-GNN not better than the LSTM</a:t>
                      </a:r>
                    </a:p>
                  </a:txBody>
                  <a:tcPr marL="54864" marR="54864" marT="27432" marB="27432">
                    <a:solidFill>
                      <a:srgbClr val="F4F7F5"/>
                    </a:solidFill>
                  </a:tcPr>
                </a:tc>
                <a:tc>
                  <a:txBody>
                    <a:bodyPr/>
                    <a:lstStyle/>
                    <a:p>
                      <a:r>
                        <a:rPr sz="1100" b="0">
                          <a:solidFill>
                            <a:srgbClr val="1F2A24"/>
                          </a:solidFill>
                        </a:rPr>
                        <a:t>Medium</a:t>
                      </a:r>
                    </a:p>
                  </a:txBody>
                  <a:tcPr marL="54864" marR="54864" marT="27432" marB="27432">
                    <a:solidFill>
                      <a:srgbClr val="F4F7F5"/>
                    </a:solidFill>
                  </a:tcPr>
                </a:tc>
                <a:tc>
                  <a:txBody>
                    <a:bodyPr/>
                    <a:lstStyle/>
                    <a:p>
                      <a:r>
                        <a:rPr sz="1100" b="0">
                          <a:solidFill>
                            <a:srgbClr val="1F2A24"/>
                          </a:solidFill>
                        </a:rPr>
                        <a:t>Reported either way: better on segments without counts, tie elsewhere (3 seeds); periodic inputs + tuning next</a:t>
                      </a:r>
                    </a:p>
                  </a:txBody>
                  <a:tcPr marL="54864" marR="54864" marT="27432" marB="27432">
                    <a:solidFill>
                      <a:srgbClr val="F4F7F5"/>
                    </a:solidFill>
                  </a:tcPr>
                </a:tc>
              </a:tr>
              <a:tr h="429767">
                <a:tc>
                  <a:txBody>
                    <a:bodyPr/>
                    <a:lstStyle/>
                    <a:p>
                      <a:r>
                        <a:rPr sz="1100" b="0">
                          <a:solidFill>
                            <a:srgbClr val="1F2A24"/>
                          </a:solidFill>
                        </a:rPr>
                        <a:t>R3</a:t>
                      </a:r>
                    </a:p>
                  </a:txBody>
                  <a:tcPr marL="54864" marR="54864" marT="27432" marB="27432">
                    <a:solidFill>
                      <a:srgbClr val="FFFFFF"/>
                    </a:solidFill>
                  </a:tcPr>
                </a:tc>
                <a:tc>
                  <a:txBody>
                    <a:bodyPr/>
                    <a:lstStyle/>
                    <a:p>
                      <a:r>
                        <a:rPr sz="1100" b="0">
                          <a:solidFill>
                            <a:srgbClr val="1F2A24"/>
                          </a:solidFill>
                        </a:rPr>
                        <a:t>Last part of the Adam's Peak trail missing in OSM</a:t>
                      </a:r>
                    </a:p>
                  </a:txBody>
                  <a:tcPr marL="54864" marR="54864" marT="27432" marB="27432">
                    <a:solidFill>
                      <a:srgbClr val="FFFFFF"/>
                    </a:solidFill>
                  </a:tcPr>
                </a:tc>
                <a:tc>
                  <a:txBody>
                    <a:bodyPr/>
                    <a:lstStyle/>
                    <a:p>
                      <a:r>
                        <a:rPr sz="1100" b="0">
                          <a:solidFill>
                            <a:srgbClr val="1F2A24"/>
                          </a:solidFill>
                        </a:rPr>
                        <a:t>Medium</a:t>
                      </a:r>
                    </a:p>
                  </a:txBody>
                  <a:tcPr marL="54864" marR="54864" marT="27432" marB="27432">
                    <a:solidFill>
                      <a:srgbClr val="FFFFFF"/>
                    </a:solidFill>
                  </a:tcPr>
                </a:tc>
                <a:tc>
                  <a:txBody>
                    <a:bodyPr/>
                    <a:lstStyle/>
                    <a:p>
                      <a:r>
                        <a:rPr sz="1100" b="0">
                          <a:solidFill>
                            <a:srgbClr val="1F2A24"/>
                          </a:solidFill>
                        </a:rPr>
                        <a:t>Approximate link flagged; replace with a GPS track</a:t>
                      </a:r>
                    </a:p>
                  </a:txBody>
                  <a:tcPr marL="54864" marR="54864" marT="27432" marB="27432">
                    <a:solidFill>
                      <a:srgbClr val="FFFFFF"/>
                    </a:solidFill>
                  </a:tcPr>
                </a:tc>
              </a:tr>
              <a:tr h="429767">
                <a:tc>
                  <a:txBody>
                    <a:bodyPr/>
                    <a:lstStyle/>
                    <a:p>
                      <a:r>
                        <a:rPr sz="1100" b="0">
                          <a:solidFill>
                            <a:srgbClr val="1F2A24"/>
                          </a:solidFill>
                        </a:rPr>
                        <a:t>R4</a:t>
                      </a:r>
                    </a:p>
                  </a:txBody>
                  <a:tcPr marL="54864" marR="54864" marT="27432" marB="27432">
                    <a:solidFill>
                      <a:srgbClr val="F4F7F5"/>
                    </a:solidFill>
                  </a:tcPr>
                </a:tc>
                <a:tc>
                  <a:txBody>
                    <a:bodyPr/>
                    <a:lstStyle/>
                    <a:p>
                      <a:r>
                        <a:rPr sz="1100" b="0">
                          <a:solidFill>
                            <a:srgbClr val="1F2A24"/>
                          </a:solidFill>
                        </a:rPr>
                        <a:t>Authorities do not adopt tickets / advice</a:t>
                      </a:r>
                    </a:p>
                  </a:txBody>
                  <a:tcPr marL="54864" marR="54864" marT="27432" marB="27432">
                    <a:solidFill>
                      <a:srgbClr val="F4F7F5"/>
                    </a:solidFill>
                  </a:tcPr>
                </a:tc>
                <a:tc>
                  <a:txBody>
                    <a:bodyPr/>
                    <a:lstStyle/>
                    <a:p>
                      <a:r>
                        <a:rPr sz="1100" b="0">
                          <a:solidFill>
                            <a:srgbClr val="1F2A24"/>
                          </a:solidFill>
                        </a:rPr>
                        <a:t>Medium</a:t>
                      </a:r>
                    </a:p>
                  </a:txBody>
                  <a:tcPr marL="54864" marR="54864" marT="27432" marB="27432">
                    <a:solidFill>
                      <a:srgbClr val="F4F7F5"/>
                    </a:solidFill>
                  </a:tcPr>
                </a:tc>
                <a:tc>
                  <a:txBody>
                    <a:bodyPr/>
                    <a:lstStyle/>
                    <a:p>
                      <a:r>
                        <a:rPr sz="1100" b="0">
                          <a:solidFill>
                            <a:srgbClr val="1F2A24"/>
                          </a:solidFill>
                        </a:rPr>
                        <a:t>Advice-only mode for pilgrim sites; decisions to confirm with DWC and Sri Pada Trust</a:t>
                      </a:r>
                    </a:p>
                  </a:txBody>
                  <a:tcPr marL="54864" marR="54864" marT="27432" marB="27432">
                    <a:solidFill>
                      <a:srgbClr val="F4F7F5"/>
                    </a:solidFill>
                  </a:tcPr>
                </a:tc>
              </a:tr>
              <a:tr h="429767">
                <a:tc>
                  <a:txBody>
                    <a:bodyPr/>
                    <a:lstStyle/>
                    <a:p>
                      <a:r>
                        <a:rPr sz="1100" b="0">
                          <a:solidFill>
                            <a:srgbClr val="1F2A24"/>
                          </a:solidFill>
                        </a:rPr>
                        <a:t>R5</a:t>
                      </a:r>
                    </a:p>
                  </a:txBody>
                  <a:tcPr marL="54864" marR="54864" marT="27432" marB="27432">
                    <a:solidFill>
                      <a:srgbClr val="FFFFFF"/>
                    </a:solidFill>
                  </a:tcPr>
                </a:tc>
                <a:tc>
                  <a:txBody>
                    <a:bodyPr/>
                    <a:lstStyle/>
                    <a:p>
                      <a:r>
                        <a:rPr sz="1100" b="0">
                          <a:solidFill>
                            <a:srgbClr val="1F2A24"/>
                          </a:solidFill>
                        </a:rPr>
                        <a:t>Holiday calendar not published for 2027</a:t>
                      </a:r>
                    </a:p>
                  </a:txBody>
                  <a:tcPr marL="54864" marR="54864" marT="27432" marB="27432">
                    <a:solidFill>
                      <a:srgbClr val="FFFFFF"/>
                    </a:solidFill>
                  </a:tcPr>
                </a:tc>
                <a:tc>
                  <a:txBody>
                    <a:bodyPr/>
                    <a:lstStyle/>
                    <a:p>
                      <a:r>
                        <a:rPr sz="1100" b="0">
                          <a:solidFill>
                            <a:srgbClr val="1F2A24"/>
                          </a:solidFill>
                        </a:rPr>
                        <a:t>Low</a:t>
                      </a:r>
                    </a:p>
                  </a:txBody>
                  <a:tcPr marL="54864" marR="54864" marT="27432" marB="27432">
                    <a:solidFill>
                      <a:srgbClr val="FFFFFF"/>
                    </a:solidFill>
                  </a:tcPr>
                </a:tc>
                <a:tc>
                  <a:txBody>
                    <a:bodyPr/>
                    <a:lstStyle/>
                    <a:p>
                      <a:r>
                        <a:rPr sz="1100" b="0">
                          <a:solidFill>
                            <a:srgbClr val="1F2A24"/>
                          </a:solidFill>
                        </a:rPr>
                        <a:t>Estimated Poya days (62/62 within 1 day); swap in gazette</a:t>
                      </a:r>
                    </a:p>
                  </a:txBody>
                  <a:tcPr marL="54864" marR="54864" marT="27432" marB="27432">
                    <a:solidFill>
                      <a:srgbClr val="FFFFFF"/>
                    </a:solidFill>
                  </a:tcPr>
                </a:tc>
              </a:tr>
              <a:tr h="429767">
                <a:tc>
                  <a:txBody>
                    <a:bodyPr/>
                    <a:lstStyle/>
                    <a:p>
                      <a:r>
                        <a:rPr sz="1100" b="0">
                          <a:solidFill>
                            <a:srgbClr val="1F2A24"/>
                          </a:solidFill>
                        </a:rPr>
                        <a:t>R6</a:t>
                      </a:r>
                    </a:p>
                  </a:txBody>
                  <a:tcPr marL="54864" marR="54864" marT="27432" marB="27432">
                    <a:solidFill>
                      <a:srgbClr val="F4F7F5"/>
                    </a:solidFill>
                  </a:tcPr>
                </a:tc>
                <a:tc>
                  <a:txBody>
                    <a:bodyPr/>
                    <a:lstStyle/>
                    <a:p>
                      <a:r>
                        <a:rPr sz="1100" b="0">
                          <a:solidFill>
                            <a:srgbClr val="1F2A24"/>
                          </a:solidFill>
                        </a:rPr>
                        <a:t>CPU-only training time</a:t>
                      </a:r>
                    </a:p>
                  </a:txBody>
                  <a:tcPr marL="54864" marR="54864" marT="27432" marB="27432">
                    <a:solidFill>
                      <a:srgbClr val="F4F7F5"/>
                    </a:solidFill>
                  </a:tcPr>
                </a:tc>
                <a:tc>
                  <a:txBody>
                    <a:bodyPr/>
                    <a:lstStyle/>
                    <a:p>
                      <a:r>
                        <a:rPr sz="1100" b="0">
                          <a:solidFill>
                            <a:srgbClr val="1F2A24"/>
                          </a:solidFill>
                        </a:rPr>
                        <a:t>Low</a:t>
                      </a:r>
                    </a:p>
                  </a:txBody>
                  <a:tcPr marL="54864" marR="54864" marT="27432" marB="27432">
                    <a:solidFill>
                      <a:srgbClr val="F4F7F5"/>
                    </a:solidFill>
                  </a:tcPr>
                </a:tc>
                <a:tc>
                  <a:txBody>
                    <a:bodyPr/>
                    <a:lstStyle/>
                    <a:p>
                      <a:r>
                        <a:rPr sz="1100" b="0">
                          <a:solidFill>
                            <a:srgbClr val="1F2A24"/>
                          </a:solidFill>
                        </a:rPr>
                        <a:t>Small graph, early stopping; seeds run overnight</a:t>
                      </a:r>
                    </a:p>
                  </a:txBody>
                  <a:tcPr marL="54864" marR="54864" marT="27432" marB="27432">
                    <a:solidFill>
                      <a:srgbClr val="F4F7F5"/>
                    </a:solidFill>
                  </a:tcPr>
                </a:tc>
              </a:tr>
              <a:tr h="429767">
                <a:tc>
                  <a:txBody>
                    <a:bodyPr/>
                    <a:lstStyle/>
                    <a:p>
                      <a:r>
                        <a:rPr sz="1100" b="0">
                          <a:solidFill>
                            <a:srgbClr val="1F2A24"/>
                          </a:solidFill>
                        </a:rPr>
                        <a:t>R7</a:t>
                      </a:r>
                    </a:p>
                  </a:txBody>
                  <a:tcPr marL="54864" marR="54864" marT="27432" marB="27432">
                    <a:solidFill>
                      <a:srgbClr val="FFFFFF"/>
                    </a:solidFill>
                  </a:tcPr>
                </a:tc>
                <a:tc>
                  <a:txBody>
                    <a:bodyPr/>
                    <a:lstStyle/>
                    <a:p>
                      <a:r>
                        <a:rPr sz="1100" b="0">
                          <a:solidFill>
                            <a:srgbClr val="1F2A24"/>
                          </a:solidFill>
                        </a:rPr>
                        <a:t>Translations inaccurate</a:t>
                      </a:r>
                    </a:p>
                  </a:txBody>
                  <a:tcPr marL="54864" marR="54864" marT="27432" marB="27432">
                    <a:solidFill>
                      <a:srgbClr val="FFFFFF"/>
                    </a:solidFill>
                  </a:tcPr>
                </a:tc>
                <a:tc>
                  <a:txBody>
                    <a:bodyPr/>
                    <a:lstStyle/>
                    <a:p>
                      <a:r>
                        <a:rPr sz="1100" b="0">
                          <a:solidFill>
                            <a:srgbClr val="1F2A24"/>
                          </a:solidFill>
                        </a:rPr>
                        <a:t>Low</a:t>
                      </a:r>
                    </a:p>
                  </a:txBody>
                  <a:tcPr marL="54864" marR="54864" marT="27432" marB="27432">
                    <a:solidFill>
                      <a:srgbClr val="FFFFFF"/>
                    </a:solidFill>
                  </a:tcPr>
                </a:tc>
                <a:tc>
                  <a:txBody>
                    <a:bodyPr/>
                    <a:lstStyle/>
                    <a:p>
                      <a:r>
                        <a:rPr sz="1100" b="0">
                          <a:solidFill>
                            <a:srgbClr val="1F2A24"/>
                          </a:solidFill>
                        </a:rPr>
                        <a:t>Marked as drafts; native-speaker review</a:t>
                      </a:r>
                    </a:p>
                  </a:txBody>
                  <a:tcPr marL="54864" marR="54864" marT="27432" marB="27432">
                    <a:solidFill>
                      <a:srgbClr val="FFFFFF"/>
                    </a:solidFill>
                  </a:tcPr>
                </a:tc>
              </a:tr>
              <a:tr h="429767">
                <a:tc>
                  <a:txBody>
                    <a:bodyPr/>
                    <a:lstStyle/>
                    <a:p>
                      <a:r>
                        <a:rPr sz="1100" b="0">
                          <a:solidFill>
                            <a:srgbClr val="1F2A24"/>
                          </a:solidFill>
                        </a:rPr>
                        <a:t>R8</a:t>
                      </a:r>
                    </a:p>
                  </a:txBody>
                  <a:tcPr marL="54864" marR="54864" marT="27432" marB="27432">
                    <a:solidFill>
                      <a:srgbClr val="F4F7F5"/>
                    </a:solidFill>
                  </a:tcPr>
                </a:tc>
                <a:tc>
                  <a:txBody>
                    <a:bodyPr/>
                    <a:lstStyle/>
                    <a:p>
                      <a:r>
                        <a:rPr sz="1100" b="0">
                          <a:solidFill>
                            <a:srgbClr val="1F2A24"/>
                          </a:solidFill>
                        </a:rPr>
                        <a:t>Traffic pretraining does not transfer</a:t>
                      </a:r>
                    </a:p>
                  </a:txBody>
                  <a:tcPr marL="54864" marR="54864" marT="27432" marB="27432">
                    <a:solidFill>
                      <a:srgbClr val="F4F7F5"/>
                    </a:solidFill>
                  </a:tcPr>
                </a:tc>
                <a:tc>
                  <a:txBody>
                    <a:bodyPr/>
                    <a:lstStyle/>
                    <a:p>
                      <a:r>
                        <a:rPr sz="1100" b="0">
                          <a:solidFill>
                            <a:srgbClr val="1F2A24"/>
                          </a:solidFill>
                        </a:rPr>
                        <a:t>Medium</a:t>
                      </a:r>
                    </a:p>
                  </a:txBody>
                  <a:tcPr marL="54864" marR="54864" marT="27432" marB="27432">
                    <a:solidFill>
                      <a:srgbClr val="F4F7F5"/>
                    </a:solidFill>
                  </a:tcPr>
                </a:tc>
                <a:tc>
                  <a:txBody>
                    <a:bodyPr/>
                    <a:lstStyle/>
                    <a:p>
                      <a:r>
                        <a:rPr sz="1100" b="0">
                          <a:solidFill>
                            <a:srgbClr val="1F2A24"/>
                          </a:solidFill>
                        </a:rPr>
                        <a:t>Happened at Adam's Peak (RQ5) – reported as a finding; layer freezing and PeMS04/08 next</a:t>
                      </a:r>
                    </a:p>
                  </a:txBody>
                  <a:tcPr marL="54864" marR="54864" marT="27432" marB="27432">
                    <a:solidFill>
                      <a:srgbClr val="F4F7F5"/>
                    </a:solidFill>
                  </a:tcPr>
                </a:tc>
              </a:tr>
              <a:tr h="429776">
                <a:tc>
                  <a:txBody>
                    <a:bodyPr/>
                    <a:lstStyle/>
                    <a:p>
                      <a:r>
                        <a:rPr sz="1100" b="0">
                          <a:solidFill>
                            <a:srgbClr val="1F2A24"/>
                          </a:solidFill>
                        </a:rPr>
                        <a:t>R9</a:t>
                      </a:r>
                    </a:p>
                  </a:txBody>
                  <a:tcPr marL="54864" marR="54864" marT="27432" marB="27432">
                    <a:solidFill>
                      <a:srgbClr val="FFFFFF"/>
                    </a:solidFill>
                  </a:tcPr>
                </a:tc>
                <a:tc>
                  <a:txBody>
                    <a:bodyPr/>
                    <a:lstStyle/>
                    <a:p>
                      <a:r>
                        <a:rPr sz="1100" b="0">
                          <a:solidFill>
                            <a:srgbClr val="1F2A24"/>
                          </a:solidFill>
                        </a:rPr>
                        <a:t>Module 3 integration late (FR4)</a:t>
                      </a:r>
                    </a:p>
                  </a:txBody>
                  <a:tcPr marL="54864" marR="54864" marT="27432" marB="27432">
                    <a:solidFill>
                      <a:srgbClr val="FFFFFF"/>
                    </a:solidFill>
                  </a:tcPr>
                </a:tc>
                <a:tc>
                  <a:txBody>
                    <a:bodyPr/>
                    <a:lstStyle/>
                    <a:p>
                      <a:r>
                        <a:rPr sz="1100" b="0">
                          <a:solidFill>
                            <a:srgbClr val="1F2A24"/>
                          </a:solidFill>
                        </a:rPr>
                        <a:t>Medium</a:t>
                      </a:r>
                    </a:p>
                  </a:txBody>
                  <a:tcPr marL="54864" marR="54864" marT="27432" marB="27432">
                    <a:solidFill>
                      <a:srgbClr val="FFFFFF"/>
                    </a:solidFill>
                  </a:tcPr>
                </a:tc>
                <a:tc>
                  <a:txBody>
                    <a:bodyPr/>
                    <a:lstStyle/>
                    <a:p>
                      <a:r>
                        <a:rPr sz="1100" b="0">
                          <a:solidFill>
                            <a:srgbClr val="1F2A24"/>
                          </a:solidFill>
                        </a:rPr>
                        <a:t>Versioned JSON already served; agree a JSON Schema + contract tests with the Module 3 owner in Nov</a:t>
                      </a:r>
                    </a:p>
                  </a:txBody>
                  <a:tcPr marL="54864" marR="54864" marT="27432" marB="27432">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COMMERCIALISATION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Who would use it, and why they would pay</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22</a:t>
            </a:r>
          </a:p>
        </p:txBody>
      </p:sp>
      <p:graphicFrame>
        <p:nvGraphicFramePr>
          <p:cNvPr id="6" name="Table 5"/>
          <p:cNvGraphicFramePr>
            <a:graphicFrameLocks noGrp="1"/>
          </p:cNvGraphicFramePr>
          <p:nvPr/>
        </p:nvGraphicFramePr>
        <p:xfrm>
          <a:off x="548640" y="1463040"/>
          <a:ext cx="6766560" cy="2743200"/>
        </p:xfrm>
        <a:graphic>
          <a:graphicData uri="http://schemas.openxmlformats.org/drawingml/2006/table">
            <a:tbl>
              <a:tblPr firstRow="1" bandRow="1">
                <a:tableStyleId>{5C22544A-7EE6-4342-B048-85BDC9FD1C3A}</a:tableStyleId>
              </a:tblPr>
              <a:tblGrid>
                <a:gridCol w="2377440"/>
                <a:gridCol w="4389120"/>
              </a:tblGrid>
              <a:tr h="548640">
                <a:tc>
                  <a:txBody>
                    <a:bodyPr/>
                    <a:lstStyle/>
                    <a:p>
                      <a:r>
                        <a:rPr sz="1300" b="1">
                          <a:solidFill>
                            <a:srgbClr val="FFFFFF"/>
                          </a:solidFill>
                        </a:rPr>
                        <a:t>User</a:t>
                      </a:r>
                    </a:p>
                  </a:txBody>
                  <a:tcPr marL="54864" marR="54864" marT="27432" marB="27432">
                    <a:solidFill>
                      <a:srgbClr val="2F6B4F"/>
                    </a:solidFill>
                  </a:tcPr>
                </a:tc>
                <a:tc>
                  <a:txBody>
                    <a:bodyPr/>
                    <a:lstStyle/>
                    <a:p>
                      <a:r>
                        <a:rPr sz="1300" b="1">
                          <a:solidFill>
                            <a:srgbClr val="FFFFFF"/>
                          </a:solidFill>
                        </a:rPr>
                        <a:t>Benefit</a:t>
                      </a:r>
                    </a:p>
                  </a:txBody>
                  <a:tcPr marL="54864" marR="54864" marT="27432" marB="27432">
                    <a:solidFill>
                      <a:srgbClr val="2F6B4F"/>
                    </a:solidFill>
                  </a:tcPr>
                </a:tc>
              </a:tr>
              <a:tr h="548640">
                <a:tc>
                  <a:txBody>
                    <a:bodyPr/>
                    <a:lstStyle/>
                    <a:p>
                      <a:r>
                        <a:rPr sz="1300" b="0">
                          <a:solidFill>
                            <a:srgbClr val="1F2A24"/>
                          </a:solidFill>
                        </a:rPr>
                        <a:t>DWC / park management</a:t>
                      </a:r>
                    </a:p>
                  </a:txBody>
                  <a:tcPr marL="54864" marR="54864" marT="27432" marB="27432">
                    <a:solidFill>
                      <a:srgbClr val="FFFFFF"/>
                    </a:solidFill>
                  </a:tcPr>
                </a:tc>
                <a:tc>
                  <a:txBody>
                    <a:bodyPr/>
                    <a:lstStyle/>
                    <a:p>
                      <a:r>
                        <a:rPr sz="1300" b="0">
                          <a:solidFill>
                            <a:srgbClr val="1F2A24"/>
                          </a:solidFill>
                        </a:rPr>
                        <a:t>Dynamic quotas and slot plans instead of a fixed number; season staffing plan</a:t>
                      </a:r>
                    </a:p>
                  </a:txBody>
                  <a:tcPr marL="54864" marR="54864" marT="27432" marB="27432">
                    <a:solidFill>
                      <a:srgbClr val="FFFFFF"/>
                    </a:solidFill>
                  </a:tcPr>
                </a:tc>
              </a:tr>
              <a:tr h="548640">
                <a:tc>
                  <a:txBody>
                    <a:bodyPr/>
                    <a:lstStyle/>
                    <a:p>
                      <a:r>
                        <a:rPr sz="1300" b="0">
                          <a:solidFill>
                            <a:srgbClr val="1F2A24"/>
                          </a:solidFill>
                        </a:rPr>
                        <a:t>Sri Pada Trust / police</a:t>
                      </a:r>
                    </a:p>
                  </a:txBody>
                  <a:tcPr marL="54864" marR="54864" marT="27432" marB="27432">
                    <a:solidFill>
                      <a:srgbClr val="F4F7F5"/>
                    </a:solidFill>
                  </a:tcPr>
                </a:tc>
                <a:tc>
                  <a:txBody>
                    <a:bodyPr/>
                    <a:lstStyle/>
                    <a:p>
                      <a:r>
                        <a:rPr sz="1300" b="0">
                          <a:solidFill>
                            <a:srgbClr val="1F2A24"/>
                          </a:solidFill>
                        </a:rPr>
                        <a:t>Which nights need halfway checks, when to hold, how many to release</a:t>
                      </a:r>
                    </a:p>
                  </a:txBody>
                  <a:tcPr marL="54864" marR="54864" marT="27432" marB="27432">
                    <a:solidFill>
                      <a:srgbClr val="F4F7F5"/>
                    </a:solidFill>
                  </a:tcPr>
                </a:tc>
              </a:tr>
              <a:tr h="548640">
                <a:tc>
                  <a:txBody>
                    <a:bodyPr/>
                    <a:lstStyle/>
                    <a:p>
                      <a:r>
                        <a:rPr sz="1300" b="0">
                          <a:solidFill>
                            <a:srgbClr val="1F2A24"/>
                          </a:solidFill>
                        </a:rPr>
                        <a:t>Visitors and pilgrims</a:t>
                      </a:r>
                    </a:p>
                  </a:txBody>
                  <a:tcPr marL="54864" marR="54864" marT="27432" marB="27432">
                    <a:solidFill>
                      <a:srgbClr val="FFFFFF"/>
                    </a:solidFill>
                  </a:tcPr>
                </a:tc>
                <a:tc>
                  <a:txBody>
                    <a:bodyPr/>
                    <a:lstStyle/>
                    <a:p>
                      <a:r>
                        <a:rPr sz="1300" b="0">
                          <a:solidFill>
                            <a:srgbClr val="1F2A24"/>
                          </a:solidFill>
                        </a:rPr>
                        <a:t>Know before travelling: quiet days, start times, guaranteed entry slot</a:t>
                      </a:r>
                    </a:p>
                  </a:txBody>
                  <a:tcPr marL="54864" marR="54864" marT="27432" marB="27432">
                    <a:solidFill>
                      <a:srgbClr val="FFFFFF"/>
                    </a:solidFill>
                  </a:tcPr>
                </a:tc>
              </a:tr>
              <a:tr h="548640">
                <a:tc>
                  <a:txBody>
                    <a:bodyPr/>
                    <a:lstStyle/>
                    <a:p>
                      <a:r>
                        <a:rPr sz="1300" b="0">
                          <a:solidFill>
                            <a:srgbClr val="1F2A24"/>
                          </a:solidFill>
                        </a:rPr>
                        <a:t>Tour operators / SLTDA</a:t>
                      </a:r>
                    </a:p>
                  </a:txBody>
                  <a:tcPr marL="54864" marR="54864" marT="27432" marB="27432">
                    <a:solidFill>
                      <a:srgbClr val="F4F7F5"/>
                    </a:solidFill>
                  </a:tcPr>
                </a:tc>
                <a:tc>
                  <a:txBody>
                    <a:bodyPr/>
                    <a:lstStyle/>
                    <a:p>
                      <a:r>
                        <a:rPr sz="1300" b="0">
                          <a:solidFill>
                            <a:srgbClr val="1F2A24"/>
                          </a:solidFill>
                        </a:rPr>
                        <a:t>Plan groups on quiet days; tourism statistics per site</a:t>
                      </a:r>
                    </a:p>
                  </a:txBody>
                  <a:tcPr marL="54864" marR="54864" marT="27432" marB="27432">
                    <a:solidFill>
                      <a:srgbClr val="F4F7F5"/>
                    </a:solidFill>
                  </a:tcPr>
                </a:tc>
              </a:tr>
            </a:tbl>
          </a:graphicData>
        </a:graphic>
      </p:graphicFrame>
      <p:sp>
        <p:nvSpPr>
          <p:cNvPr id="7" name="TextBox 6"/>
          <p:cNvSpPr txBox="1"/>
          <p:nvPr/>
        </p:nvSpPr>
        <p:spPr>
          <a:xfrm>
            <a:off x="7680960" y="1554480"/>
            <a:ext cx="4297680" cy="4572000"/>
          </a:xfrm>
          <a:prstGeom prst="rect">
            <a:avLst/>
          </a:prstGeom>
          <a:noFill/>
        </p:spPr>
        <p:txBody>
          <a:bodyPr wrap="square">
            <a:spAutoFit/>
          </a:bodyPr>
          <a:lstStyle/>
          <a:p>
            <a:pPr>
              <a:spcAft>
                <a:spcPts val="1200"/>
              </a:spcAft>
            </a:pPr>
            <a:r>
              <a:rPr sz="1500" b="1">
                <a:solidFill>
                  <a:srgbClr val="1F2A24"/>
                </a:solidFill>
              </a:rPr>
              <a:t>•  Model:</a:t>
            </a:r>
            <a:r>
              <a:rPr sz="1500">
                <a:solidFill>
                  <a:srgbClr val="1F2A24"/>
                </a:solidFill>
              </a:rPr>
              <a:t>  licence per site (authority) + small booking fee per ticket</a:t>
            </a:r>
          </a:p>
          <a:p>
            <a:pPr>
              <a:spcAft>
                <a:spcPts val="1200"/>
              </a:spcAft>
            </a:pPr>
            <a:r>
              <a:rPr sz="1500" b="1">
                <a:solidFill>
                  <a:srgbClr val="1F2A24"/>
                </a:solidFill>
              </a:rPr>
              <a:t>•  Scales:</a:t>
            </a:r>
            <a:r>
              <a:rPr sz="1500">
                <a:solidFill>
                  <a:srgbClr val="1F2A24"/>
                </a:solidFill>
              </a:rPr>
              <a:t>  a new destination = one config file + open data – no sensors to buy or maintain</a:t>
            </a:r>
          </a:p>
          <a:p>
            <a:pPr>
              <a:spcAft>
                <a:spcPts val="1200"/>
              </a:spcAft>
            </a:pPr>
            <a:r>
              <a:rPr sz="1500" b="1">
                <a:solidFill>
                  <a:srgbClr val="1F2A24"/>
                </a:solidFill>
              </a:rPr>
              <a:t>•  Next sites:</a:t>
            </a:r>
            <a:r>
              <a:rPr sz="1500">
                <a:solidFill>
                  <a:srgbClr val="1F2A24"/>
                </a:solidFill>
              </a:rPr>
              <a:t>  Ella Rock, Knuckles, Sigiriya, Sinharaja, Adam's Peak minor routes</a:t>
            </a:r>
          </a:p>
          <a:p>
            <a:pPr>
              <a:spcAft>
                <a:spcPts val="1200"/>
              </a:spcAft>
            </a:pPr>
            <a:r>
              <a:rPr sz="1500" b="1">
                <a:solidFill>
                  <a:srgbClr val="1F2A24"/>
                </a:solidFill>
              </a:rPr>
              <a:t>•  Low cost:</a:t>
            </a:r>
            <a:r>
              <a:rPr sz="1500">
                <a:solidFill>
                  <a:srgbClr val="1F2A24"/>
                </a:solidFill>
              </a:rPr>
              <a:t>  open data, CPU-only, offline-capable app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COMPLETION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Progress against the proposal's work breakdown</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23</a:t>
            </a:r>
          </a:p>
        </p:txBody>
      </p:sp>
      <p:graphicFrame>
        <p:nvGraphicFramePr>
          <p:cNvPr id="6" name="Table 5"/>
          <p:cNvGraphicFramePr>
            <a:graphicFrameLocks noGrp="1"/>
          </p:cNvGraphicFramePr>
          <p:nvPr/>
        </p:nvGraphicFramePr>
        <p:xfrm>
          <a:off x="548640" y="1371600"/>
          <a:ext cx="11064239" cy="4754880"/>
        </p:xfrm>
        <a:graphic>
          <a:graphicData uri="http://schemas.openxmlformats.org/drawingml/2006/table">
            <a:tbl>
              <a:tblPr firstRow="1" bandRow="1">
                <a:tableStyleId>{5C22544A-7EE6-4342-B048-85BDC9FD1C3A}</a:tableStyleId>
              </a:tblPr>
              <a:tblGrid>
                <a:gridCol w="457200"/>
                <a:gridCol w="4480560"/>
                <a:gridCol w="2377440"/>
                <a:gridCol w="3749039"/>
              </a:tblGrid>
              <a:tr h="365760">
                <a:tc>
                  <a:txBody>
                    <a:bodyPr/>
                    <a:lstStyle/>
                    <a:p>
                      <a:r>
                        <a:rPr sz="1200" b="1">
                          <a:solidFill>
                            <a:srgbClr val="FFFFFF"/>
                          </a:solidFill>
                        </a:rPr>
                        <a:t>#</a:t>
                      </a:r>
                    </a:p>
                  </a:txBody>
                  <a:tcPr marL="54864" marR="54864" marT="27432" marB="27432">
                    <a:solidFill>
                      <a:srgbClr val="2F6B4F"/>
                    </a:solidFill>
                  </a:tcPr>
                </a:tc>
                <a:tc>
                  <a:txBody>
                    <a:bodyPr/>
                    <a:lstStyle/>
                    <a:p>
                      <a:r>
                        <a:rPr sz="1200" b="1">
                          <a:solidFill>
                            <a:srgbClr val="FFFFFF"/>
                          </a:solidFill>
                        </a:rPr>
                        <a:t>WBS task (proposal section 8)</a:t>
                      </a:r>
                    </a:p>
                  </a:txBody>
                  <a:tcPr marL="54864" marR="54864" marT="27432" marB="27432">
                    <a:solidFill>
                      <a:srgbClr val="2F6B4F"/>
                    </a:solidFill>
                  </a:tcPr>
                </a:tc>
                <a:tc>
                  <a:txBody>
                    <a:bodyPr/>
                    <a:lstStyle/>
                    <a:p>
                      <a:r>
                        <a:rPr sz="1200" b="1">
                          <a:solidFill>
                            <a:srgbClr val="FFFFFF"/>
                          </a:solidFill>
                        </a:rPr>
                        <a:t>Status</a:t>
                      </a:r>
                    </a:p>
                  </a:txBody>
                  <a:tcPr marL="54864" marR="54864" marT="27432" marB="27432">
                    <a:solidFill>
                      <a:srgbClr val="2F6B4F"/>
                    </a:solidFill>
                  </a:tcPr>
                </a:tc>
                <a:tc>
                  <a:txBody>
                    <a:bodyPr/>
                    <a:lstStyle/>
                    <a:p>
                      <a:r>
                        <a:rPr sz="1200" b="1">
                          <a:solidFill>
                            <a:srgbClr val="FFFFFF"/>
                          </a:solidFill>
                        </a:rPr>
                        <a:t>Evidence</a:t>
                      </a:r>
                    </a:p>
                  </a:txBody>
                  <a:tcPr marL="54864" marR="54864" marT="27432" marB="27432">
                    <a:solidFill>
                      <a:srgbClr val="2F6B4F"/>
                    </a:solidFill>
                  </a:tcPr>
                </a:tc>
              </a:tr>
              <a:tr h="365760">
                <a:tc>
                  <a:txBody>
                    <a:bodyPr/>
                    <a:lstStyle/>
                    <a:p>
                      <a:r>
                        <a:rPr sz="1200" b="0">
                          <a:solidFill>
                            <a:srgbClr val="1F2A24"/>
                          </a:solidFill>
                        </a:rPr>
                        <a:t>1</a:t>
                      </a:r>
                    </a:p>
                  </a:txBody>
                  <a:tcPr marL="54864" marR="54864" marT="27432" marB="27432">
                    <a:solidFill>
                      <a:srgbClr val="FFFFFF"/>
                    </a:solidFill>
                  </a:tcPr>
                </a:tc>
                <a:tc>
                  <a:txBody>
                    <a:bodyPr/>
                    <a:lstStyle/>
                    <a:p>
                      <a:r>
                        <a:rPr sz="1200" b="0">
                          <a:solidFill>
                            <a:srgbClr val="1F2A24"/>
                          </a:solidFill>
                        </a:rPr>
                        <a:t>Literature review and gap</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proposal; RQ5 answers the gap</a:t>
                      </a:r>
                    </a:p>
                  </a:txBody>
                  <a:tcPr marL="54864" marR="54864" marT="27432" marB="27432">
                    <a:solidFill>
                      <a:srgbClr val="FFFFFF"/>
                    </a:solidFill>
                  </a:tcPr>
                </a:tc>
              </a:tr>
              <a:tr h="365760">
                <a:tc>
                  <a:txBody>
                    <a:bodyPr/>
                    <a:lstStyle/>
                    <a:p>
                      <a:r>
                        <a:rPr sz="1200" b="0">
                          <a:solidFill>
                            <a:srgbClr val="1F2A24"/>
                          </a:solidFill>
                        </a:rPr>
                        <a:t>2</a:t>
                      </a:r>
                    </a:p>
                  </a:txBody>
                  <a:tcPr marL="54864" marR="54864" marT="27432" marB="27432">
                    <a:solidFill>
                      <a:srgbClr val="F4F7F5"/>
                    </a:solidFill>
                  </a:tcPr>
                </a:tc>
                <a:tc>
                  <a:txBody>
                    <a:bodyPr/>
                    <a:lstStyle/>
                    <a:p>
                      <a:r>
                        <a:rPr sz="1200" b="0">
                          <a:solidFill>
                            <a:srgbClr val="1F2A24"/>
                          </a:solidFill>
                        </a:rPr>
                        <a:t>Trail graph + features (OSM / DEM / weather)</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2 parks; CHIRPS / NASA POWER next</a:t>
                      </a:r>
                    </a:p>
                  </a:txBody>
                  <a:tcPr marL="54864" marR="54864" marT="27432" marB="27432">
                    <a:solidFill>
                      <a:srgbClr val="F4F7F5"/>
                    </a:solidFill>
                  </a:tcPr>
                </a:tc>
              </a:tr>
              <a:tr h="365760">
                <a:tc>
                  <a:txBody>
                    <a:bodyPr/>
                    <a:lstStyle/>
                    <a:p>
                      <a:r>
                        <a:rPr sz="1200" b="0">
                          <a:solidFill>
                            <a:srgbClr val="1F2A24"/>
                          </a:solidFill>
                        </a:rPr>
                        <a:t>3</a:t>
                      </a:r>
                    </a:p>
                  </a:txBody>
                  <a:tcPr marL="54864" marR="54864" marT="27432" marB="27432">
                    <a:solidFill>
                      <a:srgbClr val="FFFFFF"/>
                    </a:solidFill>
                  </a:tcPr>
                </a:tc>
                <a:tc>
                  <a:txBody>
                    <a:bodyPr/>
                    <a:lstStyle/>
                    <a:p>
                      <a:r>
                        <a:rPr sz="1200" b="0">
                          <a:solidFill>
                            <a:srgbClr val="1F2A24"/>
                          </a:solidFill>
                        </a:rPr>
                        <a:t>Synthetic target + field calibration</a:t>
                      </a:r>
                    </a:p>
                  </a:txBody>
                  <a:tcPr marL="54864" marR="54864" marT="27432" marB="27432">
                    <a:solidFill>
                      <a:srgbClr val="FFFFFF"/>
                    </a:solidFill>
                  </a:tcPr>
                </a:tc>
                <a:tc>
                  <a:txBody>
                    <a:bodyPr/>
                    <a:lstStyle/>
                    <a:p>
                      <a:r>
                        <a:rPr sz="1200" b="0">
                          <a:solidFill>
                            <a:srgbClr val="1F2A24"/>
                          </a:solidFill>
                        </a:rPr>
                        <a:t>Target done · counts Dec</a:t>
                      </a:r>
                    </a:p>
                  </a:txBody>
                  <a:tcPr marL="54864" marR="54864" marT="27432" marB="27432">
                    <a:solidFill>
                      <a:srgbClr val="FFFFFF"/>
                    </a:solidFill>
                  </a:tcPr>
                </a:tc>
                <a:tc>
                  <a:txBody>
                    <a:bodyPr/>
                    <a:lstStyle/>
                    <a:p>
                      <a:r>
                        <a:rPr sz="1200" b="0">
                          <a:solidFill>
                            <a:srgbClr val="1F2A24"/>
                          </a:solidFill>
                        </a:rPr>
                        <a:t>criteria fixed, tool built</a:t>
                      </a:r>
                    </a:p>
                  </a:txBody>
                  <a:tcPr marL="54864" marR="54864" marT="27432" marB="27432">
                    <a:solidFill>
                      <a:srgbClr val="FFFFFF"/>
                    </a:solidFill>
                  </a:tcPr>
                </a:tc>
              </a:tr>
              <a:tr h="365760">
                <a:tc>
                  <a:txBody>
                    <a:bodyPr/>
                    <a:lstStyle/>
                    <a:p>
                      <a:r>
                        <a:rPr sz="1200" b="0">
                          <a:solidFill>
                            <a:srgbClr val="1F2A24"/>
                          </a:solidFill>
                        </a:rPr>
                        <a:t>4</a:t>
                      </a:r>
                    </a:p>
                  </a:txBody>
                  <a:tcPr marL="54864" marR="54864" marT="27432" marB="27432">
                    <a:solidFill>
                      <a:srgbClr val="F4F7F5"/>
                    </a:solidFill>
                  </a:tcPr>
                </a:tc>
                <a:tc>
                  <a:txBody>
                    <a:bodyPr/>
                    <a:lstStyle/>
                    <a:p>
                      <a:r>
                        <a:rPr sz="1200" b="0">
                          <a:solidFill>
                            <a:srgbClr val="1F2A24"/>
                          </a:solidFill>
                        </a:rPr>
                        <a:t>Baselines (HA, ARIMA, LSTM)</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 GRU without graph (ablation)</a:t>
                      </a:r>
                    </a:p>
                  </a:txBody>
                  <a:tcPr marL="54864" marR="54864" marT="27432" marB="27432">
                    <a:solidFill>
                      <a:srgbClr val="F4F7F5"/>
                    </a:solidFill>
                  </a:tcPr>
                </a:tc>
              </a:tr>
              <a:tr h="365760">
                <a:tc>
                  <a:txBody>
                    <a:bodyPr/>
                    <a:lstStyle/>
                    <a:p>
                      <a:r>
                        <a:rPr sz="1200" b="0">
                          <a:solidFill>
                            <a:srgbClr val="1F2A24"/>
                          </a:solidFill>
                        </a:rPr>
                        <a:t>5</a:t>
                      </a:r>
                    </a:p>
                  </a:txBody>
                  <a:tcPr marL="54864" marR="54864" marT="27432" marB="27432">
                    <a:solidFill>
                      <a:srgbClr val="FFFFFF"/>
                    </a:solidFill>
                  </a:tcPr>
                </a:tc>
                <a:tc>
                  <a:txBody>
                    <a:bodyPr/>
                    <a:lstStyle/>
                    <a:p>
                      <a:r>
                        <a:rPr sz="1200" b="0">
                          <a:solidFill>
                            <a:srgbClr val="1F2A24"/>
                          </a:solidFill>
                        </a:rPr>
                        <a:t>Pretraining on public benchmarks</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METR-LA → PEMS-BAY</a:t>
                      </a:r>
                    </a:p>
                  </a:txBody>
                  <a:tcPr marL="54864" marR="54864" marT="27432" marB="27432">
                    <a:solidFill>
                      <a:srgbClr val="FFFFFF"/>
                    </a:solidFill>
                  </a:tcPr>
                </a:tc>
              </a:tr>
              <a:tr h="365760">
                <a:tc>
                  <a:txBody>
                    <a:bodyPr/>
                    <a:lstStyle/>
                    <a:p>
                      <a:r>
                        <a:rPr sz="1200" b="0">
                          <a:solidFill>
                            <a:srgbClr val="1F2A24"/>
                          </a:solidFill>
                        </a:rPr>
                        <a:t>6</a:t>
                      </a:r>
                    </a:p>
                  </a:txBody>
                  <a:tcPr marL="54864" marR="54864" marT="27432" marB="27432">
                    <a:solidFill>
                      <a:srgbClr val="F4F7F5"/>
                    </a:solidFill>
                  </a:tcPr>
                </a:tc>
                <a:tc>
                  <a:txBody>
                    <a:bodyPr/>
                    <a:lstStyle/>
                    <a:p>
                      <a:r>
                        <a:rPr sz="1200" b="0">
                          <a:solidFill>
                            <a:srgbClr val="1F2A24"/>
                          </a:solidFill>
                        </a:rPr>
                        <a:t>Domain adaptation onto the trail</a:t>
                      </a:r>
                    </a:p>
                  </a:txBody>
                  <a:tcPr marL="54864" marR="54864" marT="27432" marB="27432">
                    <a:solidFill>
                      <a:srgbClr val="F4F7F5"/>
                    </a:solidFill>
                  </a:tcPr>
                </a:tc>
                <a:tc>
                  <a:txBody>
                    <a:bodyPr/>
                    <a:lstStyle/>
                    <a:p>
                      <a:r>
                        <a:rPr sz="1200" b="0">
                          <a:solidFill>
                            <a:srgbClr val="1F2A24"/>
                          </a:solidFill>
                        </a:rPr>
                        <a:t>Done (fine-tuning)</a:t>
                      </a:r>
                    </a:p>
                  </a:txBody>
                  <a:tcPr marL="54864" marR="54864" marT="27432" marB="27432">
                    <a:solidFill>
                      <a:srgbClr val="F4F7F5"/>
                    </a:solidFill>
                  </a:tcPr>
                </a:tc>
                <a:tc>
                  <a:txBody>
                    <a:bodyPr/>
                    <a:lstStyle/>
                    <a:p>
                      <a:r>
                        <a:rPr sz="1200" b="0">
                          <a:solidFill>
                            <a:srgbClr val="1F2A24"/>
                          </a:solidFill>
                        </a:rPr>
                        <a:t>layer freezing next</a:t>
                      </a:r>
                    </a:p>
                  </a:txBody>
                  <a:tcPr marL="54864" marR="54864" marT="27432" marB="27432">
                    <a:solidFill>
                      <a:srgbClr val="F4F7F5"/>
                    </a:solidFill>
                  </a:tcPr>
                </a:tc>
              </a:tr>
              <a:tr h="365760">
                <a:tc>
                  <a:txBody>
                    <a:bodyPr/>
                    <a:lstStyle/>
                    <a:p>
                      <a:r>
                        <a:rPr sz="1200" b="0">
                          <a:solidFill>
                            <a:srgbClr val="1F2A24"/>
                          </a:solidFill>
                        </a:rPr>
                        <a:t>7</a:t>
                      </a:r>
                    </a:p>
                  </a:txBody>
                  <a:tcPr marL="54864" marR="54864" marT="27432" marB="27432">
                    <a:solidFill>
                      <a:srgbClr val="FFFFFF"/>
                    </a:solidFill>
                  </a:tcPr>
                </a:tc>
                <a:tc>
                  <a:txBody>
                    <a:bodyPr/>
                    <a:lstStyle/>
                    <a:p>
                      <a:r>
                        <a:rPr sz="1200" b="0">
                          <a:solidFill>
                            <a:srgbClr val="1F2A24"/>
                          </a:solidFill>
                        </a:rPr>
                        <a:t>Benchmarking (RMSE / MAE / t-test)</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3 seeds, spatial CV, Holm</a:t>
                      </a:r>
                    </a:p>
                  </a:txBody>
                  <a:tcPr marL="54864" marR="54864" marT="27432" marB="27432">
                    <a:solidFill>
                      <a:srgbClr val="FFFFFF"/>
                    </a:solidFill>
                  </a:tcPr>
                </a:tc>
              </a:tr>
              <a:tr h="365760">
                <a:tc>
                  <a:txBody>
                    <a:bodyPr/>
                    <a:lstStyle/>
                    <a:p>
                      <a:r>
                        <a:rPr sz="1200" b="0">
                          <a:solidFill>
                            <a:srgbClr val="1F2A24"/>
                          </a:solidFill>
                        </a:rPr>
                        <a:t>8</a:t>
                      </a:r>
                    </a:p>
                  </a:txBody>
                  <a:tcPr marL="54864" marR="54864" marT="27432" marB="27432">
                    <a:solidFill>
                      <a:srgbClr val="F4F7F5"/>
                    </a:solidFill>
                  </a:tcPr>
                </a:tc>
                <a:tc>
                  <a:txBody>
                    <a:bodyPr/>
                    <a:lstStyle/>
                    <a:p>
                      <a:r>
                        <a:rPr sz="1200" b="0">
                          <a:solidFill>
                            <a:srgbClr val="1F2A24"/>
                          </a:solidFill>
                        </a:rPr>
                        <a:t>Cifuentes cascade + integration</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safe limit in API and app</a:t>
                      </a:r>
                    </a:p>
                  </a:txBody>
                  <a:tcPr marL="54864" marR="54864" marT="27432" marB="27432">
                    <a:solidFill>
                      <a:srgbClr val="F4F7F5"/>
                    </a:solidFill>
                  </a:tcPr>
                </a:tc>
              </a:tr>
              <a:tr h="365760">
                <a:tc>
                  <a:txBody>
                    <a:bodyPr/>
                    <a:lstStyle/>
                    <a:p>
                      <a:r>
                        <a:rPr sz="1200" b="0">
                          <a:solidFill>
                            <a:srgbClr val="1F2A24"/>
                          </a:solidFill>
                        </a:rPr>
                        <a:t>9</a:t>
                      </a:r>
                    </a:p>
                  </a:txBody>
                  <a:tcPr marL="54864" marR="54864" marT="27432" marB="27432">
                    <a:solidFill>
                      <a:srgbClr val="FFFFFF"/>
                    </a:solidFill>
                  </a:tcPr>
                </a:tc>
                <a:tc>
                  <a:txBody>
                    <a:bodyPr/>
                    <a:lstStyle/>
                    <a:p>
                      <a:r>
                        <a:rPr sz="1200" b="0">
                          <a:solidFill>
                            <a:srgbClr val="1F2A24"/>
                          </a:solidFill>
                        </a:rPr>
                        <a:t>On-device quantisation + inference</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ONNX, int8 tested, Dart engine</a:t>
                      </a:r>
                    </a:p>
                  </a:txBody>
                  <a:tcPr marL="54864" marR="54864" marT="27432" marB="27432">
                    <a:solidFill>
                      <a:srgbClr val="FFFFFF"/>
                    </a:solidFill>
                  </a:tcPr>
                </a:tc>
              </a:tr>
              <a:tr h="365760">
                <a:tc>
                  <a:txBody>
                    <a:bodyPr/>
                    <a:lstStyle/>
                    <a:p>
                      <a:r>
                        <a:rPr sz="1200" b="0">
                          <a:solidFill>
                            <a:srgbClr val="1F2A24"/>
                          </a:solidFill>
                        </a:rPr>
                        <a:t>10</a:t>
                      </a:r>
                    </a:p>
                  </a:txBody>
                  <a:tcPr marL="54864" marR="54864" marT="27432" marB="27432">
                    <a:solidFill>
                      <a:srgbClr val="F4F7F5"/>
                    </a:solidFill>
                  </a:tcPr>
                </a:tc>
                <a:tc>
                  <a:txBody>
                    <a:bodyPr/>
                    <a:lstStyle/>
                    <a:p>
                      <a:r>
                        <a:rPr sz="1200" b="0">
                          <a:solidFill>
                            <a:srgbClr val="1F2A24"/>
                          </a:solidFill>
                        </a:rPr>
                        <a:t>Cross-module integration (shared data layer)</a:t>
                      </a:r>
                    </a:p>
                  </a:txBody>
                  <a:tcPr marL="54864" marR="54864" marT="27432" marB="27432">
                    <a:solidFill>
                      <a:srgbClr val="F4F7F5"/>
                    </a:solidFill>
                  </a:tcPr>
                </a:tc>
                <a:tc>
                  <a:txBody>
                    <a:bodyPr/>
                    <a:lstStyle/>
                    <a:p>
                      <a:r>
                        <a:rPr sz="1200" b="0">
                          <a:solidFill>
                            <a:srgbClr val="1F2A24"/>
                          </a:solidFill>
                        </a:rPr>
                        <a:t>Started</a:t>
                      </a:r>
                    </a:p>
                  </a:txBody>
                  <a:tcPr marL="54864" marR="54864" marT="27432" marB="27432">
                    <a:solidFill>
                      <a:srgbClr val="F4F7F5"/>
                    </a:solidFill>
                  </a:tcPr>
                </a:tc>
                <a:tc>
                  <a:txBody>
                    <a:bodyPr/>
                    <a:lstStyle/>
                    <a:p>
                      <a:r>
                        <a:rPr sz="1200" b="0">
                          <a:solidFill>
                            <a:srgbClr val="1F2A24"/>
                          </a:solidFill>
                        </a:rPr>
                        <a:t>versioned JSON; schema with M3 in Nov</a:t>
                      </a:r>
                    </a:p>
                  </a:txBody>
                  <a:tcPr marL="54864" marR="54864" marT="27432" marB="27432">
                    <a:solidFill>
                      <a:srgbClr val="F4F7F5"/>
                    </a:solidFill>
                  </a:tcPr>
                </a:tc>
              </a:tr>
              <a:tr h="365760">
                <a:tc>
                  <a:txBody>
                    <a:bodyPr/>
                    <a:lstStyle/>
                    <a:p>
                      <a:r>
                        <a:rPr sz="1200" b="0">
                          <a:solidFill>
                            <a:srgbClr val="1F2A24"/>
                          </a:solidFill>
                        </a:rPr>
                        <a:t>11</a:t>
                      </a:r>
                    </a:p>
                  </a:txBody>
                  <a:tcPr marL="54864" marR="54864" marT="27432" marB="27432">
                    <a:solidFill>
                      <a:srgbClr val="FFFFFF"/>
                    </a:solidFill>
                  </a:tcPr>
                </a:tc>
                <a:tc>
                  <a:txBody>
                    <a:bodyPr/>
                    <a:lstStyle/>
                    <a:p>
                      <a:r>
                        <a:rPr sz="1200" b="0">
                          <a:solidFill>
                            <a:srgbClr val="1F2A24"/>
                          </a:solidFill>
                        </a:rPr>
                        <a:t>Field validation + system / QA testing</a:t>
                      </a:r>
                    </a:p>
                  </a:txBody>
                  <a:tcPr marL="54864" marR="54864" marT="27432" marB="27432">
                    <a:solidFill>
                      <a:srgbClr val="FFFFFF"/>
                    </a:solidFill>
                  </a:tcPr>
                </a:tc>
                <a:tc>
                  <a:txBody>
                    <a:bodyPr/>
                    <a:lstStyle/>
                    <a:p>
                      <a:r>
                        <a:rPr sz="1200" b="0">
                          <a:solidFill>
                            <a:srgbClr val="1F2A24"/>
                          </a:solidFill>
                        </a:rPr>
                        <a:t>Planned Dec</a:t>
                      </a:r>
                    </a:p>
                  </a:txBody>
                  <a:tcPr marL="54864" marR="54864" marT="27432" marB="27432">
                    <a:solidFill>
                      <a:srgbClr val="FFFFFF"/>
                    </a:solidFill>
                  </a:tcPr>
                </a:tc>
                <a:tc>
                  <a:txBody>
                    <a:bodyPr/>
                    <a:lstStyle/>
                    <a:p>
                      <a:r>
                        <a:rPr sz="1200" b="0">
                          <a:solidFill>
                            <a:srgbClr val="1F2A24"/>
                          </a:solidFill>
                        </a:rPr>
                        <a:t>65 + 24 automated tests</a:t>
                      </a:r>
                    </a:p>
                  </a:txBody>
                  <a:tcPr marL="54864" marR="54864" marT="27432" marB="27432">
                    <a:solidFill>
                      <a:srgbClr val="FFFFFF"/>
                    </a:solidFill>
                  </a:tcPr>
                </a:tc>
              </a:tr>
              <a:tr h="365760">
                <a:tc>
                  <a:txBody>
                    <a:bodyPr/>
                    <a:lstStyle/>
                    <a:p>
                      <a:r>
                        <a:rPr sz="1200" b="0">
                          <a:solidFill>
                            <a:srgbClr val="1F2A24"/>
                          </a:solidFill>
                        </a:rPr>
                        <a:t>12</a:t>
                      </a:r>
                    </a:p>
                  </a:txBody>
                  <a:tcPr marL="54864" marR="54864" marT="27432" marB="27432">
                    <a:solidFill>
                      <a:srgbClr val="F4F7F5"/>
                    </a:solidFill>
                  </a:tcPr>
                </a:tc>
                <a:tc>
                  <a:txBody>
                    <a:bodyPr/>
                    <a:lstStyle/>
                    <a:p>
                      <a:r>
                        <a:rPr sz="1200" b="0">
                          <a:solidFill>
                            <a:srgbClr val="1F2A24"/>
                          </a:solidFill>
                        </a:rPr>
                        <a:t>Thesis documentation</a:t>
                      </a:r>
                    </a:p>
                  </a:txBody>
                  <a:tcPr marL="54864" marR="54864" marT="27432" marB="27432">
                    <a:solidFill>
                      <a:srgbClr val="F4F7F5"/>
                    </a:solidFill>
                  </a:tcPr>
                </a:tc>
                <a:tc>
                  <a:txBody>
                    <a:bodyPr/>
                    <a:lstStyle/>
                    <a:p>
                      <a:r>
                        <a:rPr sz="1200" b="0">
                          <a:solidFill>
                            <a:srgbClr val="1F2A24"/>
                          </a:solidFill>
                        </a:rPr>
                        <a:t>Ongoing</a:t>
                      </a:r>
                    </a:p>
                  </a:txBody>
                  <a:tcPr marL="54864" marR="54864" marT="27432" marB="27432">
                    <a:solidFill>
                      <a:srgbClr val="F4F7F5"/>
                    </a:solidFill>
                  </a:tcPr>
                </a:tc>
                <a:tc>
                  <a:txBody>
                    <a:bodyPr/>
                    <a:lstStyle/>
                    <a:p>
                      <a:r>
                        <a:rPr sz="1200" b="0">
                          <a:solidFill>
                            <a:srgbClr val="1F2A24"/>
                          </a:solidFill>
                        </a:rPr>
                        <a:t>docs/, evaluation_results.md</a:t>
                      </a:r>
                    </a:p>
                  </a:txBody>
                  <a:tcPr marL="54864" marR="54864" marT="27432" marB="27432">
                    <a:solidFill>
                      <a:srgbClr val="F4F7F5"/>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COMPLETION &amp; PLAN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Next steps and corrective actions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24</a:t>
            </a:r>
          </a:p>
        </p:txBody>
      </p:sp>
      <p:graphicFrame>
        <p:nvGraphicFramePr>
          <p:cNvPr id="6" name="Table 5"/>
          <p:cNvGraphicFramePr>
            <a:graphicFrameLocks noGrp="1"/>
          </p:cNvGraphicFramePr>
          <p:nvPr/>
        </p:nvGraphicFramePr>
        <p:xfrm>
          <a:off x="548640" y="1371600"/>
          <a:ext cx="11064240" cy="3968496"/>
        </p:xfrm>
        <a:graphic>
          <a:graphicData uri="http://schemas.openxmlformats.org/drawingml/2006/table">
            <a:tbl>
              <a:tblPr firstRow="1" bandRow="1">
                <a:tableStyleId>{5C22544A-7EE6-4342-B048-85BDC9FD1C3A}</a:tableStyleId>
              </a:tblPr>
              <a:tblGrid>
                <a:gridCol w="1737360"/>
                <a:gridCol w="6309360"/>
                <a:gridCol w="3017520"/>
              </a:tblGrid>
              <a:tr h="566928">
                <a:tc>
                  <a:txBody>
                    <a:bodyPr/>
                    <a:lstStyle/>
                    <a:p>
                      <a:r>
                        <a:rPr sz="1300" b="1">
                          <a:solidFill>
                            <a:srgbClr val="FFFFFF"/>
                          </a:solidFill>
                        </a:rPr>
                        <a:t>When</a:t>
                      </a:r>
                    </a:p>
                  </a:txBody>
                  <a:tcPr marL="54864" marR="54864" marT="27432" marB="27432">
                    <a:solidFill>
                      <a:srgbClr val="2F6B4F"/>
                    </a:solidFill>
                  </a:tcPr>
                </a:tc>
                <a:tc>
                  <a:txBody>
                    <a:bodyPr/>
                    <a:lstStyle/>
                    <a:p>
                      <a:r>
                        <a:rPr sz="1300" b="1">
                          <a:solidFill>
                            <a:srgbClr val="FFFFFF"/>
                          </a:solidFill>
                        </a:rPr>
                        <a:t>Work</a:t>
                      </a:r>
                    </a:p>
                  </a:txBody>
                  <a:tcPr marL="54864" marR="54864" marT="27432" marB="27432">
                    <a:solidFill>
                      <a:srgbClr val="2F6B4F"/>
                    </a:solidFill>
                  </a:tcPr>
                </a:tc>
                <a:tc>
                  <a:txBody>
                    <a:bodyPr/>
                    <a:lstStyle/>
                    <a:p>
                      <a:r>
                        <a:rPr sz="1300" b="1">
                          <a:solidFill>
                            <a:srgbClr val="FFFFFF"/>
                          </a:solidFill>
                        </a:rPr>
                        <a:t>Done when</a:t>
                      </a:r>
                    </a:p>
                  </a:txBody>
                  <a:tcPr marL="54864" marR="54864" marT="27432" marB="27432">
                    <a:solidFill>
                      <a:srgbClr val="2F6B4F"/>
                    </a:solidFill>
                  </a:tcPr>
                </a:tc>
              </a:tr>
              <a:tr h="566928">
                <a:tc>
                  <a:txBody>
                    <a:bodyPr/>
                    <a:lstStyle/>
                    <a:p>
                      <a:r>
                        <a:rPr sz="1300" b="0">
                          <a:solidFill>
                            <a:srgbClr val="1F2A24"/>
                          </a:solidFill>
                        </a:rPr>
                        <a:t>26 Oct – 8 Nov</a:t>
                      </a:r>
                    </a:p>
                  </a:txBody>
                  <a:tcPr marL="54864" marR="54864" marT="27432" marB="27432">
                    <a:solidFill>
                      <a:srgbClr val="FFFFFF"/>
                    </a:solidFill>
                  </a:tcPr>
                </a:tc>
                <a:tc>
                  <a:txBody>
                    <a:bodyPr/>
                    <a:lstStyle/>
                    <a:p>
                      <a:r>
                        <a:rPr sz="1300" b="0">
                          <a:solidFill>
                            <a:srgbClr val="1F2A24"/>
                          </a:solidFill>
                        </a:rPr>
                        <a:t>Beat the LSTM where it matters: daily / weekly periodic inputs, tuning; real-phone timing; CI</a:t>
                      </a:r>
                    </a:p>
                  </a:txBody>
                  <a:tcPr marL="54864" marR="54864" marT="27432" marB="27432">
                    <a:solidFill>
                      <a:srgbClr val="FFFFFF"/>
                    </a:solidFill>
                  </a:tcPr>
                </a:tc>
                <a:tc>
                  <a:txBody>
                    <a:bodyPr/>
                    <a:lstStyle/>
                    <a:p>
                      <a:r>
                        <a:rPr sz="1300" b="0">
                          <a:solidFill>
                            <a:srgbClr val="1F2A24"/>
                          </a:solidFill>
                        </a:rPr>
                        <a:t>paired tests reported; NFR1 on a phone</a:t>
                      </a:r>
                    </a:p>
                  </a:txBody>
                  <a:tcPr marL="54864" marR="54864" marT="27432" marB="27432">
                    <a:solidFill>
                      <a:srgbClr val="FFFFFF"/>
                    </a:solidFill>
                  </a:tcPr>
                </a:tc>
              </a:tr>
              <a:tr h="566928">
                <a:tc>
                  <a:txBody>
                    <a:bodyPr/>
                    <a:lstStyle/>
                    <a:p>
                      <a:r>
                        <a:rPr sz="1300" b="0">
                          <a:solidFill>
                            <a:srgbClr val="1F2A24"/>
                          </a:solidFill>
                        </a:rPr>
                        <a:t>by 1 Nov</a:t>
                      </a:r>
                    </a:p>
                  </a:txBody>
                  <a:tcPr marL="54864" marR="54864" marT="27432" marB="27432">
                    <a:solidFill>
                      <a:srgbClr val="F4F7F5"/>
                    </a:solidFill>
                  </a:tcPr>
                </a:tc>
                <a:tc>
                  <a:txBody>
                    <a:bodyPr/>
                    <a:lstStyle/>
                    <a:p>
                      <a:r>
                        <a:rPr sz="1300" b="0">
                          <a:solidFill>
                            <a:srgbClr val="1F2A24"/>
                          </a:solidFill>
                        </a:rPr>
                        <a:t>Send the stakeholder surveys (DWC, rangers, operators, hikers); book 2–3 interviews</a:t>
                      </a:r>
                    </a:p>
                  </a:txBody>
                  <a:tcPr marL="54864" marR="54864" marT="27432" marB="27432">
                    <a:solidFill>
                      <a:srgbClr val="F4F7F5"/>
                    </a:solidFill>
                  </a:tcPr>
                </a:tc>
                <a:tc>
                  <a:txBody>
                    <a:bodyPr/>
                    <a:lstStyle/>
                    <a:p>
                      <a:r>
                        <a:rPr sz="1300" b="0">
                          <a:solidFill>
                            <a:srgbClr val="1F2A24"/>
                          </a:solidFill>
                        </a:rPr>
                        <a:t>responses mapped to FR / NFR</a:t>
                      </a:r>
                    </a:p>
                  </a:txBody>
                  <a:tcPr marL="54864" marR="54864" marT="27432" marB="27432">
                    <a:solidFill>
                      <a:srgbClr val="F4F7F5"/>
                    </a:solidFill>
                  </a:tcPr>
                </a:tc>
              </a:tr>
              <a:tr h="566928">
                <a:tc>
                  <a:txBody>
                    <a:bodyPr/>
                    <a:lstStyle/>
                    <a:p>
                      <a:r>
                        <a:rPr sz="1300" b="0">
                          <a:solidFill>
                            <a:srgbClr val="1F2A24"/>
                          </a:solidFill>
                        </a:rPr>
                        <a:t>9 – 22 Nov</a:t>
                      </a:r>
                    </a:p>
                  </a:txBody>
                  <a:tcPr marL="54864" marR="54864" marT="27432" marB="27432">
                    <a:solidFill>
                      <a:srgbClr val="FFFFFF"/>
                    </a:solidFill>
                  </a:tcPr>
                </a:tc>
                <a:tc>
                  <a:txBody>
                    <a:bodyPr/>
                    <a:lstStyle/>
                    <a:p>
                      <a:r>
                        <a:rPr sz="1300" b="0">
                          <a:solidFill>
                            <a:srgbClr val="1F2A24"/>
                          </a:solidFill>
                        </a:rPr>
                        <a:t>Domain adaptation beyond fine-tuning (layer freezing, PeMS04/08); feature ablation; lead time</a:t>
                      </a:r>
                    </a:p>
                  </a:txBody>
                  <a:tcPr marL="54864" marR="54864" marT="27432" marB="27432">
                    <a:solidFill>
                      <a:srgbClr val="FFFFFF"/>
                    </a:solidFill>
                  </a:tcPr>
                </a:tc>
                <a:tc>
                  <a:txBody>
                    <a:bodyPr/>
                    <a:lstStyle/>
                    <a:p>
                      <a:r>
                        <a:rPr sz="1300" b="0">
                          <a:solidFill>
                            <a:srgbClr val="1F2A24"/>
                          </a:solidFill>
                        </a:rPr>
                        <a:t>RQ5 and RQ1b tables</a:t>
                      </a:r>
                    </a:p>
                  </a:txBody>
                  <a:tcPr marL="54864" marR="54864" marT="27432" marB="27432">
                    <a:solidFill>
                      <a:srgbClr val="FFFFFF"/>
                    </a:solidFill>
                  </a:tcPr>
                </a:tc>
              </a:tr>
              <a:tr h="566928">
                <a:tc>
                  <a:txBody>
                    <a:bodyPr/>
                    <a:lstStyle/>
                    <a:p>
                      <a:r>
                        <a:rPr sz="1300" b="0">
                          <a:solidFill>
                            <a:srgbClr val="1F2A24"/>
                          </a:solidFill>
                        </a:rPr>
                        <a:t>23 Nov – 6 Dec</a:t>
                      </a:r>
                    </a:p>
                  </a:txBody>
                  <a:tcPr marL="54864" marR="54864" marT="27432" marB="27432">
                    <a:solidFill>
                      <a:srgbClr val="F4F7F5"/>
                    </a:solidFill>
                  </a:tcPr>
                </a:tc>
                <a:tc>
                  <a:txBody>
                    <a:bodyPr/>
                    <a:lstStyle/>
                    <a:p>
                      <a:r>
                        <a:rPr sz="1300" b="0">
                          <a:solidFill>
                            <a:srgbClr val="1F2A24"/>
                          </a:solidFill>
                        </a:rPr>
                        <a:t>JSON Schema + contract tests with Module 3 (FR4); CHIRPS / NASA POWER (O1)</a:t>
                      </a:r>
                    </a:p>
                  </a:txBody>
                  <a:tcPr marL="54864" marR="54864" marT="27432" marB="27432">
                    <a:solidFill>
                      <a:srgbClr val="F4F7F5"/>
                    </a:solidFill>
                  </a:tcPr>
                </a:tc>
                <a:tc>
                  <a:txBody>
                    <a:bodyPr/>
                    <a:lstStyle/>
                    <a:p>
                      <a:r>
                        <a:rPr sz="1300" b="0">
                          <a:solidFill>
                            <a:srgbClr val="1F2A24"/>
                          </a:solidFill>
                        </a:rPr>
                        <a:t>Module 3 owner signs off</a:t>
                      </a:r>
                    </a:p>
                  </a:txBody>
                  <a:tcPr marL="54864" marR="54864" marT="27432" marB="27432">
                    <a:solidFill>
                      <a:srgbClr val="F4F7F5"/>
                    </a:solidFill>
                  </a:tcPr>
                </a:tc>
              </a:tr>
              <a:tr h="566928">
                <a:tc>
                  <a:txBody>
                    <a:bodyPr/>
                    <a:lstStyle/>
                    <a:p>
                      <a:r>
                        <a:rPr sz="1300" b="0">
                          <a:solidFill>
                            <a:srgbClr val="1F2A24"/>
                          </a:solidFill>
                        </a:rPr>
                        <a:t>7 – 24 Dec</a:t>
                      </a:r>
                    </a:p>
                  </a:txBody>
                  <a:tcPr marL="54864" marR="54864" marT="27432" marB="27432">
                    <a:solidFill>
                      <a:srgbClr val="FFFFFF"/>
                    </a:solidFill>
                  </a:tcPr>
                </a:tc>
                <a:tc>
                  <a:txBody>
                    <a:bodyPr/>
                    <a:lstStyle/>
                    <a:p>
                      <a:r>
                        <a:rPr sz="1300" b="0">
                          <a:solidFill>
                            <a:srgbClr val="1F2A24"/>
                          </a:solidFill>
                        </a:rPr>
                        <a:t>Field counts: Horton Plains 2–3 days; Adam's Peak 23 Dec (Unduvap Poya)</a:t>
                      </a:r>
                    </a:p>
                  </a:txBody>
                  <a:tcPr marL="54864" marR="54864" marT="27432" marB="27432">
                    <a:solidFill>
                      <a:srgbClr val="FFFFFF"/>
                    </a:solidFill>
                  </a:tcPr>
                </a:tc>
                <a:tc>
                  <a:txBody>
                    <a:bodyPr/>
                    <a:lstStyle/>
                    <a:p>
                      <a:r>
                        <a:rPr sz="1300" b="0">
                          <a:solidFill>
                            <a:srgbClr val="1F2A24"/>
                          </a:solidFill>
                        </a:rPr>
                        <a:t>RQ7 report (A1–A3)</a:t>
                      </a:r>
                    </a:p>
                  </a:txBody>
                  <a:tcPr marL="54864" marR="54864" marT="27432" marB="27432">
                    <a:solidFill>
                      <a:srgbClr val="FFFFFF"/>
                    </a:solidFill>
                  </a:tcPr>
                </a:tc>
              </a:tr>
              <a:tr h="566928">
                <a:tc>
                  <a:txBody>
                    <a:bodyPr/>
                    <a:lstStyle/>
                    <a:p>
                      <a:r>
                        <a:rPr sz="1300" b="0">
                          <a:solidFill>
                            <a:srgbClr val="1F2A24"/>
                          </a:solidFill>
                        </a:rPr>
                        <a:t>28 Dec – 10 Jan</a:t>
                      </a:r>
                    </a:p>
                  </a:txBody>
                  <a:tcPr marL="54864" marR="54864" marT="27432" marB="27432">
                    <a:solidFill>
                      <a:srgbClr val="F4F7F5"/>
                    </a:solidFill>
                  </a:tcPr>
                </a:tc>
                <a:tc>
                  <a:txBody>
                    <a:bodyPr/>
                    <a:lstStyle/>
                    <a:p>
                      <a:r>
                        <a:rPr sz="1300" b="0">
                          <a:solidFill>
                            <a:srgbClr val="1F2A24"/>
                          </a:solidFill>
                        </a:rPr>
                        <a:t>Recalibrate the simulator; re-run RQ1–RQ5; survey summary</a:t>
                      </a:r>
                    </a:p>
                  </a:txBody>
                  <a:tcPr marL="54864" marR="54864" marT="27432" marB="27432">
                    <a:solidFill>
                      <a:srgbClr val="F4F7F5"/>
                    </a:solidFill>
                  </a:tcPr>
                </a:tc>
                <a:tc>
                  <a:txBody>
                    <a:bodyPr/>
                    <a:lstStyle/>
                    <a:p>
                      <a:r>
                        <a:rPr sz="1300" b="0">
                          <a:solidFill>
                            <a:srgbClr val="1F2A24"/>
                          </a:solidFill>
                        </a:rPr>
                        <a:t>results for PP2</a:t>
                      </a:r>
                    </a:p>
                  </a:txBody>
                  <a:tcPr marL="54864" marR="54864" marT="27432" marB="27432">
                    <a:solidFill>
                      <a:srgbClr val="F4F7F5"/>
                    </a:solidFill>
                  </a:tcPr>
                </a:tc>
              </a:tr>
            </a:tbl>
          </a:graphicData>
        </a:graphic>
      </p:graphicFrame>
      <p:sp>
        <p:nvSpPr>
          <p:cNvPr id="7" name="TextBox 6"/>
          <p:cNvSpPr txBox="1"/>
          <p:nvPr/>
        </p:nvSpPr>
        <p:spPr>
          <a:xfrm>
            <a:off x="548640" y="5623560"/>
            <a:ext cx="10972800" cy="365760"/>
          </a:xfrm>
          <a:prstGeom prst="rect">
            <a:avLst/>
          </a:prstGeom>
          <a:noFill/>
        </p:spPr>
        <p:txBody>
          <a:bodyPr wrap="square" anchor="t">
            <a:spAutoFit/>
          </a:bodyPr>
          <a:lstStyle/>
          <a:p>
            <a:pPr algn="l"/>
            <a:r>
              <a:rPr sz="1400" b="1">
                <a:solidFill>
                  <a:srgbClr val="8A4B2A"/>
                </a:solidFill>
              </a:rPr>
              <a:t>Frozen until these are done: new screens, new parks, new booking features.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94560"/>
            <a:ext cx="10058400" cy="1097280"/>
          </a:xfrm>
          <a:prstGeom prst="rect">
            <a:avLst/>
          </a:prstGeom>
          <a:noFill/>
        </p:spPr>
        <p:txBody>
          <a:bodyPr wrap="square" anchor="t">
            <a:spAutoFit/>
          </a:bodyPr>
          <a:lstStyle/>
          <a:p>
            <a:pPr algn="l"/>
            <a:r>
              <a:rPr sz="4800" b="1">
                <a:solidFill>
                  <a:srgbClr val="FFFFFF"/>
                </a:solidFill>
              </a:rPr>
              <a:t>Thank you</a:t>
            </a:r>
          </a:p>
        </p:txBody>
      </p:sp>
      <p:sp>
        <p:nvSpPr>
          <p:cNvPr id="4" name="TextBox 3"/>
          <p:cNvSpPr txBox="1"/>
          <p:nvPr/>
        </p:nvSpPr>
        <p:spPr>
          <a:xfrm>
            <a:off x="731520" y="3200400"/>
            <a:ext cx="10058400" cy="731520"/>
          </a:xfrm>
          <a:prstGeom prst="rect">
            <a:avLst/>
          </a:prstGeom>
          <a:noFill/>
        </p:spPr>
        <p:txBody>
          <a:bodyPr wrap="square" anchor="t">
            <a:spAutoFit/>
          </a:bodyPr>
          <a:lstStyle/>
          <a:p>
            <a:pPr algn="l"/>
            <a:r>
              <a:rPr sz="2600" b="0">
                <a:solidFill>
                  <a:srgbClr val="E0A100"/>
                </a:solidFill>
              </a:rPr>
              <a:t>Questions?</a:t>
            </a:r>
          </a:p>
        </p:txBody>
      </p:sp>
      <p:sp>
        <p:nvSpPr>
          <p:cNvPr id="5" name="TextBox 4"/>
          <p:cNvSpPr txBox="1"/>
          <p:nvPr/>
        </p:nvSpPr>
        <p:spPr>
          <a:xfrm>
            <a:off x="731520" y="5120640"/>
            <a:ext cx="10058400" cy="457200"/>
          </a:xfrm>
          <a:prstGeom prst="rect">
            <a:avLst/>
          </a:prstGeom>
          <a:noFill/>
        </p:spPr>
        <p:txBody>
          <a:bodyPr wrap="square" anchor="t">
            <a:spAutoFit/>
          </a:bodyPr>
          <a:lstStyle/>
          <a:p>
            <a:pPr algn="l"/>
            <a:r>
              <a:rPr sz="1600" b="0">
                <a:solidFill>
                  <a:srgbClr val="CFE3D7"/>
                </a:solidFill>
              </a:rPr>
              <a:t>Weerasekera J.V. · IT23343948 · Component 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BACKUP</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Backup – Limitations (stated before you are asked)</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26</a:t>
            </a:r>
          </a:p>
        </p:txBody>
      </p:sp>
      <p:sp>
        <p:nvSpPr>
          <p:cNvPr id="6" name="TextBox 5"/>
          <p:cNvSpPr txBox="1"/>
          <p:nvPr/>
        </p:nvSpPr>
        <p:spPr>
          <a:xfrm>
            <a:off x="548640" y="1463040"/>
            <a:ext cx="11155680" cy="4846320"/>
          </a:xfrm>
          <a:prstGeom prst="rect">
            <a:avLst/>
          </a:prstGeom>
          <a:noFill/>
        </p:spPr>
        <p:txBody>
          <a:bodyPr wrap="square">
            <a:spAutoFit/>
          </a:bodyPr>
          <a:lstStyle/>
          <a:p>
            <a:pPr>
              <a:spcAft>
                <a:spcPts val="1000"/>
              </a:spcAft>
            </a:pPr>
            <a:r>
              <a:rPr sz="1500" b="1">
                <a:solidFill>
                  <a:srgbClr val="1F2A24"/>
                </a:solidFill>
              </a:rPr>
              <a:t>•  Synthetic target:</a:t>
            </a:r>
            <a:r>
              <a:rPr sz="1500">
                <a:solidFill>
                  <a:srgbClr val="1F2A24"/>
                </a:solidFill>
              </a:rPr>
              <a:t>  all results test the method on a simulator, not the real parks; every assumption is in docs/assumptions*.md with what would replace it</a:t>
            </a:r>
          </a:p>
          <a:p>
            <a:pPr>
              <a:spcAft>
                <a:spcPts val="1000"/>
              </a:spcAft>
            </a:pPr>
            <a:r>
              <a:rPr sz="1500" b="1">
                <a:solidFill>
                  <a:srgbClr val="1F2A24"/>
                </a:solidFill>
              </a:rPr>
              <a:t>•  Same simulator:</a:t>
            </a:r>
            <a:r>
              <a:rPr sz="1500">
                <a:solidFill>
                  <a:srgbClr val="1F2A24"/>
                </a:solidFill>
              </a:rPr>
              <a:t>  the control results (RQ3, RQ4) use the simulator that made the data</a:t>
            </a:r>
          </a:p>
          <a:p>
            <a:pPr>
              <a:spcAft>
                <a:spcPts val="1000"/>
              </a:spcAft>
            </a:pPr>
            <a:r>
              <a:rPr sz="1500" b="1">
                <a:solidFill>
                  <a:srgbClr val="1F2A24"/>
                </a:solidFill>
              </a:rPr>
              <a:t>•  Seeds:</a:t>
            </a:r>
            <a:r>
              <a:rPr sz="1500">
                <a:solidFill>
                  <a:srgbClr val="1F2A24"/>
                </a:solidFill>
              </a:rPr>
              <a:t>  RQ1 and RQ5 use three seeds; park-to-park transfer (RQ2) and Horton spatial CV use one</a:t>
            </a:r>
          </a:p>
          <a:p>
            <a:pPr>
              <a:spcAft>
                <a:spcPts val="1000"/>
              </a:spcAft>
            </a:pPr>
            <a:r>
              <a:rPr sz="1500" b="1">
                <a:solidFill>
                  <a:srgbClr val="1F2A24"/>
                </a:solidFill>
              </a:rPr>
              <a:t>•  Advice model:</a:t>
            </a:r>
            <a:r>
              <a:rPr sz="1500">
                <a:solidFill>
                  <a:srgbClr val="1F2A24"/>
                </a:solidFill>
              </a:rPr>
              <a:t>  RQ3 / RQ4 were run before crowd-dependent climb times and evening starts were added</a:t>
            </a:r>
          </a:p>
          <a:p>
            <a:pPr>
              <a:spcAft>
                <a:spcPts val="1000"/>
              </a:spcAft>
            </a:pPr>
            <a:r>
              <a:rPr sz="1500" b="1">
                <a:solidFill>
                  <a:srgbClr val="1F2A24"/>
                </a:solidFill>
              </a:rPr>
              <a:t>•  Weather:</a:t>
            </a:r>
            <a:r>
              <a:rPr sz="1500">
                <a:solidFill>
                  <a:srgbClr val="1F2A24"/>
                </a:solidFill>
              </a:rPr>
              <a:t>  the day-ahead test uses observed weather (a perfect forecast) – an upper bound</a:t>
            </a:r>
          </a:p>
          <a:p>
            <a:pPr>
              <a:spcAft>
                <a:spcPts val="1000"/>
              </a:spcAft>
            </a:pPr>
            <a:r>
              <a:rPr sz="1500" b="1">
                <a:solidFill>
                  <a:srgbClr val="1F2A24"/>
                </a:solidFill>
              </a:rPr>
              <a:t>•  OSM gaps:</a:t>
            </a:r>
            <a:r>
              <a:rPr sz="1500">
                <a:solidFill>
                  <a:srgbClr val="1F2A24"/>
                </a:solidFill>
              </a:rPr>
              <a:t>  the last ~350 m to the Adam's Peak summit is an approximate link; minor routes not mapped</a:t>
            </a:r>
          </a:p>
          <a:p>
            <a:pPr>
              <a:spcAft>
                <a:spcPts val="1000"/>
              </a:spcAft>
            </a:pPr>
            <a:r>
              <a:rPr sz="1500" b="1">
                <a:solidFill>
                  <a:srgbClr val="1F2A24"/>
                </a:solidFill>
              </a:rPr>
              <a:t>•  Planning model:</a:t>
            </a:r>
            <a:r>
              <a:rPr sz="1500">
                <a:solidFill>
                  <a:srgbClr val="1F2A24"/>
                </a:solidFill>
              </a:rPr>
              <a:t>  daily totals no better than the calendar average (MAE ≈ 110 vs 108); segment-hour occupancy better (1.44 vs 1.65)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
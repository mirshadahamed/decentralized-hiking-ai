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6928" y="914400"/>
            <a:ext cx="658368" cy="658368"/>
          </a:xfrm>
          <a:prstGeom prst="ellipse">
            <a:avLst/>
          </a:prstGeom>
          <a:solidFill>
            <a:srgbClr val="2A7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658368" cy="658368"/>
          </a:xfrm>
          <a:prstGeom prst="rect">
            <a:avLst/>
          </a:prstGeom>
          <a:noFill/>
        </p:spPr>
        <p:txBody>
          <a:bodyPr wrap="square" anchor="ctr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888" y="932688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188720"/>
            <a:ext cx="7909560" cy="10972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Spatio-Temporal Bottleneck Forecasting &amp;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Dynamic Carrying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331720"/>
            <a:ext cx="76809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D8E3DD"/>
                </a:solidFill>
                <a:latin typeface="Segoe UI"/>
              </a:rPr>
              <a:t>Forecasts where and when trail sections overload, a day ahead, from open data only - and turns it into a safe number per trail instead of one fixed daily quota.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90888" y="777240"/>
            <a:ext cx="1883664" cy="2240280"/>
          </a:xfrm>
          <a:prstGeom prst="roundRect">
            <a:avLst>
              <a:gd name="adj" fmla="val 2000"/>
            </a:avLst>
          </a:prstGeom>
          <a:solidFill>
            <a:srgbClr val="1E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9FB8AE"/>
                </a:solidFill>
                <a:latin typeface="Segoe UI"/>
              </a:rPr>
              <a:t>Your photo</a:t>
            </a:r>
          </a:p>
          <a:p>
            <a:pPr algn="ctr"/>
            <a:r>
              <a:rPr sz="1100">
                <a:solidFill>
                  <a:srgbClr val="9FB8AE"/>
                </a:solidFill>
                <a:latin typeface="Segoe UI"/>
              </a:rPr>
              <a:t>(keep the one in the team deck)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08960"/>
            <a:ext cx="10698480" cy="2011680"/>
          </a:xfrm>
          <a:prstGeom prst="roundRect">
            <a:avLst>
              <a:gd name="adj" fmla="val 3000"/>
            </a:avLst>
          </a:prstGeom>
          <a:solidFill>
            <a:srgbClr val="15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364992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CONTRIBUTION TO THE OVERALL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703320"/>
            <a:ext cx="1014984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Supplies the crowd and capacity signal of the framework: a per-section forecast and safe numbers that the safety assistant (Module 3) and the authority dashboard read offline through a versioned data contract.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72000"/>
            <a:ext cx="100584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SPECIALIZATION      </a:t>
            </a:r>
            <a:r>
              <a:rPr sz="1300" b="1">
                <a:solidFill>
                  <a:srgbClr val="FFFFFF"/>
                </a:solidFill>
                <a:latin typeface="Segoe UI"/>
              </a:rPr>
              <a:t>Information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8AE"/>
                </a:solidFill>
                <a:latin typeface="Segoe UI"/>
              </a:rPr>
              <a:t>IT23343948 | Weerasekera J.V | J26-IT-363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12A"/>
                </a:solidFill>
                <a:latin typeface="Segoe UI"/>
              </a:rPr>
              <a:t>MODULE 4 · CROWD &amp; CAPACITY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A24"/>
                </a:solidFill>
                <a:latin typeface="Georgia"/>
              </a:rPr>
              <a:t>How the solution addresses the sub-problem /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Segoe UI"/>
              </a:rPr>
              <a:t>Working prototype at three parks (Horton Plains, Adam's Peak, Yala). Results: 2025 replay,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342900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SUB-PROBLEM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017520" cy="12801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A24"/>
                </a:solidFill>
                <a:latin typeface="Georgia"/>
              </a:rPr>
              <a:t>One fixed daily quota per park cannot say when or where a trail section overloads - and no section counts exist.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USER REQUIREMENTS MET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3017520" cy="21945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Section-level forecast, next 24 h (FR2)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Condition-aware capacity, Cifuentes (FR3)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Runs offline on the phone &lt; 2 s (NFR1)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One number + 'why' for officials (NFR4)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Feed for Module 3 + dashboard (FR4)</a:t>
            </a:r>
          </a:p>
          <a:p>
            <a:pPr algn="l">
              <a:spcAft>
                <a:spcPts val="500"/>
              </a:spcAft>
            </a:pPr>
            <a:r>
              <a:rPr sz="1150" b="1">
                <a:solidFill>
                  <a:srgbClr val="4C8A55"/>
                </a:solidFill>
                <a:latin typeface="Segoe UI"/>
              </a:rPr>
              <a:t>✓  </a:t>
            </a:r>
            <a:r>
              <a:rPr sz="1150" b="0">
                <a:solidFill>
                  <a:srgbClr val="1F2A24"/>
                </a:solidFill>
                <a:latin typeface="Segoe UI"/>
              </a:rPr>
              <a:t>Tested against simple baselines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828800"/>
            <a:ext cx="3246120" cy="4343400"/>
          </a:xfrm>
          <a:prstGeom prst="roundRect">
            <a:avLst>
              <a:gd name="adj" fmla="val 6000"/>
            </a:avLst>
          </a:prstGeom>
          <a:solidFill>
            <a:srgbClr val="E2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2011680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2A7FA3"/>
                </a:solidFill>
                <a:latin typeface="Segoe UI"/>
              </a:rPr>
              <a:t>PROTOTYPE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331720"/>
            <a:ext cx="278892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77440"/>
            <a:ext cx="260604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A24"/>
                </a:solidFill>
                <a:latin typeface="Segoe UI"/>
              </a:rPr>
              <a:t>OpenStreetMap trail graph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35-57 sections of ~300 m - 1.2 km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081528"/>
            <a:ext cx="278892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127248"/>
            <a:ext cx="260604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A24"/>
                </a:solidFill>
                <a:latin typeface="Segoe UI"/>
              </a:rPr>
              <a:t>Terrain + weather + calendar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Copernicus DEM, Open-Meteo, Poya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831336"/>
            <a:ext cx="278892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877056"/>
            <a:ext cx="260604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A24"/>
                </a:solidFill>
                <a:latin typeface="Segoe UI"/>
              </a:rPr>
              <a:t>ST-GNN: GCN + GRU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people per section per hour, on the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4581144"/>
            <a:ext cx="278892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626864"/>
            <a:ext cx="260604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A24"/>
                </a:solidFill>
                <a:latin typeface="Segoe UI"/>
              </a:rPr>
              <a:t>Cifuentes PCC → RCC → ECC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forecast enters the real-capacity step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5330952"/>
            <a:ext cx="278892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376672"/>
            <a:ext cx="2606040" cy="566928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A24"/>
                </a:solidFill>
                <a:latin typeface="Segoe UI"/>
              </a:rPr>
              <a:t>Decisions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Segoe UI"/>
              </a:rPr>
              <a:t>safe numbers · entry slots · gate advice</a:t>
            </a:r>
          </a:p>
        </p:txBody>
      </p:sp>
      <p:pic>
        <p:nvPicPr>
          <p:cNvPr id="23" name="Picture 22" descr="11_bottleneck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12973" cy="3063240"/>
          </a:xfrm>
          <a:prstGeom prst="rect">
            <a:avLst/>
          </a:prstGeom>
          <a:ln w="12700">
            <a:solidFill>
              <a:srgbClr val="C9D3CD"/>
            </a:solidFill>
          </a:ln>
        </p:spPr>
      </p:pic>
      <p:pic>
        <p:nvPicPr>
          <p:cNvPr id="24" name="Picture 23" descr="15_daily_quota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828800"/>
            <a:ext cx="1714891" cy="3063240"/>
          </a:xfrm>
          <a:prstGeom prst="rect">
            <a:avLst/>
          </a:prstGeom>
          <a:ln w="12700">
            <a:solidFill>
              <a:srgbClr val="C9D3CD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589520" y="4937760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Tomorrow, section by section (offline)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937760"/>
            <a:ext cx="1463040" cy="4572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Officer: forecast vs fixed quota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44200" y="1828800"/>
            <a:ext cx="960120" cy="4343400"/>
          </a:xfrm>
          <a:prstGeom prst="roundRect">
            <a:avLst>
              <a:gd name="adj" fmla="val 10000"/>
            </a:avLst>
          </a:prstGeom>
          <a:solidFill>
            <a:srgbClr val="0F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1965960"/>
            <a:ext cx="96012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4A12A"/>
                </a:solidFill>
                <a:latin typeface="Georgia"/>
              </a:rPr>
              <a:t>−27%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D8E3DD"/>
                </a:solidFill>
                <a:latin typeface="Segoe UI"/>
              </a:rPr>
              <a:t>over-capacity
vs fixed quota
(Horton)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3017520"/>
            <a:ext cx="96012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4A12A"/>
                </a:solidFill>
                <a:latin typeface="Georgia"/>
              </a:rPr>
              <a:t>−24%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D8E3DD"/>
                </a:solidFill>
                <a:latin typeface="Segoe UI"/>
              </a:rPr>
              <a:t>same, at
Adam's Peak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4069080"/>
            <a:ext cx="96012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4A12A"/>
                </a:solidFill>
                <a:latin typeface="Georgia"/>
              </a:rPr>
              <a:t>−99.6%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D8E3DD"/>
                </a:solidFill>
                <a:latin typeface="Segoe UI"/>
              </a:rPr>
              <a:t>with timed
entry slots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5120640"/>
            <a:ext cx="960120" cy="10058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D4A12A"/>
                </a:solidFill>
                <a:latin typeface="Georgia"/>
              </a:rPr>
              <a:t>&lt;2 s</a:t>
            </a:r>
          </a:p>
          <a:p>
            <a:pPr algn="ctr">
              <a:spcAft>
                <a:spcPts val="0"/>
              </a:spcAft>
            </a:pPr>
            <a:r>
              <a:rPr sz="800" b="0">
                <a:solidFill>
                  <a:srgbClr val="D8E3DD"/>
                </a:solidFill>
                <a:latin typeface="Segoe UI"/>
              </a:rPr>
              <a:t>forecast on
the phone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44068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B6B"/>
                </a:solidFill>
                <a:latin typeface="Segoe UI"/>
              </a:rPr>
              <a:t>Same visitors admitted in every comparison. Slot tickets fix a trail + entry time, so no section goes over its safe number in any half hour.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B6B6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54864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12A"/>
                </a:solidFill>
                <a:latin typeface="Segoe UI"/>
              </a:rPr>
              <a:t>MODULE 4 · CROWD &amp; CAPACITY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6400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2A24"/>
                </a:solidFill>
                <a:latin typeface="Georgia"/>
              </a:rPr>
              <a:t>Design excellence / contribution + user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6B"/>
                </a:solidFill>
                <a:latin typeface="Segoe UI"/>
              </a:rPr>
              <a:t>Tested, not assumed: the graph model is compared with simpler models, and the parts that did not work are reported.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258568" cy="1874519"/>
          </a:xfrm>
          <a:prstGeom prst="roundRect">
            <a:avLst>
              <a:gd name="adj" fmla="val 6000"/>
            </a:avLst>
          </a:prstGeom>
          <a:solidFill>
            <a:srgbClr val="E2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19659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A7FA3"/>
                </a:solidFill>
                <a:latin typeface="Segoe UI"/>
              </a:rPr>
              <a:t>Graph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86000"/>
            <a:ext cx="1965960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A24"/>
                </a:solidFill>
                <a:latin typeface="Segoe UI"/>
              </a:rPr>
              <a:t>Tiny trail graphs (35-57 sections) built from OpenStreetMap - not dense city traffic. One config file per park: Horton Plains, Adam's Peak, Yala.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828800"/>
            <a:ext cx="2258568" cy="1874519"/>
          </a:xfrm>
          <a:prstGeom prst="roundRect">
            <a:avLst>
              <a:gd name="adj" fmla="val 6000"/>
            </a:avLst>
          </a:prstGeom>
          <a:solidFill>
            <a:srgbClr val="E5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965960"/>
            <a:ext cx="19659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C8A55"/>
                </a:solidFill>
                <a:latin typeface="Segoe UI"/>
              </a:rPr>
              <a:t>Transfer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86000"/>
            <a:ext cx="1965960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A24"/>
                </a:solidFill>
                <a:latin typeface="Segoe UI"/>
              </a:rPr>
              <a:t>Pretrained on METR-LA → PEMS-BAY, adapted to each trail. Honest result: helps only with 30-90 days of data; traffic weights alone fail.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1828800"/>
            <a:ext cx="2258568" cy="1874519"/>
          </a:xfrm>
          <a:prstGeom prst="roundRect">
            <a:avLst>
              <a:gd name="adj" fmla="val 6000"/>
            </a:avLst>
          </a:prstGeom>
          <a:solidFill>
            <a:srgbClr val="F4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1965960"/>
            <a:ext cx="19659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C95C44"/>
                </a:solidFill>
                <a:latin typeface="Segoe UI"/>
              </a:rPr>
              <a:t>Management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286000"/>
            <a:ext cx="1965960" cy="137160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1F2A24"/>
                </a:solidFill>
                <a:latin typeface="Segoe UI"/>
              </a:rPr>
              <a:t>Forecast enters Cifuentes RCC → a safe number per trail that changes with weather and crowding: −27% / −24% over-capacity time vs a fixed quota.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7050024" cy="2377440"/>
          </a:xfrm>
          <a:prstGeom prst="roundRect">
            <a:avLst>
              <a:gd name="adj" fmla="val 6000"/>
            </a:avLst>
          </a:prstGeom>
          <a:solidFill>
            <a:srgbClr val="F6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31920"/>
            <a:ext cx="365760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8860B"/>
                </a:solidFill>
                <a:latin typeface="Segoe UI"/>
              </a:rPr>
              <a:t>Validation · baseline comparison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251960"/>
          <a:ext cx="393192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02920"/>
                <a:gridCol w="457200"/>
                <a:gridCol w="457200"/>
                <a:gridCol w="594360"/>
                <a:gridCol w="59436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MAE (people / section-hour)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Hist. avg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ARIMA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LSTM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GRU, no graph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ST-GNN</a:t>
                      </a:r>
                    </a:p>
                  </a:txBody>
                  <a:tcPr marL="36576" marR="36576">
                    <a:solidFill>
                      <a:srgbClr val="2A7FA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Every section counted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1.60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1.93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1.42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1.42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1.42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Sections without counts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4.20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–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2.59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F2A24"/>
                          </a:solidFill>
                          <a:latin typeface="Segoe UI"/>
                        </a:rPr>
                        <a:t>2.61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F2A24"/>
                          </a:solidFill>
                          <a:latin typeface="Segoe UI"/>
                        </a:rPr>
                        <a:t>2.54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85800" y="5285232"/>
            <a:ext cx="393192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B6B"/>
                </a:solidFill>
                <a:latin typeface="Segoe UI"/>
              </a:rPr>
              <a:t>Horton Plains, 2025 test year, 3 seeds, paired tests over days. Graph helps on uncounted sections (p &lt; 0.001, ~2 %); a tie when every section is counted. Spatial block CV; no leakage.</a:t>
            </a:r>
          </a:p>
        </p:txBody>
      </p:sp>
      <p:pic>
        <p:nvPicPr>
          <p:cNvPr id="19" name="Picture 18" descr="example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069080"/>
            <a:ext cx="2743200" cy="11862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9160" y="5285232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6B6B6B"/>
                </a:solidFill>
                <a:latin typeface="Segoe UI"/>
              </a:rPr>
              <a:t>Day-ahead forecast vs actual at World's End: right on typical days, low on the rare busiest day → decisions use the busy case.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828800"/>
            <a:ext cx="3977639" cy="324612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2700">
            <a:solidFill>
              <a:srgbClr val="E8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965960"/>
            <a:ext cx="3566160" cy="32004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7A5C12"/>
                </a:solidFill>
                <a:latin typeface="Segoe UI"/>
              </a:rPr>
              <a:t>USER FEEDBACK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31720"/>
            <a:ext cx="3566160" cy="265176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Segoe UI"/>
              </a:rPr>
              <a:t>Fill with real answers before presenting: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2A24"/>
                </a:solidFill>
                <a:latin typeface="Segoe UI"/>
              </a:rPr>
              <a:t>• Hiker: </a:t>
            </a:r>
            <a:r>
              <a:rPr sz="1000" b="0">
                <a:solidFill>
                  <a:srgbClr val="1F2A24"/>
                </a:solidFill>
                <a:latin typeface="Segoe UI"/>
              </a:rPr>
              <a:t>would you change your visit if a section shows red at 08:00?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2A24"/>
                </a:solidFill>
                <a:latin typeface="Segoe UI"/>
              </a:rPr>
              <a:t>• Guide / tour operator: </a:t>
            </a:r>
            <a:r>
              <a:rPr sz="1000" b="0">
                <a:solidFill>
                  <a:srgbClr val="1F2A24"/>
                </a:solidFill>
                <a:latin typeface="Segoe UI"/>
              </a:rPr>
              <a:t>is the safe number + reason clear?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2A24"/>
                </a:solidFill>
                <a:latin typeface="Segoe UI"/>
              </a:rPr>
              <a:t>• Ranger / DWC contact: </a:t>
            </a:r>
            <a:r>
              <a:rPr sz="1000" b="0">
                <a:solidFill>
                  <a:srgbClr val="1F2A24"/>
                </a:solidFill>
                <a:latin typeface="Segoe UI"/>
              </a:rPr>
              <a:t>would the counting + gate advice fit the job?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F2A24"/>
                </a:solidFill>
                <a:latin typeface="Segoe UI"/>
              </a:rPr>
              <a:t>• Changed because of it: </a:t>
            </a:r>
            <a:r>
              <a:rPr sz="1000" b="0">
                <a:solidFill>
                  <a:srgbClr val="1F2A24"/>
                </a:solidFill>
                <a:latin typeface="Segoe UI"/>
              </a:rPr>
              <a:t>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5212080"/>
            <a:ext cx="3977639" cy="1005840"/>
          </a:xfrm>
          <a:prstGeom prst="roundRect">
            <a:avLst>
              <a:gd name="adj" fmla="val 10000"/>
            </a:avLst>
          </a:prstGeom>
          <a:solidFill>
            <a:srgbClr val="0F3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5303520"/>
            <a:ext cx="3657600" cy="86868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D4A12A"/>
                </a:solidFill>
                <a:latin typeface="Segoe UI"/>
              </a:rPr>
              <a:t>Next  </a:t>
            </a:r>
            <a:r>
              <a:rPr sz="1000" b="0">
                <a:solidFill>
                  <a:srgbClr val="FFFFFF"/>
                </a:solidFill>
                <a:latin typeface="Segoe UI"/>
              </a:rPr>
              <a:t>Field counts in December (criteria fixed in advance) to validate the simulated target; surveys with DWC, rangers and hikers.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43055" y="6492240"/>
            <a:ext cx="365760" cy="274320"/>
          </a:xfrm>
          <a:prstGeom prst="rect">
            <a:avLst/>
          </a:prstGeom>
          <a:noFill/>
        </p:spPr>
        <p:txBody>
          <a:bodyPr wrap="square" anchor="t" lIns="18288" rIns="18288">
            <a:spAutoFit/>
          </a:bodyPr>
          <a:lstStyle/>
          <a:p>
            <a:pPr algn="r">
              <a:spcAft>
                <a:spcPts val="400"/>
              </a:spcAft>
            </a:pPr>
            <a:r>
              <a:rPr sz="800" b="0">
                <a:solidFill>
                  <a:srgbClr val="6B6B6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